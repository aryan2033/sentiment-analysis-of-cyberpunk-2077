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17" d="100"/>
          <a:sy n="117"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pct</c:v>
                </c:pt>
              </c:strCache>
            </c:strRef>
          </c:tx>
          <c:spPr>
            <a:solidFill>
              <a:srgbClr val="22D3EE"/>
            </a:solidFill>
            <a:effectLst/>
          </c:spPr>
          <c:invertIfNegative val="0"/>
          <c:dLbls>
            <c:numFmt formatCode="0.0&quot;%&quot;"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PC</c:v>
                </c:pt>
                <c:pt idx="1">
                  <c:v>Steam Deck</c:v>
                </c:pt>
                <c:pt idx="2">
                  <c:v>Xbox</c:v>
                </c:pt>
                <c:pt idx="3">
                  <c:v>PS4</c:v>
                </c:pt>
                <c:pt idx="4">
                  <c:v>PS5</c:v>
                </c:pt>
              </c:strCache>
            </c:strRef>
          </c:cat>
          <c:val>
            <c:numRef>
              <c:f>Sheet1!$B$2:$B$6</c:f>
              <c:numCache>
                <c:formatCode>General</c:formatCode>
                <c:ptCount val="5"/>
                <c:pt idx="0">
                  <c:v>88.5</c:v>
                </c:pt>
                <c:pt idx="1">
                  <c:v>89.4</c:v>
                </c:pt>
                <c:pt idx="2">
                  <c:v>95.2</c:v>
                </c:pt>
                <c:pt idx="3">
                  <c:v>95.9</c:v>
                </c:pt>
                <c:pt idx="4">
                  <c:v>97.5</c:v>
                </c:pt>
              </c:numCache>
            </c:numRef>
          </c:val>
          <c:extLst>
            <c:ext xmlns:c16="http://schemas.microsoft.com/office/drawing/2014/chart" uri="{C3380CC4-5D6E-409C-BE32-E72D297353CC}">
              <c16:uniqueId val="{00000000-4FC7-6447-9455-B9A4651077D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n</c:v>
                </c:pt>
              </c:strCache>
            </c:strRef>
          </c:tx>
          <c:spPr>
            <a:solidFill>
              <a:srgbClr val="FACC15"/>
            </a:solidFill>
            <a:effectLst/>
          </c:spPr>
          <c:invertIfNegative val="0"/>
          <c:dLbls>
            <c:numFmt formatCode="#,##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REFUND</c:v>
                </c:pt>
                <c:pt idx="1">
                  <c:v>PERFORMANCE</c:v>
                </c:pt>
                <c:pt idx="2">
                  <c:v>CRASH_BUG</c:v>
                </c:pt>
                <c:pt idx="3">
                  <c:v>PRAISE_VISUALS</c:v>
                </c:pt>
                <c:pt idx="4">
                  <c:v>PRAISE_STORY</c:v>
                </c:pt>
                <c:pt idx="5">
                  <c:v>WORTH_IT</c:v>
                </c:pt>
              </c:strCache>
            </c:strRef>
          </c:cat>
          <c:val>
            <c:numRef>
              <c:f>Sheet1!$B$2:$B$7</c:f>
              <c:numCache>
                <c:formatCode>General</c:formatCode>
                <c:ptCount val="6"/>
                <c:pt idx="0">
                  <c:v>39</c:v>
                </c:pt>
                <c:pt idx="1">
                  <c:v>72</c:v>
                </c:pt>
                <c:pt idx="2">
                  <c:v>249</c:v>
                </c:pt>
                <c:pt idx="3">
                  <c:v>715</c:v>
                </c:pt>
                <c:pt idx="4">
                  <c:v>967</c:v>
                </c:pt>
                <c:pt idx="5">
                  <c:v>2768</c:v>
                </c:pt>
              </c:numCache>
            </c:numRef>
          </c:val>
          <c:extLst>
            <c:ext xmlns:c16="http://schemas.microsoft.com/office/drawing/2014/chart" uri="{C3380CC4-5D6E-409C-BE32-E72D297353CC}">
              <c16:uniqueId val="{00000000-8354-474F-AE54-05855D32EDF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c:v>
                </c:pt>
              </c:strCache>
            </c:strRef>
          </c:tx>
          <c:spPr>
            <a:solidFill>
              <a:srgbClr val="34D399"/>
            </a:solidFill>
            <a:effectLst/>
          </c:spPr>
          <c:invertIfNegative val="0"/>
          <c:dLbls>
            <c:numFmt formatCode="0.00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love</c:v>
                </c:pt>
                <c:pt idx="1">
                  <c:v>great</c:v>
                </c:pt>
                <c:pt idx="2">
                  <c:v>story</c:v>
                </c:pt>
                <c:pt idx="3">
                  <c:v>play</c:v>
                </c:pt>
                <c:pt idx="4">
                  <c:v>good</c:v>
                </c:pt>
              </c:strCache>
            </c:strRef>
          </c:cat>
          <c:val>
            <c:numRef>
              <c:f>Sheet1!$B$2:$B$6</c:f>
              <c:numCache>
                <c:formatCode>General</c:formatCode>
                <c:ptCount val="5"/>
                <c:pt idx="0">
                  <c:v>1.7999999999999999E-2</c:v>
                </c:pt>
                <c:pt idx="1">
                  <c:v>2.3E-2</c:v>
                </c:pt>
                <c:pt idx="2">
                  <c:v>2.5000000000000001E-2</c:v>
                </c:pt>
                <c:pt idx="3">
                  <c:v>3.1E-2</c:v>
                </c:pt>
                <c:pt idx="4">
                  <c:v>3.5999999999999997E-2</c:v>
                </c:pt>
              </c:numCache>
            </c:numRef>
          </c:val>
          <c:extLst>
            <c:ext xmlns:c16="http://schemas.microsoft.com/office/drawing/2014/chart" uri="{C3380CC4-5D6E-409C-BE32-E72D297353CC}">
              <c16:uniqueId val="{00000000-A082-9D43-9CF1-D72235B75B2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c:v>
                </c:pt>
              </c:strCache>
            </c:strRef>
          </c:tx>
          <c:spPr>
            <a:solidFill>
              <a:srgbClr val="F87171"/>
            </a:solidFill>
            <a:effectLst/>
          </c:spPr>
          <c:invertIfNegative val="0"/>
          <c:dLbls>
            <c:numFmt formatCode="0.00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bug</c:v>
                </c:pt>
                <c:pt idx="1">
                  <c:v>bad</c:v>
                </c:pt>
                <c:pt idx="2">
                  <c:v>boring</c:v>
                </c:pt>
                <c:pt idx="3">
                  <c:v>crash</c:v>
                </c:pt>
                <c:pt idx="4">
                  <c:v>not</c:v>
                </c:pt>
              </c:strCache>
            </c:strRef>
          </c:cat>
          <c:val>
            <c:numRef>
              <c:f>Sheet1!$B$2:$B$6</c:f>
              <c:numCache>
                <c:formatCode>General</c:formatCode>
                <c:ptCount val="5"/>
                <c:pt idx="0">
                  <c:v>1.9E-2</c:v>
                </c:pt>
                <c:pt idx="1">
                  <c:v>2.1000000000000001E-2</c:v>
                </c:pt>
                <c:pt idx="2">
                  <c:v>2.4E-2</c:v>
                </c:pt>
                <c:pt idx="3">
                  <c:v>3.4000000000000002E-2</c:v>
                </c:pt>
                <c:pt idx="4">
                  <c:v>4.4999999999999998E-2</c:v>
                </c:pt>
              </c:numCache>
            </c:numRef>
          </c:val>
          <c:extLst>
            <c:ext xmlns:c16="http://schemas.microsoft.com/office/drawing/2014/chart" uri="{C3380CC4-5D6E-409C-BE32-E72D297353CC}">
              <c16:uniqueId val="{00000000-0680-6C48-9C42-471612E4D25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c:v>
                </c:pt>
              </c:strCache>
            </c:strRef>
          </c:tx>
          <c:spPr>
            <a:solidFill>
              <a:srgbClr val="34D399"/>
            </a:solidFill>
            <a:effectLst/>
          </c:spPr>
          <c:invertIfNegative val="0"/>
          <c:dLbls>
            <c:numFmt formatCode="\+0.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choom</c:v>
                </c:pt>
                <c:pt idx="1">
                  <c:v>peak</c:v>
                </c:pt>
                <c:pt idx="2">
                  <c:v>masterpiece</c:v>
                </c:pt>
                <c:pt idx="3">
                  <c:v>amazing</c:v>
                </c:pt>
                <c:pt idx="4">
                  <c:v>good</c:v>
                </c:pt>
              </c:strCache>
            </c:strRef>
          </c:cat>
          <c:val>
            <c:numRef>
              <c:f>Sheet1!$B$2:$B$6</c:f>
              <c:numCache>
                <c:formatCode>General</c:formatCode>
                <c:ptCount val="5"/>
                <c:pt idx="0">
                  <c:v>3.08</c:v>
                </c:pt>
                <c:pt idx="1">
                  <c:v>3.31</c:v>
                </c:pt>
                <c:pt idx="2">
                  <c:v>3.97</c:v>
                </c:pt>
                <c:pt idx="3">
                  <c:v>5.32</c:v>
                </c:pt>
                <c:pt idx="4">
                  <c:v>5.82</c:v>
                </c:pt>
              </c:numCache>
            </c:numRef>
          </c:val>
          <c:extLst>
            <c:ext xmlns:c16="http://schemas.microsoft.com/office/drawing/2014/chart" uri="{C3380CC4-5D6E-409C-BE32-E72D297353CC}">
              <c16:uniqueId val="{00000000-163B-0941-AC81-698F35DF692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c:v>
                </c:pt>
              </c:strCache>
            </c:strRef>
          </c:tx>
          <c:spPr>
            <a:solidFill>
              <a:srgbClr val="F87171"/>
            </a:solidFill>
            <a:effectLst/>
          </c:spPr>
          <c:invertIfNegative val="0"/>
          <c:dLbls>
            <c:numFmt formatCode="&quot;−&quot;0.0" sourceLinked="0"/>
            <c:spPr>
              <a:noFill/>
              <a:ln>
                <a:noFill/>
              </a:ln>
              <a:effectLst/>
            </c:spPr>
            <c:txPr>
              <a:bodyPr/>
              <a:lstStyle/>
              <a:p>
                <a:pPr>
                  <a:defRPr sz="900" b="0" i="0" u="none" strike="noStrike">
                    <a:solidFill>
                      <a:srgbClr val="E2E8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mediocre</c:v>
                </c:pt>
                <c:pt idx="1">
                  <c:v>refund</c:v>
                </c:pt>
                <c:pt idx="2">
                  <c:v>not worth</c:v>
                </c:pt>
                <c:pt idx="3">
                  <c:v>crash</c:v>
                </c:pt>
                <c:pt idx="4">
                  <c:v>boring</c:v>
                </c:pt>
              </c:strCache>
            </c:strRef>
          </c:cat>
          <c:val>
            <c:numRef>
              <c:f>Sheet1!$B$2:$B$6</c:f>
              <c:numCache>
                <c:formatCode>General</c:formatCode>
                <c:ptCount val="5"/>
                <c:pt idx="0">
                  <c:v>3.82</c:v>
                </c:pt>
                <c:pt idx="1">
                  <c:v>4.0999999999999996</c:v>
                </c:pt>
                <c:pt idx="2">
                  <c:v>4.16</c:v>
                </c:pt>
                <c:pt idx="3">
                  <c:v>5.82</c:v>
                </c:pt>
                <c:pt idx="4">
                  <c:v>7.87</c:v>
                </c:pt>
              </c:numCache>
            </c:numRef>
          </c:val>
          <c:extLst>
            <c:ext xmlns:c16="http://schemas.microsoft.com/office/drawing/2014/chart" uri="{C3380CC4-5D6E-409C-BE32-E72D297353CC}">
              <c16:uniqueId val="{00000000-959C-4846-9A53-2682018D25A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2A3047"/>
            </a:solidFill>
            <a:prstDash val="solid"/>
            <a:round/>
          </a:ln>
        </c:spPr>
        <c:txPr>
          <a:bodyPr/>
          <a:lstStyle/>
          <a:p>
            <a:pPr>
              <a:defRPr sz="1000" b="0" i="0" u="none" strike="noStrike">
                <a:solidFill>
                  <a:srgbClr val="E2E8F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298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Alister Charles and Aryan Jadhav, and our project applies all 15 NLP methods from the lecture to a single real-world question: Cyberpunk 2077 had one of the worst launches in gaming history in 2020, but today it sits at 'Very Positive' on Steam. We analyzed 92,000 recent English reviews to find out what players actually praise and complain about NOW. The data covers July 2024 to July 2026, i.e. the post-recovery era.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92,190 English reviews with the review text, the player's thumbs up/down vote, helpfulness votes, playtime, and a </a:t>
            </a:r>
            <a:r>
              <a:rPr lang="en-US"/>
              <a:t>timestamp  </a:t>
            </a:r>
            <a:r>
              <a:rPr lang="en-US" dirty="0"/>
              <a:t>five fields per review. Two things make it special. First, the data starts in July 2024, after the game was already </a:t>
            </a:r>
            <a:r>
              <a:rPr lang="en-US"/>
              <a:t>fixed  </a:t>
            </a:r>
            <a:r>
              <a:rPr lang="en-US" dirty="0"/>
              <a:t>so we measure how a recovered game is received, not a redemption arc. Second, Steam's thumbs up/down gives us free labels for supervised machine learning </a:t>
            </a:r>
            <a:r>
              <a:rPr lang="en-US"/>
              <a:t>later  </a:t>
            </a:r>
            <a:r>
              <a:rPr lang="en-US" dirty="0"/>
              <a:t>Method 12 needs no manual annotation. Note the strong imbalance: about 95% </a:t>
            </a:r>
            <a:r>
              <a:rPr lang="en-US"/>
              <a:t>positive  </a:t>
            </a:r>
            <a:r>
              <a:rPr lang="en-US" dirty="0"/>
              <a:t>that will matter for the classifier and we will return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is web crawling from Chapter 6. We wrote a scraper against Steam's public reviews API using cursor-based paging to collect 92,190 reviews into a CSV. On top of that, the notebook fetches the 500 newest reviews live on every </a:t>
            </a:r>
            <a:r>
              <a:rPr lang="en-US"/>
              <a:t>run  </a:t>
            </a:r>
            <a:r>
              <a:rPr lang="en-US" dirty="0"/>
              <a:t>in the July 2026 run these were 95% </a:t>
            </a:r>
            <a:r>
              <a:rPr lang="en-US"/>
              <a:t>positive  </a:t>
            </a:r>
            <a:r>
              <a:rPr lang="en-US" dirty="0"/>
              <a:t>and merges them in after deduplication, so the project always works with fresh data. Using an API is the modern form of web crawling: structured JSON instead of parsing HTML. The sample quote on the slide is one of the reviews fetched live three days </a:t>
            </a:r>
            <a:r>
              <a:rPr lang="en-US"/>
              <a:t>ago  </a:t>
            </a:r>
            <a:r>
              <a:rPr lang="en-US" dirty="0"/>
              <a:t>it already previews the whole story: bugs exist, but the game is worth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of the whole </a:t>
            </a:r>
            <a:r>
              <a:rPr lang="en-US"/>
              <a:t>project  </a:t>
            </a:r>
            <a:r>
              <a:rPr lang="en-US" dirty="0"/>
              <a:t>all 15 lecture methods in one connected pipeline. Raw reviews are preprocessed with seven methods, enriched with NER and pattern matching, converted to features with n-grams and tf-idf, fed into two </a:t>
            </a:r>
            <a:r>
              <a:rPr lang="en-US"/>
              <a:t>models  </a:t>
            </a:r>
            <a:r>
              <a:rPr lang="en-US" dirty="0"/>
              <a:t>Logistic Regression and </a:t>
            </a:r>
            <a:r>
              <a:rPr lang="en-US"/>
              <a:t>Word2Vec  </a:t>
            </a:r>
            <a:r>
              <a:rPr lang="en-US" dirty="0"/>
              <a:t>and finally power two applications: a search engine and RAG. The key design principle: methods are not isolated demos. Levenshtein runs BEFORE vectorization so typos don't split term counts; Word2Vec expands search queries; the search engine becomes the retrieval step of RAG.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preprocessing, entirely with spaCy as taught in the lecture. Methods 1 to 3: tokenization, stop-word removal and lemmatization run in a single pipeline </a:t>
            </a:r>
            <a:r>
              <a:rPr lang="en-US"/>
              <a:t>pass  </a:t>
            </a:r>
            <a:r>
              <a:rPr lang="en-US" dirty="0"/>
              <a:t>one nlp.pipe() call gives us tokens, lemmas, POS tags and entities simultaneously, and batch mode cleaned all 92,000 reviews in minutes with NER and parser disabled for speed. Two decisions worth highlighting: we keep the word 'not' although it is a stop </a:t>
            </a:r>
            <a:r>
              <a:rPr lang="en-US"/>
              <a:t>word  </a:t>
            </a:r>
            <a:r>
              <a:rPr lang="en-US" dirty="0"/>
              <a:t>because 'not worth' means the opposite of 'worth</a:t>
            </a:r>
            <a:r>
              <a:rPr lang="en-US"/>
              <a:t>'  </a:t>
            </a:r>
            <a:r>
              <a:rPr lang="en-US" dirty="0"/>
              <a:t>and we use lemmatization rather than stemming for the main pipeline so every output is a real dictionary word. The example shows a 14-token review compressed to 7 content words: 50% smaller, meaning intact, and 'crashes' and 'crash' now share one tf-idf column.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more preprocessing </a:t>
            </a:r>
            <a:r>
              <a:rPr lang="en-US"/>
              <a:t>methods  </a:t>
            </a:r>
            <a:r>
              <a:rPr lang="en-US" dirty="0"/>
              <a:t>each justified by an experiment, not by faith. Method 4: we trained the same classifier on stemmed versus lemmatized </a:t>
            </a:r>
            <a:r>
              <a:rPr lang="en-US"/>
              <a:t>text  </a:t>
            </a:r>
            <a:r>
              <a:rPr lang="en-US" dirty="0"/>
              <a:t>94.33 versus 94.27 percent accuracy, a difference of only 0.06 percentage points, so the choice barely matters and we keep lemmas because they are readable ('beauti' is not a word). Method 5: the POS filter keeps only five content-word classes plus 'not</a:t>
            </a:r>
            <a:r>
              <a:rPr lang="en-US"/>
              <a:t>'  </a:t>
            </a:r>
            <a:r>
              <a:rPr lang="en-US" dirty="0"/>
              <a:t>determiners and prepositions never reach vectorization. A side insight: the top positive adjectives are 'great', 'amazing', 'immersive'; the top negative ones 'boring', 'buggy', 'bad'. Method 10: Levenshtein distance fixed 832 typos BEFORE </a:t>
            </a:r>
            <a:r>
              <a:rPr lang="en-US"/>
              <a:t>vectorization  </a:t>
            </a:r>
            <a:r>
              <a:rPr lang="en-US" dirty="0"/>
              <a:t>'beatiful' to 'beautiful' at edit distance </a:t>
            </a:r>
            <a:r>
              <a:rPr lang="en-US"/>
              <a:t>1  </a:t>
            </a:r>
            <a:r>
              <a:rPr lang="en-US" dirty="0"/>
              <a:t>so misspellings don't split tf-idf counts. Method 11: Jaccard similarity on character trigrams removed 10,141 exact and 167 near-duplicate </a:t>
            </a:r>
            <a:r>
              <a:rPr lang="en-US"/>
              <a:t>reviews  </a:t>
            </a:r>
            <a:r>
              <a:rPr lang="en-US" dirty="0"/>
              <a:t>copy-paste spam like 'sandevistan brrrr</a:t>
            </a:r>
            <a:r>
              <a:rPr lang="en-US"/>
              <a:t>'  </a:t>
            </a:r>
            <a:r>
              <a:rPr lang="en-US" dirty="0"/>
              <a:t>leaving 62,368 clean reviews so review-bombs can't skew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6 and 7 turn free text into structured columns. NER discovers entities without any </a:t>
            </a:r>
            <a:r>
              <a:rPr lang="en-US"/>
              <a:t>dictionary  </a:t>
            </a:r>
            <a:r>
              <a:rPr lang="en-US" dirty="0"/>
              <a:t>Phantom Liberty, CDPR, Johnny Silverhand, even Keanu </a:t>
            </a:r>
            <a:r>
              <a:rPr lang="en-US"/>
              <a:t>Reeves  </a:t>
            </a:r>
            <a:r>
              <a:rPr lang="en-US" dirty="0"/>
              <a:t>and anchors a platform column. The left chart shows the finding: PS5 players are the happiest at 97.5% positive, PC players the most critical at 88.5</a:t>
            </a:r>
            <a:r>
              <a:rPr lang="en-US"/>
              <a:t>%  </a:t>
            </a:r>
            <a:r>
              <a:rPr lang="en-US" dirty="0"/>
              <a:t>and PC is also the largest group with over 2,100 platform mentions. Pattern matching with spaCy's Matcher solves the 'one concept, many surface forms' problem: token-level rules like ADJ+bug catch 'game breaking bug' and all its variants. Nearly 5,000 reviews get a category </a:t>
            </a:r>
            <a:r>
              <a:rPr lang="en-US"/>
              <a:t>tag  </a:t>
            </a:r>
            <a:r>
              <a:rPr lang="en-US" dirty="0"/>
              <a:t>WORTH_IT dominates with 2,768, while CRASH_BUG appears 249 times. These two columns power the final analysis charts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8: n-gram analysis. Bigrams reveal what phrases actually separate positive from negative reviews. 'Night city' appears 5,444 times in positive </a:t>
            </a:r>
            <a:r>
              <a:rPr lang="en-US"/>
              <a:t>reviews  </a:t>
            </a:r>
            <a:r>
              <a:rPr lang="en-US" dirty="0"/>
              <a:t>the setting is the star. Phantom Liberty, the DLC, drives a lot of praise with over 3,500 mentions. On the negative side 'game crash' still tops genuine complaints at 180 mentions, and we even caught a review </a:t>
            </a:r>
            <a:r>
              <a:rPr lang="en-US"/>
              <a:t>meme  </a:t>
            </a:r>
            <a:r>
              <a:rPr lang="en-US" dirty="0"/>
              <a:t>'yap yap', 1,662 </a:t>
            </a:r>
            <a:r>
              <a:rPr lang="en-US"/>
              <a:t>times  </a:t>
            </a:r>
            <a:r>
              <a:rPr lang="en-US" dirty="0"/>
              <a:t>showing n-grams also expose spam patterns. Crucially, n-grams aren't just descriptive: our tf-idf uses ngram_range (1,2), so bigrams like 'not worth' become model features that a single-word representation could never capture.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9, tf-idf, is the workhorse: it converts 62,368 cleaned reviews into an 8,000-dimensional feature </a:t>
            </a:r>
            <a:r>
              <a:rPr lang="en-US"/>
              <a:t>matrix  </a:t>
            </a:r>
            <a:r>
              <a:rPr lang="en-US" dirty="0"/>
              <a:t>99.7% sparse. The formula from the lecture: term frequency times log of N over document </a:t>
            </a:r>
            <a:r>
              <a:rPr lang="en-US"/>
              <a:t>frequency  </a:t>
            </a:r>
            <a:r>
              <a:rPr lang="en-US" dirty="0"/>
              <a:t>words frequent in THIS review but rare across ALL reviews score high. That is Shannon's insight: rare events carry the most information. The charts show the strongest terms per class: 'good', 'play', 'story' for positive; 'not', 'crash', 'boring' for negative. Note that 'not' is the second-strongest negative term, which vindicates our preprocessing decision to protect it from stop-word removal. The matrix feeds an 80/20 stratified train/test </a:t>
            </a:r>
            <a:r>
              <a:rPr lang="en-US"/>
              <a:t>split  </a:t>
            </a:r>
            <a:r>
              <a:rPr lang="en-US" dirty="0"/>
              <a:t>roughly 49,900 training and 12,500 test </a:t>
            </a:r>
            <a:r>
              <a:rPr lang="en-US"/>
              <a:t>reviews  </a:t>
            </a:r>
            <a:r>
              <a:rPr lang="en-US" dirty="0"/>
              <a:t>for the classifier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12: supervised sentiment classification. Logistic Regression on the tf-idf vectors reaches 95.29% accuracy on 12,474 held-out reviews. The coefficients are fully </a:t>
            </a:r>
            <a:r>
              <a:rPr lang="en-US"/>
              <a:t>interpretable  </a:t>
            </a:r>
            <a:r>
              <a:rPr lang="en-US" dirty="0"/>
              <a:t>that is why we chose this model: 'boring' is the strongest negative signal at minus 7.9, stronger even than 'crash', and remarkably 'choom', Cyberpunk slang for friend, is a top-5 positive predictor: the model learned the game's own vocabulary. On unseen sentences it behaves correctly: 'best RPG ever made' scores 99% positive, 'terrible buggy mess, crashes every 5 minutes' scores 94% negative. We are transparent about the weakness: negative recall is only 0.40 because 95% of labels are </a:t>
            </a:r>
            <a:r>
              <a:rPr lang="en-US"/>
              <a:t>positive  </a:t>
            </a:r>
            <a:r>
              <a:rPr lang="en-US" dirty="0"/>
              <a:t>the confusion matrix shows the model over-predicting the majority class. That is a property of the data, and we discuss remedies on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13: Word2Vec, trained from scratch on our own corpus with the CBOW </a:t>
            </a:r>
            <a:r>
              <a:rPr lang="en-US"/>
              <a:t>architecture  </a:t>
            </a:r>
            <a:r>
              <a:rPr lang="en-US" dirty="0"/>
              <a:t>6,115 words as 100-dimensional vectors, from about 55,000 tokenized reviews. The cluster cards show what it learned purely from context: 'bug' and 'glitch' sit at 0.85 cosine similarity, 'beautiful' and 'gorgeous' at 0.80, 'story' and 'storyline' at </a:t>
            </a:r>
            <a:r>
              <a:rPr lang="en-US"/>
              <a:t>0.83  </a:t>
            </a:r>
            <a:r>
              <a:rPr lang="en-US" dirty="0"/>
              <a:t>and it even clusters the misspellings of 'recommend' with the correct form. The vector arithmetic works on domain concepts: bug plus fix minus crash equals patch. The small PCA projection is just a sanity check: positive and negative words separate in space, meaning sentiment emerged from context </a:t>
            </a:r>
            <a:r>
              <a:rPr lang="en-US"/>
              <a:t>alone  </a:t>
            </a:r>
            <a:r>
              <a:rPr lang="en-US" dirty="0"/>
              <a:t>27% of variance shown in 2D. These embeddings are not a demo: they power query expansion in the search engine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14: document </a:t>
            </a:r>
            <a:r>
              <a:rPr lang="en-US"/>
              <a:t>retrieval  </a:t>
            </a:r>
            <a:r>
              <a:rPr lang="en-US" dirty="0"/>
              <a:t>a full search engine. A query is expanded with its Word2Vec neighbours, vectorized into the same tf-idf space as the reviews, and ranked by cosine similarity. The expansion is the clever part: someone asking about the 'story' should also find reviews praising the 'plot</a:t>
            </a:r>
            <a:r>
              <a:rPr lang="en-US"/>
              <a:t>'  </a:t>
            </a:r>
            <a:r>
              <a:rPr lang="en-US" dirty="0"/>
              <a:t>a review saying 'the plot is riveting' never contains the word 'story', so pure keyword search would miss it. This connects three methods in one system: tf-idf provides the vector space, Word2Vec provides the expansion, cosine similarity provides the ranking. And this engine is exactly the retrieval component that RAG needs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15, the capstone: Retrieval-Augmented Generation. The pipeline on the left shows the full loop: a question is expanded with Word2Vec, our search engine retrieves the 5 most relevant reviews, they are packed into a prompt that says 'answer ONLY from these reviews', and Gemini generates the answer. The result is grounded in actual player </a:t>
            </a:r>
            <a:r>
              <a:rPr lang="en-US"/>
              <a:t>evidence  </a:t>
            </a:r>
            <a:r>
              <a:rPr lang="en-US" dirty="0"/>
              <a:t>including reviews in Portuguese that the retrieval still ranked correctly. Our question about bugs gets an honest, sourced answer: yes, bugs exist, but players recommend the game anyway. RAG connects everything: preprocessing made the index clean, tf-idf built it, Word2Vec expanded the query, and the LLM writes the final answer.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analysis combines everything. The timeline shows the answer to our research question: sentiment sits at 92 to 93 percent positive and stays there for two full </a:t>
            </a:r>
            <a:r>
              <a:rPr lang="en-US"/>
              <a:t>years  </a:t>
            </a:r>
            <a:r>
              <a:rPr lang="en-US" dirty="0"/>
              <a:t>this is not a spike but a stable post-recovery state. The platform breakdown from the NER column shows PS5 players are the happiest at 97.5% and PC players the most critical at 88.5</a:t>
            </a:r>
            <a:r>
              <a:rPr lang="en-US"/>
              <a:t>%  </a:t>
            </a:r>
            <a:r>
              <a:rPr lang="en-US" dirty="0"/>
              <a:t>also the largest group. And the crash-bug trend from the pattern-matching column shows complaints persist at a low but non-zero </a:t>
            </a:r>
            <a:r>
              <a:rPr lang="en-US"/>
              <a:t>rate  </a:t>
            </a:r>
            <a:r>
              <a:rPr lang="en-US" dirty="0"/>
              <a:t>bugs are the game's last stubborn weakness, but as RAG showed us, players recommend it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structured as question, findings, limitations and future work. Our research question: what do players praise and complain about now that the game is highly rated, and can we answer questions directly from the reviews. Findings: Cyberpunk 2077 is a stable, loved </a:t>
            </a:r>
            <a:r>
              <a:rPr lang="en-US"/>
              <a:t>game  </a:t>
            </a:r>
            <a:r>
              <a:rPr lang="en-US" dirty="0"/>
              <a:t>92 to 93 percent positive for two straight years, driven by Night City, the story and Phantom </a:t>
            </a:r>
            <a:r>
              <a:rPr lang="en-US"/>
              <a:t>Liberty  </a:t>
            </a:r>
            <a:r>
              <a:rPr lang="en-US" dirty="0"/>
              <a:t>while crashes remain the one persistent complaint; and yes, our RAG system answers free-form questions grounded in real reviews. Limitations we are open about: the 95-to-5 class imbalance caps negative recall at 0.40, the corpus is English-only, and RAG sees only the top-5 retrieved reviews. Future work: class weighting or SMOTE, multilingual </a:t>
            </a:r>
            <a:r>
              <a:rPr lang="en-US"/>
              <a:t>models  </a:t>
            </a:r>
            <a:r>
              <a:rPr lang="en-US" dirty="0"/>
              <a:t>including German </a:t>
            </a:r>
            <a:r>
              <a:rPr lang="en-US"/>
              <a:t>reviews  </a:t>
            </a:r>
            <a:r>
              <a:rPr lang="en-US" dirty="0"/>
              <a:t>and transformer-based embeddings with a larger retrieval context. All 15 lecture methods worked together as one </a:t>
            </a:r>
            <a:r>
              <a:rPr lang="en-US"/>
              <a:t>pipeline  </a:t>
            </a:r>
            <a:r>
              <a:rPr lang="en-US" dirty="0"/>
              <a:t>from tokenization to a system that answers questions in natural language. Thank </a:t>
            </a:r>
            <a:r>
              <a:rPr lang="en-US"/>
              <a:t>you  </a:t>
            </a:r>
            <a:r>
              <a:rPr lang="en-US" dirty="0"/>
              <a:t>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4.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chart" Target="../charts/char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3.png"/><Relationship Id="rId7"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image" Target="../media/image29.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0.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0.png"/><Relationship Id="rId10"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1657" y="935568"/>
            <a:ext cx="95098" cy="0"/>
          </a:xfrm>
          <a:prstGeom prst="line">
            <a:avLst/>
          </a:prstGeom>
          <a:noFill/>
          <a:ln w="26670">
            <a:solidFill>
              <a:srgbClr val="7EB6E5"/>
            </a:solidFill>
            <a:prstDash val="solid"/>
          </a:ln>
        </p:spPr>
        <p:txBody>
          <a:bodyPr/>
          <a:lstStyle/>
          <a:p>
            <a:endParaRPr lang="en-US"/>
          </a:p>
        </p:txBody>
      </p:sp>
      <p:sp>
        <p:nvSpPr>
          <p:cNvPr id="3" name="Shape 1"/>
          <p:cNvSpPr/>
          <p:nvPr/>
        </p:nvSpPr>
        <p:spPr>
          <a:xfrm>
            <a:off x="841248" y="913486"/>
            <a:ext cx="140818" cy="140818"/>
          </a:xfrm>
          <a:prstGeom prst="ellipse">
            <a:avLst/>
          </a:prstGeom>
          <a:solidFill>
            <a:srgbClr val="7EB6E5"/>
          </a:solidFill>
          <a:ln/>
        </p:spPr>
        <p:txBody>
          <a:bodyPr/>
          <a:lstStyle/>
          <a:p>
            <a:endParaRPr lang="en-US"/>
          </a:p>
        </p:txBody>
      </p:sp>
      <p:sp>
        <p:nvSpPr>
          <p:cNvPr id="4" name="Shape 2"/>
          <p:cNvSpPr/>
          <p:nvPr/>
        </p:nvSpPr>
        <p:spPr>
          <a:xfrm>
            <a:off x="1129284" y="935568"/>
            <a:ext cx="95098" cy="0"/>
          </a:xfrm>
          <a:prstGeom prst="line">
            <a:avLst/>
          </a:prstGeom>
          <a:noFill/>
          <a:ln w="26670">
            <a:solidFill>
              <a:srgbClr val="5E7EC7"/>
            </a:solidFill>
            <a:prstDash val="solid"/>
          </a:ln>
        </p:spPr>
        <p:txBody>
          <a:bodyPr/>
          <a:lstStyle/>
          <a:p>
            <a:endParaRPr lang="en-US"/>
          </a:p>
        </p:txBody>
      </p:sp>
      <p:sp>
        <p:nvSpPr>
          <p:cNvPr id="5" name="Shape 3"/>
          <p:cNvSpPr/>
          <p:nvPr/>
        </p:nvSpPr>
        <p:spPr>
          <a:xfrm>
            <a:off x="1058875" y="823874"/>
            <a:ext cx="140818" cy="140818"/>
          </a:xfrm>
          <a:prstGeom prst="ellipse">
            <a:avLst/>
          </a:prstGeom>
          <a:solidFill>
            <a:srgbClr val="5E7EC7"/>
          </a:solidFill>
          <a:ln/>
        </p:spPr>
        <p:txBody>
          <a:bodyPr/>
          <a:lstStyle/>
          <a:p>
            <a:endParaRPr lang="en-US"/>
          </a:p>
        </p:txBody>
      </p:sp>
      <p:sp>
        <p:nvSpPr>
          <p:cNvPr id="6" name="Shape 4"/>
          <p:cNvSpPr/>
          <p:nvPr/>
        </p:nvSpPr>
        <p:spPr>
          <a:xfrm>
            <a:off x="1346911" y="935568"/>
            <a:ext cx="95098" cy="0"/>
          </a:xfrm>
          <a:prstGeom prst="line">
            <a:avLst/>
          </a:prstGeom>
          <a:noFill/>
          <a:ln w="26670">
            <a:solidFill>
              <a:srgbClr val="7A56AC"/>
            </a:solidFill>
            <a:prstDash val="solid"/>
          </a:ln>
        </p:spPr>
        <p:txBody>
          <a:bodyPr/>
          <a:lstStyle/>
          <a:p>
            <a:endParaRPr lang="en-US"/>
          </a:p>
        </p:txBody>
      </p:sp>
      <p:sp>
        <p:nvSpPr>
          <p:cNvPr id="7" name="Shape 5"/>
          <p:cNvSpPr/>
          <p:nvPr/>
        </p:nvSpPr>
        <p:spPr>
          <a:xfrm>
            <a:off x="1276502" y="913486"/>
            <a:ext cx="140818" cy="140818"/>
          </a:xfrm>
          <a:prstGeom prst="ellipse">
            <a:avLst/>
          </a:prstGeom>
          <a:solidFill>
            <a:srgbClr val="7A56AC"/>
          </a:solidFill>
          <a:ln/>
        </p:spPr>
        <p:txBody>
          <a:bodyPr/>
          <a:lstStyle/>
          <a:p>
            <a:endParaRPr lang="en-US"/>
          </a:p>
        </p:txBody>
      </p:sp>
      <p:sp>
        <p:nvSpPr>
          <p:cNvPr id="8" name="Shape 6"/>
          <p:cNvSpPr/>
          <p:nvPr/>
        </p:nvSpPr>
        <p:spPr>
          <a:xfrm>
            <a:off x="1564538" y="935568"/>
            <a:ext cx="95098" cy="0"/>
          </a:xfrm>
          <a:prstGeom prst="line">
            <a:avLst/>
          </a:prstGeom>
          <a:noFill/>
          <a:ln w="26670">
            <a:solidFill>
              <a:srgbClr val="A03A9A"/>
            </a:solidFill>
            <a:prstDash val="solid"/>
          </a:ln>
        </p:spPr>
        <p:txBody>
          <a:bodyPr/>
          <a:lstStyle/>
          <a:p>
            <a:endParaRPr lang="en-US"/>
          </a:p>
        </p:txBody>
      </p:sp>
      <p:sp>
        <p:nvSpPr>
          <p:cNvPr id="9" name="Shape 7"/>
          <p:cNvSpPr/>
          <p:nvPr/>
        </p:nvSpPr>
        <p:spPr>
          <a:xfrm>
            <a:off x="1494130" y="823874"/>
            <a:ext cx="140818" cy="140818"/>
          </a:xfrm>
          <a:prstGeom prst="ellipse">
            <a:avLst/>
          </a:prstGeom>
          <a:solidFill>
            <a:srgbClr val="A03A9A"/>
          </a:solidFill>
          <a:ln/>
        </p:spPr>
        <p:txBody>
          <a:bodyPr/>
          <a:lstStyle/>
          <a:p>
            <a:endParaRPr lang="en-US"/>
          </a:p>
        </p:txBody>
      </p:sp>
      <p:sp>
        <p:nvSpPr>
          <p:cNvPr id="10" name="Shape 8"/>
          <p:cNvSpPr/>
          <p:nvPr/>
        </p:nvSpPr>
        <p:spPr>
          <a:xfrm>
            <a:off x="1711757" y="913486"/>
            <a:ext cx="140818" cy="140818"/>
          </a:xfrm>
          <a:prstGeom prst="ellipse">
            <a:avLst/>
          </a:prstGeom>
          <a:solidFill>
            <a:srgbClr val="C22385"/>
          </a:solidFill>
          <a:ln/>
        </p:spPr>
        <p:txBody>
          <a:bodyPr/>
          <a:lstStyle/>
          <a:p>
            <a:endParaRPr lang="en-US"/>
          </a:p>
        </p:txBody>
      </p:sp>
      <p:sp>
        <p:nvSpPr>
          <p:cNvPr id="11" name="Text 9"/>
          <p:cNvSpPr/>
          <p:nvPr/>
        </p:nvSpPr>
        <p:spPr>
          <a:xfrm>
            <a:off x="822960" y="1188720"/>
            <a:ext cx="10058400" cy="292608"/>
          </a:xfrm>
          <a:prstGeom prst="rect">
            <a:avLst/>
          </a:prstGeom>
          <a:noFill/>
          <a:ln/>
        </p:spPr>
        <p:txBody>
          <a:bodyPr wrap="square" lIns="0" tIns="0" rIns="0" bIns="0" rtlCol="0" anchor="ctr"/>
          <a:lstStyle/>
          <a:p>
            <a:pPr marL="0" indent="0">
              <a:buNone/>
            </a:pPr>
            <a:r>
              <a:rPr lang="en-US" sz="1200" b="1" kern="0" spc="400" dirty="0">
                <a:solidFill>
                  <a:srgbClr val="22D3EE"/>
                </a:solidFill>
                <a:latin typeface="Arial" pitchFamily="34" charset="0"/>
                <a:ea typeface="Arial" pitchFamily="34" charset="-122"/>
                <a:cs typeface="Arial" pitchFamily="34" charset="-120"/>
              </a:rPr>
              <a:t>NATURAL LANGUAGE PROCESSING · PROJECT PRESENTATION</a:t>
            </a:r>
            <a:endParaRPr lang="en-US" sz="1200" dirty="0"/>
          </a:p>
        </p:txBody>
      </p:sp>
      <p:sp>
        <p:nvSpPr>
          <p:cNvPr id="12" name="Text 10"/>
          <p:cNvSpPr/>
          <p:nvPr/>
        </p:nvSpPr>
        <p:spPr>
          <a:xfrm>
            <a:off x="795528" y="1600200"/>
            <a:ext cx="10972800" cy="822960"/>
          </a:xfrm>
          <a:prstGeom prst="rect">
            <a:avLst/>
          </a:prstGeom>
          <a:noFill/>
          <a:ln/>
        </p:spPr>
        <p:txBody>
          <a:bodyPr wrap="square" lIns="0" tIns="0" rIns="0" bIns="0" rtlCol="0" anchor="ctr"/>
          <a:lstStyle/>
          <a:p>
            <a:pPr marL="0" indent="0">
              <a:buNone/>
            </a:pPr>
            <a:r>
              <a:rPr lang="en-US" sz="4800" b="1" dirty="0">
                <a:solidFill>
                  <a:srgbClr val="FACC15"/>
                </a:solidFill>
                <a:latin typeface="Arial" pitchFamily="34" charset="0"/>
                <a:ea typeface="Arial" pitchFamily="34" charset="-122"/>
                <a:cs typeface="Arial" pitchFamily="34" charset="-120"/>
              </a:rPr>
              <a:t>Cyberpunk 2077:</a:t>
            </a:r>
            <a:endParaRPr lang="en-US" sz="4800" dirty="0"/>
          </a:p>
        </p:txBody>
      </p:sp>
      <p:sp>
        <p:nvSpPr>
          <p:cNvPr id="13" name="Text 11"/>
          <p:cNvSpPr/>
          <p:nvPr/>
        </p:nvSpPr>
        <p:spPr>
          <a:xfrm>
            <a:off x="822960" y="2423160"/>
            <a:ext cx="10789920" cy="685800"/>
          </a:xfrm>
          <a:prstGeom prst="rect">
            <a:avLst/>
          </a:prstGeom>
          <a:noFill/>
          <a:ln/>
        </p:spPr>
        <p:txBody>
          <a:bodyPr wrap="square" lIns="0" tIns="0" rIns="0" bIns="0" rtlCol="0" anchor="ctr"/>
          <a:lstStyle/>
          <a:p>
            <a:pPr marL="0" indent="0">
              <a:buNone/>
            </a:pPr>
            <a:r>
              <a:rPr lang="en-US" sz="3400" b="1" dirty="0">
                <a:solidFill>
                  <a:srgbClr val="E2E8F0"/>
                </a:solidFill>
                <a:latin typeface="Arial" pitchFamily="34" charset="0"/>
                <a:ea typeface="Arial" pitchFamily="34" charset="-122"/>
                <a:cs typeface="Arial" pitchFamily="34" charset="-120"/>
              </a:rPr>
              <a:t>What 92,000 Steam Reviews Reveal</a:t>
            </a:r>
            <a:endParaRPr lang="en-US" sz="3400" dirty="0"/>
          </a:p>
        </p:txBody>
      </p:sp>
      <p:sp>
        <p:nvSpPr>
          <p:cNvPr id="14" name="Text 12"/>
          <p:cNvSpPr/>
          <p:nvPr/>
        </p:nvSpPr>
        <p:spPr>
          <a:xfrm>
            <a:off x="822960" y="3200400"/>
            <a:ext cx="8778240" cy="502920"/>
          </a:xfrm>
          <a:prstGeom prst="rect">
            <a:avLst/>
          </a:prstGeom>
          <a:noFill/>
          <a:ln/>
        </p:spPr>
        <p:txBody>
          <a:bodyPr wrap="square" lIns="0" tIns="0" rIns="0" bIns="0" rtlCol="0" anchor="ctr"/>
          <a:lstStyle/>
          <a:p>
            <a:pPr marL="0" indent="0">
              <a:buNone/>
            </a:pPr>
            <a:r>
              <a:rPr lang="en-US" sz="1400" dirty="0">
                <a:solidFill>
                  <a:srgbClr val="94A3B8"/>
                </a:solidFill>
                <a:latin typeface="Arial" pitchFamily="34" charset="0"/>
                <a:ea typeface="Arial" pitchFamily="34" charset="-122"/>
                <a:cs typeface="Arial" pitchFamily="34" charset="-120"/>
              </a:rPr>
              <a:t>15 NLP methods  from tokenization to Retrieval-Augmented Generation  applied to real player reviews</a:t>
            </a:r>
            <a:endParaRPr lang="en-US" sz="1400" dirty="0"/>
          </a:p>
        </p:txBody>
      </p:sp>
      <p:sp>
        <p:nvSpPr>
          <p:cNvPr id="15" name="Text 13"/>
          <p:cNvSpPr/>
          <p:nvPr/>
        </p:nvSpPr>
        <p:spPr>
          <a:xfrm>
            <a:off x="822960" y="3703320"/>
            <a:ext cx="8229600" cy="320040"/>
          </a:xfrm>
          <a:prstGeom prst="rect">
            <a:avLst/>
          </a:prstGeom>
          <a:noFill/>
          <a:ln/>
        </p:spPr>
        <p:txBody>
          <a:bodyPr wrap="square" lIns="0" tIns="0" rIns="0" bIns="0" rtlCol="0" anchor="ctr"/>
          <a:lstStyle/>
          <a:p>
            <a:pPr marL="0" indent="0">
              <a:buNone/>
            </a:pPr>
            <a:r>
              <a:rPr lang="en-US" sz="1250" b="1" dirty="0">
                <a:solidFill>
                  <a:srgbClr val="22D3EE"/>
                </a:solidFill>
                <a:latin typeface="Arial" pitchFamily="34" charset="0"/>
                <a:ea typeface="Arial" pitchFamily="34" charset="-122"/>
                <a:cs typeface="Arial" pitchFamily="34" charset="-120"/>
              </a:rPr>
              <a:t>15 methods   ·   92,190 reviews   </a:t>
            </a:r>
            <a:endParaRPr lang="en-US" sz="1250" dirty="0"/>
          </a:p>
        </p:txBody>
      </p:sp>
      <p:sp>
        <p:nvSpPr>
          <p:cNvPr id="16" name="Shape 14"/>
          <p:cNvSpPr/>
          <p:nvPr/>
        </p:nvSpPr>
        <p:spPr>
          <a:xfrm>
            <a:off x="822960" y="4434840"/>
            <a:ext cx="5486400" cy="1463040"/>
          </a:xfrm>
          <a:prstGeom prst="roundRect">
            <a:avLst>
              <a:gd name="adj" fmla="val 5625"/>
            </a:avLst>
          </a:prstGeom>
          <a:solidFill>
            <a:srgbClr val="151827"/>
          </a:solidFill>
          <a:ln w="9525">
            <a:solidFill>
              <a:srgbClr val="2A3047"/>
            </a:solidFill>
            <a:prstDash val="solid"/>
          </a:ln>
        </p:spPr>
        <p:txBody>
          <a:bodyPr/>
          <a:lstStyle/>
          <a:p>
            <a:endParaRPr lang="en-US"/>
          </a:p>
        </p:txBody>
      </p:sp>
      <p:sp>
        <p:nvSpPr>
          <p:cNvPr id="17" name="Text 15"/>
          <p:cNvSpPr/>
          <p:nvPr/>
        </p:nvSpPr>
        <p:spPr>
          <a:xfrm>
            <a:off x="1097280" y="4617720"/>
            <a:ext cx="2743200" cy="256032"/>
          </a:xfrm>
          <a:prstGeom prst="rect">
            <a:avLst/>
          </a:prstGeom>
          <a:noFill/>
          <a:ln/>
        </p:spPr>
        <p:txBody>
          <a:bodyPr wrap="square" lIns="0" tIns="0" rIns="0" bIns="0" rtlCol="0" anchor="ctr"/>
          <a:lstStyle/>
          <a:p>
            <a:pPr marL="0" indent="0">
              <a:buNone/>
            </a:pPr>
            <a:r>
              <a:rPr lang="en-US" sz="1000" b="1" kern="0" spc="300" dirty="0">
                <a:solidFill>
                  <a:srgbClr val="22D3EE"/>
                </a:solidFill>
                <a:latin typeface="Arial" pitchFamily="34" charset="0"/>
                <a:ea typeface="Arial" pitchFamily="34" charset="-122"/>
                <a:cs typeface="Arial" pitchFamily="34" charset="-120"/>
              </a:rPr>
              <a:t>PRESENTED BY</a:t>
            </a:r>
            <a:endParaRPr lang="en-US" sz="1000" dirty="0"/>
          </a:p>
        </p:txBody>
      </p:sp>
      <p:sp>
        <p:nvSpPr>
          <p:cNvPr id="18" name="Text 16"/>
          <p:cNvSpPr/>
          <p:nvPr/>
        </p:nvSpPr>
        <p:spPr>
          <a:xfrm>
            <a:off x="1097280" y="4919472"/>
            <a:ext cx="4114800" cy="822960"/>
          </a:xfrm>
          <a:prstGeom prst="rect">
            <a:avLst/>
          </a:prstGeom>
          <a:noFill/>
          <a:ln/>
        </p:spPr>
        <p:txBody>
          <a:bodyPr wrap="square" lIns="0" tIns="0" rIns="0" bIns="0" rtlCol="0" anchor="ctr"/>
          <a:lstStyle/>
          <a:p>
            <a:pPr marL="0" indent="0">
              <a:lnSpc>
                <a:spcPts val="2500"/>
              </a:lnSpc>
              <a:buNone/>
            </a:pPr>
            <a:r>
              <a:rPr lang="en-US" sz="1700" b="1" dirty="0">
                <a:solidFill>
                  <a:srgbClr val="E2E8F0"/>
                </a:solidFill>
                <a:latin typeface="Arial" pitchFamily="34" charset="0"/>
                <a:ea typeface="Arial" pitchFamily="34" charset="-122"/>
                <a:cs typeface="Arial" pitchFamily="34" charset="-120"/>
              </a:rPr>
              <a:t>1.  Alister Charles</a:t>
            </a:r>
            <a:endParaRPr lang="en-US" sz="1700" dirty="0"/>
          </a:p>
          <a:p>
            <a:pPr marL="0" indent="0">
              <a:lnSpc>
                <a:spcPts val="2500"/>
              </a:lnSpc>
              <a:buNone/>
            </a:pPr>
            <a:r>
              <a:rPr lang="en-US" sz="1700" b="1" dirty="0">
                <a:solidFill>
                  <a:srgbClr val="E2E8F0"/>
                </a:solidFill>
                <a:latin typeface="Arial" pitchFamily="34" charset="0"/>
                <a:ea typeface="Arial" pitchFamily="34" charset="-122"/>
                <a:cs typeface="Arial" pitchFamily="34" charset="-120"/>
              </a:rPr>
              <a:t>2.  Aryan Jadhav</a:t>
            </a:r>
            <a:endParaRPr lang="en-US" sz="1700" dirty="0"/>
          </a:p>
        </p:txBody>
      </p:sp>
      <p:pic>
        <p:nvPicPr>
          <p:cNvPr id="19" name="Image 0" descr="logo_dark.png"/>
          <p:cNvPicPr>
            <a:picLocks noChangeAspect="1"/>
          </p:cNvPicPr>
          <p:nvPr/>
        </p:nvPicPr>
        <p:blipFill>
          <a:blip r:embed="rId4"/>
          <a:stretch>
            <a:fillRect/>
          </a:stretch>
        </p:blipFill>
        <p:spPr>
          <a:xfrm>
            <a:off x="8366760" y="4224528"/>
            <a:ext cx="2834640" cy="1627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THE STARTING POINT</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One Question, 92,190 Reviews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DATASET</a:t>
            </a:r>
            <a:endParaRPr lang="en-US" sz="1050" dirty="0"/>
          </a:p>
        </p:txBody>
      </p:sp>
      <p:sp>
        <p:nvSpPr>
          <p:cNvPr id="15" name="Shape 13"/>
          <p:cNvSpPr/>
          <p:nvPr/>
        </p:nvSpPr>
        <p:spPr>
          <a:xfrm>
            <a:off x="594360" y="1508760"/>
            <a:ext cx="11000232" cy="1188720"/>
          </a:xfrm>
          <a:prstGeom prst="roundRect">
            <a:avLst>
              <a:gd name="adj" fmla="val 6923"/>
            </a:avLst>
          </a:prstGeom>
          <a:solidFill>
            <a:srgbClr val="151827"/>
          </a:solidFill>
          <a:ln w="9525">
            <a:solidFill>
              <a:srgbClr val="2A3047"/>
            </a:solidFill>
            <a:prstDash val="solid"/>
          </a:ln>
        </p:spPr>
        <p:txBody>
          <a:bodyPr/>
          <a:lstStyle/>
          <a:p>
            <a:endParaRPr lang="en-US"/>
          </a:p>
        </p:txBody>
      </p:sp>
      <p:pic>
        <p:nvPicPr>
          <p:cNvPr id="16" name="Image 0" descr="icons/question.png"/>
          <p:cNvPicPr>
            <a:picLocks noChangeAspect="1"/>
          </p:cNvPicPr>
          <p:nvPr/>
        </p:nvPicPr>
        <p:blipFill>
          <a:blip r:embed="rId4"/>
          <a:stretch>
            <a:fillRect/>
          </a:stretch>
        </p:blipFill>
        <p:spPr>
          <a:xfrm>
            <a:off x="914400" y="1810512"/>
            <a:ext cx="548640" cy="548640"/>
          </a:xfrm>
          <a:prstGeom prst="rect">
            <a:avLst/>
          </a:prstGeom>
        </p:spPr>
      </p:pic>
      <p:sp>
        <p:nvSpPr>
          <p:cNvPr id="17" name="Text 14"/>
          <p:cNvSpPr/>
          <p:nvPr/>
        </p:nvSpPr>
        <p:spPr>
          <a:xfrm>
            <a:off x="1691640" y="1645920"/>
            <a:ext cx="9646920" cy="960120"/>
          </a:xfrm>
          <a:prstGeom prst="rect">
            <a:avLst/>
          </a:prstGeom>
          <a:noFill/>
          <a:ln/>
        </p:spPr>
        <p:txBody>
          <a:bodyPr wrap="square" lIns="0" tIns="0" rIns="0" bIns="0" rtlCol="0" anchor="ctr"/>
          <a:lstStyle/>
          <a:p>
            <a:pPr marL="0" indent="0">
              <a:buNone/>
            </a:pPr>
            <a:r>
              <a:rPr lang="en-US" sz="1200" b="1" dirty="0">
                <a:solidFill>
                  <a:srgbClr val="FACC15"/>
                </a:solidFill>
                <a:latin typeface="Arial" pitchFamily="34" charset="0"/>
                <a:ea typeface="Arial" pitchFamily="34" charset="-122"/>
                <a:cs typeface="Arial" pitchFamily="34" charset="-120"/>
              </a:rPr>
              <a:t>Research question</a:t>
            </a:r>
            <a:endParaRPr lang="en-US" sz="1450" dirty="0"/>
          </a:p>
          <a:p>
            <a:pPr marL="0" indent="0">
              <a:buNone/>
            </a:pPr>
            <a:r>
              <a:rPr lang="en-US" sz="1450" dirty="0">
                <a:solidFill>
                  <a:srgbClr val="E2E8F0"/>
                </a:solidFill>
                <a:latin typeface="Arial" pitchFamily="34" charset="0"/>
                <a:ea typeface="Arial" pitchFamily="34" charset="-122"/>
                <a:cs typeface="Arial" pitchFamily="34" charset="-120"/>
              </a:rPr>
              <a:t>Now that Cyberpunk 2077 is one of Steam's highly-rated games what do players praise, what do they still complain about, and can we answer questions about it directly from the reviews?</a:t>
            </a:r>
            <a:endParaRPr lang="en-US" sz="1450" dirty="0"/>
          </a:p>
        </p:txBody>
      </p:sp>
      <p:sp>
        <p:nvSpPr>
          <p:cNvPr id="18" name="Shape 15"/>
          <p:cNvSpPr/>
          <p:nvPr/>
        </p:nvSpPr>
        <p:spPr>
          <a:xfrm>
            <a:off x="594360" y="3063240"/>
            <a:ext cx="2606040" cy="2286000"/>
          </a:xfrm>
          <a:prstGeom prst="roundRect">
            <a:avLst>
              <a:gd name="adj" fmla="val 3600"/>
            </a:avLst>
          </a:prstGeom>
          <a:solidFill>
            <a:srgbClr val="151827"/>
          </a:solidFill>
          <a:ln w="9525">
            <a:solidFill>
              <a:srgbClr val="2A3047"/>
            </a:solidFill>
            <a:prstDash val="solid"/>
          </a:ln>
        </p:spPr>
        <p:txBody>
          <a:bodyPr/>
          <a:lstStyle/>
          <a:p>
            <a:endParaRPr lang="en-US"/>
          </a:p>
        </p:txBody>
      </p:sp>
      <p:pic>
        <p:nvPicPr>
          <p:cNvPr id="19" name="Image 1" descr="icons/db.png"/>
          <p:cNvPicPr>
            <a:picLocks noChangeAspect="1"/>
          </p:cNvPicPr>
          <p:nvPr/>
        </p:nvPicPr>
        <p:blipFill>
          <a:blip r:embed="rId5"/>
          <a:stretch>
            <a:fillRect/>
          </a:stretch>
        </p:blipFill>
        <p:spPr>
          <a:xfrm>
            <a:off x="1650492" y="3337560"/>
            <a:ext cx="493776" cy="493776"/>
          </a:xfrm>
          <a:prstGeom prst="rect">
            <a:avLst/>
          </a:prstGeom>
        </p:spPr>
      </p:pic>
      <p:sp>
        <p:nvSpPr>
          <p:cNvPr id="20" name="Text 16"/>
          <p:cNvSpPr/>
          <p:nvPr/>
        </p:nvSpPr>
        <p:spPr>
          <a:xfrm>
            <a:off x="594360" y="3931920"/>
            <a:ext cx="2606040" cy="685800"/>
          </a:xfrm>
          <a:prstGeom prst="rect">
            <a:avLst/>
          </a:prstGeom>
          <a:noFill/>
          <a:ln/>
        </p:spPr>
        <p:txBody>
          <a:bodyPr wrap="square" lIns="0" tIns="0" rIns="0" bIns="0" rtlCol="0" anchor="ctr"/>
          <a:lstStyle/>
          <a:p>
            <a:pPr marL="0" indent="0" algn="ctr">
              <a:buNone/>
            </a:pPr>
            <a:r>
              <a:rPr lang="en-US" sz="3600" b="1" dirty="0">
                <a:solidFill>
                  <a:srgbClr val="FACC15"/>
                </a:solidFill>
                <a:latin typeface="Arial" pitchFamily="34" charset="0"/>
                <a:ea typeface="Arial" pitchFamily="34" charset="-122"/>
                <a:cs typeface="Arial" pitchFamily="34" charset="-120"/>
              </a:rPr>
              <a:t>92,190</a:t>
            </a:r>
            <a:endParaRPr lang="en-US" sz="3600" dirty="0"/>
          </a:p>
        </p:txBody>
      </p:sp>
      <p:sp>
        <p:nvSpPr>
          <p:cNvPr id="21" name="Text 17"/>
          <p:cNvSpPr/>
          <p:nvPr/>
        </p:nvSpPr>
        <p:spPr>
          <a:xfrm>
            <a:off x="731520" y="4663440"/>
            <a:ext cx="2331720" cy="594360"/>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English reviews</a:t>
            </a:r>
            <a:endParaRPr lang="en-US" sz="1100" dirty="0"/>
          </a:p>
          <a:p>
            <a:pPr marL="0" indent="0" algn="ctr">
              <a:buNone/>
            </a:pPr>
            <a:r>
              <a:rPr lang="en-US" sz="1100" dirty="0">
                <a:solidFill>
                  <a:srgbClr val="94A3B8"/>
                </a:solidFill>
                <a:latin typeface="Arial" pitchFamily="34" charset="0"/>
                <a:ea typeface="Arial" pitchFamily="34" charset="-122"/>
                <a:cs typeface="Arial" pitchFamily="34" charset="-120"/>
              </a:rPr>
              <a:t>via Steam API</a:t>
            </a:r>
            <a:endParaRPr lang="en-US" sz="1100" dirty="0"/>
          </a:p>
        </p:txBody>
      </p:sp>
      <p:sp>
        <p:nvSpPr>
          <p:cNvPr id="22" name="Shape 18"/>
          <p:cNvSpPr/>
          <p:nvPr/>
        </p:nvSpPr>
        <p:spPr>
          <a:xfrm>
            <a:off x="3392424" y="3063240"/>
            <a:ext cx="2606040" cy="2286000"/>
          </a:xfrm>
          <a:prstGeom prst="roundRect">
            <a:avLst>
              <a:gd name="adj" fmla="val 3600"/>
            </a:avLst>
          </a:prstGeom>
          <a:solidFill>
            <a:srgbClr val="151827"/>
          </a:solidFill>
          <a:ln w="9525">
            <a:solidFill>
              <a:srgbClr val="2A3047"/>
            </a:solidFill>
            <a:prstDash val="solid"/>
          </a:ln>
        </p:spPr>
        <p:txBody>
          <a:bodyPr/>
          <a:lstStyle/>
          <a:p>
            <a:endParaRPr lang="en-US"/>
          </a:p>
        </p:txBody>
      </p:sp>
      <p:pic>
        <p:nvPicPr>
          <p:cNvPr id="23" name="Image 2" descr="icons/thumbs.png"/>
          <p:cNvPicPr>
            <a:picLocks noChangeAspect="1"/>
          </p:cNvPicPr>
          <p:nvPr/>
        </p:nvPicPr>
        <p:blipFill>
          <a:blip r:embed="rId6"/>
          <a:stretch>
            <a:fillRect/>
          </a:stretch>
        </p:blipFill>
        <p:spPr>
          <a:xfrm>
            <a:off x="4448556" y="3337560"/>
            <a:ext cx="493776" cy="493776"/>
          </a:xfrm>
          <a:prstGeom prst="rect">
            <a:avLst/>
          </a:prstGeom>
        </p:spPr>
      </p:pic>
      <p:sp>
        <p:nvSpPr>
          <p:cNvPr id="24" name="Text 19"/>
          <p:cNvSpPr/>
          <p:nvPr/>
        </p:nvSpPr>
        <p:spPr>
          <a:xfrm>
            <a:off x="3392424" y="3931920"/>
            <a:ext cx="2606040" cy="685800"/>
          </a:xfrm>
          <a:prstGeom prst="rect">
            <a:avLst/>
          </a:prstGeom>
          <a:noFill/>
          <a:ln/>
        </p:spPr>
        <p:txBody>
          <a:bodyPr wrap="square" lIns="0" tIns="0" rIns="0" bIns="0" rtlCol="0" anchor="ctr"/>
          <a:lstStyle/>
          <a:p>
            <a:pPr marL="0" indent="0" algn="ctr">
              <a:buNone/>
            </a:pPr>
            <a:r>
              <a:rPr lang="en-US" sz="3600" b="1" dirty="0">
                <a:solidFill>
                  <a:srgbClr val="34D399"/>
                </a:solidFill>
                <a:latin typeface="Arial" pitchFamily="34" charset="0"/>
                <a:ea typeface="Arial" pitchFamily="34" charset="-122"/>
                <a:cs typeface="Arial" pitchFamily="34" charset="-120"/>
              </a:rPr>
              <a:t>94.8%</a:t>
            </a:r>
            <a:endParaRPr lang="en-US" sz="3600" dirty="0"/>
          </a:p>
        </p:txBody>
      </p:sp>
      <p:sp>
        <p:nvSpPr>
          <p:cNvPr id="25" name="Text 20"/>
          <p:cNvSpPr/>
          <p:nvPr/>
        </p:nvSpPr>
        <p:spPr>
          <a:xfrm>
            <a:off x="3529584" y="4663440"/>
            <a:ext cx="2331720" cy="594360"/>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thumbs-up rate</a:t>
            </a:r>
            <a:endParaRPr lang="en-US" sz="1100" dirty="0"/>
          </a:p>
        </p:txBody>
      </p:sp>
      <p:sp>
        <p:nvSpPr>
          <p:cNvPr id="26" name="Shape 21"/>
          <p:cNvSpPr/>
          <p:nvPr/>
        </p:nvSpPr>
        <p:spPr>
          <a:xfrm>
            <a:off x="6190488" y="3063240"/>
            <a:ext cx="2606040" cy="2286000"/>
          </a:xfrm>
          <a:prstGeom prst="roundRect">
            <a:avLst>
              <a:gd name="adj" fmla="val 3600"/>
            </a:avLst>
          </a:prstGeom>
          <a:solidFill>
            <a:srgbClr val="151827"/>
          </a:solidFill>
          <a:ln w="9525">
            <a:solidFill>
              <a:srgbClr val="2A3047"/>
            </a:solidFill>
            <a:prstDash val="solid"/>
          </a:ln>
        </p:spPr>
        <p:txBody>
          <a:bodyPr/>
          <a:lstStyle/>
          <a:p>
            <a:endParaRPr lang="en-US"/>
          </a:p>
        </p:txBody>
      </p:sp>
      <p:pic>
        <p:nvPicPr>
          <p:cNvPr id="27" name="Image 3" descr="icons/clock.png"/>
          <p:cNvPicPr>
            <a:picLocks noChangeAspect="1"/>
          </p:cNvPicPr>
          <p:nvPr/>
        </p:nvPicPr>
        <p:blipFill>
          <a:blip r:embed="rId7"/>
          <a:stretch>
            <a:fillRect/>
          </a:stretch>
        </p:blipFill>
        <p:spPr>
          <a:xfrm>
            <a:off x="7246620" y="3337560"/>
            <a:ext cx="493776" cy="493776"/>
          </a:xfrm>
          <a:prstGeom prst="rect">
            <a:avLst/>
          </a:prstGeom>
        </p:spPr>
      </p:pic>
      <p:sp>
        <p:nvSpPr>
          <p:cNvPr id="28" name="Text 22"/>
          <p:cNvSpPr/>
          <p:nvPr/>
        </p:nvSpPr>
        <p:spPr>
          <a:xfrm>
            <a:off x="6190488" y="3931920"/>
            <a:ext cx="2606040" cy="685800"/>
          </a:xfrm>
          <a:prstGeom prst="rect">
            <a:avLst/>
          </a:prstGeom>
          <a:noFill/>
          <a:ln/>
        </p:spPr>
        <p:txBody>
          <a:bodyPr wrap="square" lIns="0" tIns="0" rIns="0" bIns="0" rtlCol="0" anchor="ctr"/>
          <a:lstStyle/>
          <a:p>
            <a:pPr marL="0" indent="0" algn="ctr">
              <a:buNone/>
            </a:pPr>
            <a:r>
              <a:rPr lang="en-US" sz="3600" b="1" dirty="0">
                <a:solidFill>
                  <a:srgbClr val="E2E8F0"/>
                </a:solidFill>
                <a:latin typeface="Arial" pitchFamily="34" charset="0"/>
                <a:ea typeface="Arial" pitchFamily="34" charset="-122"/>
                <a:cs typeface="Arial" pitchFamily="34" charset="-120"/>
              </a:rPr>
              <a:t>24 mo</a:t>
            </a:r>
            <a:endParaRPr lang="en-US" sz="3600" dirty="0"/>
          </a:p>
        </p:txBody>
      </p:sp>
      <p:sp>
        <p:nvSpPr>
          <p:cNvPr id="29" name="Text 23"/>
          <p:cNvSpPr/>
          <p:nvPr/>
        </p:nvSpPr>
        <p:spPr>
          <a:xfrm>
            <a:off x="6327648" y="4663440"/>
            <a:ext cx="2331720" cy="594360"/>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Jul 2024 – Jun 2026</a:t>
            </a:r>
            <a:endParaRPr lang="en-US" sz="1100" dirty="0"/>
          </a:p>
          <a:p>
            <a:pPr marL="0" indent="0" algn="ctr">
              <a:buNone/>
            </a:pPr>
            <a:r>
              <a:rPr lang="en-US" sz="1100" dirty="0">
                <a:solidFill>
                  <a:srgbClr val="94A3B8"/>
                </a:solidFill>
                <a:latin typeface="Arial" pitchFamily="34" charset="0"/>
                <a:ea typeface="Arial" pitchFamily="34" charset="-122"/>
                <a:cs typeface="Arial" pitchFamily="34" charset="-120"/>
              </a:rPr>
              <a:t>post-recovery era</a:t>
            </a:r>
            <a:endParaRPr lang="en-US" sz="1100" dirty="0"/>
          </a:p>
        </p:txBody>
      </p:sp>
      <p:sp>
        <p:nvSpPr>
          <p:cNvPr id="30" name="Shape 24"/>
          <p:cNvSpPr/>
          <p:nvPr/>
        </p:nvSpPr>
        <p:spPr>
          <a:xfrm>
            <a:off x="8988552" y="3063240"/>
            <a:ext cx="2606040" cy="2286000"/>
          </a:xfrm>
          <a:prstGeom prst="roundRect">
            <a:avLst>
              <a:gd name="adj" fmla="val 3600"/>
            </a:avLst>
          </a:prstGeom>
          <a:solidFill>
            <a:srgbClr val="151827"/>
          </a:solidFill>
          <a:ln w="9525">
            <a:solidFill>
              <a:srgbClr val="2A3047"/>
            </a:solidFill>
            <a:prstDash val="solid"/>
          </a:ln>
        </p:spPr>
        <p:txBody>
          <a:bodyPr/>
          <a:lstStyle/>
          <a:p>
            <a:endParaRPr lang="en-US"/>
          </a:p>
        </p:txBody>
      </p:sp>
      <p:pic>
        <p:nvPicPr>
          <p:cNvPr id="31" name="Image 4" descr="icons/file.png"/>
          <p:cNvPicPr>
            <a:picLocks noChangeAspect="1"/>
          </p:cNvPicPr>
          <p:nvPr/>
        </p:nvPicPr>
        <p:blipFill>
          <a:blip r:embed="rId8"/>
          <a:stretch>
            <a:fillRect/>
          </a:stretch>
        </p:blipFill>
        <p:spPr>
          <a:xfrm>
            <a:off x="10044684" y="3337560"/>
            <a:ext cx="493776" cy="493776"/>
          </a:xfrm>
          <a:prstGeom prst="rect">
            <a:avLst/>
          </a:prstGeom>
        </p:spPr>
      </p:pic>
      <p:sp>
        <p:nvSpPr>
          <p:cNvPr id="32" name="Text 25"/>
          <p:cNvSpPr/>
          <p:nvPr/>
        </p:nvSpPr>
        <p:spPr>
          <a:xfrm>
            <a:off x="8988552" y="3931920"/>
            <a:ext cx="2606040" cy="685800"/>
          </a:xfrm>
          <a:prstGeom prst="rect">
            <a:avLst/>
          </a:prstGeom>
          <a:noFill/>
          <a:ln/>
        </p:spPr>
        <p:txBody>
          <a:bodyPr wrap="square" lIns="0" tIns="0" rIns="0" bIns="0" rtlCol="0" anchor="ctr"/>
          <a:lstStyle/>
          <a:p>
            <a:pPr marL="0" indent="0" algn="ctr">
              <a:buNone/>
            </a:pPr>
            <a:r>
              <a:rPr lang="en-US" sz="3600" b="1" dirty="0">
                <a:solidFill>
                  <a:srgbClr val="22D3EE"/>
                </a:solidFill>
                <a:latin typeface="Arial" pitchFamily="34" charset="0"/>
                <a:ea typeface="Arial" pitchFamily="34" charset="-122"/>
                <a:cs typeface="Arial" pitchFamily="34" charset="-120"/>
              </a:rPr>
              <a:t>5</a:t>
            </a:r>
            <a:endParaRPr lang="en-US" sz="3600" dirty="0"/>
          </a:p>
        </p:txBody>
      </p:sp>
      <p:sp>
        <p:nvSpPr>
          <p:cNvPr id="33" name="Text 26"/>
          <p:cNvSpPr/>
          <p:nvPr/>
        </p:nvSpPr>
        <p:spPr>
          <a:xfrm>
            <a:off x="9125712" y="4663440"/>
            <a:ext cx="2331720" cy="594360"/>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fields per review</a:t>
            </a:r>
            <a:endParaRPr lang="en-US" sz="1100" dirty="0"/>
          </a:p>
        </p:txBody>
      </p:sp>
      <p:sp>
        <p:nvSpPr>
          <p:cNvPr id="34" name="Shape 27"/>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35" name="Text 28"/>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A post-recovery snapshot with free sentiment labels (thumbs up / down) ideal for supervised NLP.</a:t>
            </a:r>
            <a:endParaRPr lang="en-US" sz="1250" dirty="0"/>
          </a:p>
        </p:txBody>
      </p:sp>
      <p:sp>
        <p:nvSpPr>
          <p:cNvPr id="36" name="Text 29"/>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7" name="Text 30"/>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02</a:t>
            </a:r>
            <a:endParaRPr lang="en-US" sz="900" dirty="0"/>
          </a:p>
        </p:txBody>
      </p:sp>
      <p:pic>
        <p:nvPicPr>
          <p:cNvPr id="38" name="Image 5" descr="logo_dark.png"/>
          <p:cNvPicPr>
            <a:picLocks noChangeAspect="1"/>
          </p:cNvPicPr>
          <p:nvPr/>
        </p:nvPicPr>
        <p:blipFill>
          <a:blip r:embed="rId9"/>
          <a:stretch>
            <a:fillRect/>
          </a:stretch>
        </p:blipFill>
        <p:spPr>
          <a:xfrm>
            <a:off x="10222992" y="6236208"/>
            <a:ext cx="868680" cy="502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DATA COLLECTION · LECTURE CH. 6</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Web Crawling: Static CSV + Live API</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WEB CRAWLING</a:t>
            </a:r>
            <a:endParaRPr lang="en-US" sz="1050" dirty="0"/>
          </a:p>
        </p:txBody>
      </p:sp>
      <p:sp>
        <p:nvSpPr>
          <p:cNvPr id="15" name="Shape 13"/>
          <p:cNvSpPr/>
          <p:nvPr/>
        </p:nvSpPr>
        <p:spPr>
          <a:xfrm>
            <a:off x="594360" y="1645920"/>
            <a:ext cx="2487168" cy="1554480"/>
          </a:xfrm>
          <a:prstGeom prst="roundRect">
            <a:avLst>
              <a:gd name="adj" fmla="val 5294"/>
            </a:avLst>
          </a:prstGeom>
          <a:solidFill>
            <a:srgbClr val="1B1F31"/>
          </a:solidFill>
          <a:ln w="9525">
            <a:solidFill>
              <a:srgbClr val="2A3047"/>
            </a:solidFill>
            <a:prstDash val="solid"/>
          </a:ln>
        </p:spPr>
        <p:txBody>
          <a:bodyPr/>
          <a:lstStyle/>
          <a:p>
            <a:endParaRPr lang="en-US"/>
          </a:p>
        </p:txBody>
      </p:sp>
      <p:pic>
        <p:nvPicPr>
          <p:cNvPr id="16" name="Image 0" descr="icons/globe.png"/>
          <p:cNvPicPr>
            <a:picLocks noChangeAspect="1"/>
          </p:cNvPicPr>
          <p:nvPr/>
        </p:nvPicPr>
        <p:blipFill>
          <a:blip r:embed="rId4"/>
          <a:stretch>
            <a:fillRect/>
          </a:stretch>
        </p:blipFill>
        <p:spPr>
          <a:xfrm>
            <a:off x="1600200" y="1828800"/>
            <a:ext cx="475488" cy="475488"/>
          </a:xfrm>
          <a:prstGeom prst="rect">
            <a:avLst/>
          </a:prstGeom>
        </p:spPr>
      </p:pic>
      <p:sp>
        <p:nvSpPr>
          <p:cNvPr id="17" name="Text 14"/>
          <p:cNvSpPr/>
          <p:nvPr/>
        </p:nvSpPr>
        <p:spPr>
          <a:xfrm>
            <a:off x="685800" y="2395728"/>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Steam Reviews API</a:t>
            </a:r>
            <a:endParaRPr lang="en-US" sz="1300" dirty="0"/>
          </a:p>
        </p:txBody>
      </p:sp>
      <p:sp>
        <p:nvSpPr>
          <p:cNvPr id="18" name="Text 15"/>
          <p:cNvSpPr/>
          <p:nvPr/>
        </p:nvSpPr>
        <p:spPr>
          <a:xfrm>
            <a:off x="685800" y="2688336"/>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appreviews/1091500</a:t>
            </a:r>
            <a:endParaRPr lang="en-US" sz="1050" dirty="0"/>
          </a:p>
        </p:txBody>
      </p:sp>
      <p:sp>
        <p:nvSpPr>
          <p:cNvPr id="19" name="Text 16"/>
          <p:cNvSpPr/>
          <p:nvPr/>
        </p:nvSpPr>
        <p:spPr>
          <a:xfrm>
            <a:off x="3099816" y="219456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3429000" y="1645920"/>
            <a:ext cx="2487168" cy="1554480"/>
          </a:xfrm>
          <a:prstGeom prst="roundRect">
            <a:avLst>
              <a:gd name="adj" fmla="val 5294"/>
            </a:avLst>
          </a:prstGeom>
          <a:solidFill>
            <a:srgbClr val="1B1F31"/>
          </a:solidFill>
          <a:ln w="9525">
            <a:solidFill>
              <a:srgbClr val="2A3047"/>
            </a:solidFill>
            <a:prstDash val="solid"/>
          </a:ln>
        </p:spPr>
        <p:txBody>
          <a:bodyPr/>
          <a:lstStyle/>
          <a:p>
            <a:endParaRPr lang="en-US"/>
          </a:p>
        </p:txBody>
      </p:sp>
      <p:pic>
        <p:nvPicPr>
          <p:cNvPr id="21" name="Image 1" descr="icons/python.png"/>
          <p:cNvPicPr>
            <a:picLocks noChangeAspect="1"/>
          </p:cNvPicPr>
          <p:nvPr/>
        </p:nvPicPr>
        <p:blipFill>
          <a:blip r:embed="rId5"/>
          <a:stretch>
            <a:fillRect/>
          </a:stretch>
        </p:blipFill>
        <p:spPr>
          <a:xfrm>
            <a:off x="4434840" y="1828800"/>
            <a:ext cx="475488" cy="475488"/>
          </a:xfrm>
          <a:prstGeom prst="rect">
            <a:avLst/>
          </a:prstGeom>
        </p:spPr>
      </p:pic>
      <p:sp>
        <p:nvSpPr>
          <p:cNvPr id="22" name="Text 18"/>
          <p:cNvSpPr/>
          <p:nvPr/>
        </p:nvSpPr>
        <p:spPr>
          <a:xfrm>
            <a:off x="3520440" y="2395728"/>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Scraper</a:t>
            </a:r>
            <a:endParaRPr lang="en-US" sz="1300" dirty="0"/>
          </a:p>
        </p:txBody>
      </p:sp>
      <p:sp>
        <p:nvSpPr>
          <p:cNvPr id="23" name="Text 19"/>
          <p:cNvSpPr/>
          <p:nvPr/>
        </p:nvSpPr>
        <p:spPr>
          <a:xfrm>
            <a:off x="3520440" y="2688336"/>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cursor-based paging</a:t>
            </a:r>
            <a:endParaRPr lang="en-US" sz="1050" dirty="0"/>
          </a:p>
        </p:txBody>
      </p:sp>
      <p:sp>
        <p:nvSpPr>
          <p:cNvPr id="24" name="Text 20"/>
          <p:cNvSpPr/>
          <p:nvPr/>
        </p:nvSpPr>
        <p:spPr>
          <a:xfrm>
            <a:off x="5934456" y="219456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5" name="Shape 21"/>
          <p:cNvSpPr/>
          <p:nvPr/>
        </p:nvSpPr>
        <p:spPr>
          <a:xfrm>
            <a:off x="6263640" y="1645920"/>
            <a:ext cx="2487168" cy="1554480"/>
          </a:xfrm>
          <a:prstGeom prst="roundRect">
            <a:avLst>
              <a:gd name="adj" fmla="val 5294"/>
            </a:avLst>
          </a:prstGeom>
          <a:solidFill>
            <a:srgbClr val="1B1F31"/>
          </a:solidFill>
          <a:ln w="9525">
            <a:solidFill>
              <a:srgbClr val="2A3047"/>
            </a:solidFill>
            <a:prstDash val="solid"/>
          </a:ln>
        </p:spPr>
        <p:txBody>
          <a:bodyPr/>
          <a:lstStyle/>
          <a:p>
            <a:endParaRPr lang="en-US"/>
          </a:p>
        </p:txBody>
      </p:sp>
      <p:pic>
        <p:nvPicPr>
          <p:cNvPr id="26" name="Image 2" descr="icons/db.png"/>
          <p:cNvPicPr>
            <a:picLocks noChangeAspect="1"/>
          </p:cNvPicPr>
          <p:nvPr/>
        </p:nvPicPr>
        <p:blipFill>
          <a:blip r:embed="rId6"/>
          <a:stretch>
            <a:fillRect/>
          </a:stretch>
        </p:blipFill>
        <p:spPr>
          <a:xfrm>
            <a:off x="7269480" y="1828800"/>
            <a:ext cx="475488" cy="475488"/>
          </a:xfrm>
          <a:prstGeom prst="rect">
            <a:avLst/>
          </a:prstGeom>
        </p:spPr>
      </p:pic>
      <p:sp>
        <p:nvSpPr>
          <p:cNvPr id="27" name="Text 22"/>
          <p:cNvSpPr/>
          <p:nvPr/>
        </p:nvSpPr>
        <p:spPr>
          <a:xfrm>
            <a:off x="6355080" y="2395728"/>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Static CSV</a:t>
            </a:r>
            <a:endParaRPr lang="en-US" sz="1300" dirty="0"/>
          </a:p>
        </p:txBody>
      </p:sp>
      <p:sp>
        <p:nvSpPr>
          <p:cNvPr id="28" name="Text 23"/>
          <p:cNvSpPr/>
          <p:nvPr/>
        </p:nvSpPr>
        <p:spPr>
          <a:xfrm>
            <a:off x="6355080" y="2688336"/>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92,190 reviews</a:t>
            </a:r>
            <a:endParaRPr lang="en-US" sz="1050" dirty="0"/>
          </a:p>
        </p:txBody>
      </p:sp>
      <p:sp>
        <p:nvSpPr>
          <p:cNvPr id="29" name="Text 24"/>
          <p:cNvSpPr/>
          <p:nvPr/>
        </p:nvSpPr>
        <p:spPr>
          <a:xfrm>
            <a:off x="8769096" y="219456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30" name="Shape 25"/>
          <p:cNvSpPr/>
          <p:nvPr/>
        </p:nvSpPr>
        <p:spPr>
          <a:xfrm>
            <a:off x="9098280" y="1645920"/>
            <a:ext cx="2487168" cy="1554480"/>
          </a:xfrm>
          <a:prstGeom prst="roundRect">
            <a:avLst>
              <a:gd name="adj" fmla="val 5294"/>
            </a:avLst>
          </a:prstGeom>
          <a:solidFill>
            <a:srgbClr val="1B1F31"/>
          </a:solidFill>
          <a:ln w="9525">
            <a:solidFill>
              <a:srgbClr val="2A3047"/>
            </a:solidFill>
            <a:prstDash val="solid"/>
          </a:ln>
        </p:spPr>
        <p:txBody>
          <a:bodyPr/>
          <a:lstStyle/>
          <a:p>
            <a:endParaRPr lang="en-US"/>
          </a:p>
        </p:txBody>
      </p:sp>
      <p:pic>
        <p:nvPicPr>
          <p:cNvPr id="31" name="Image 3" descr="icons/refresh.png"/>
          <p:cNvPicPr>
            <a:picLocks noChangeAspect="1"/>
          </p:cNvPicPr>
          <p:nvPr/>
        </p:nvPicPr>
        <p:blipFill>
          <a:blip r:embed="rId7"/>
          <a:stretch>
            <a:fillRect/>
          </a:stretch>
        </p:blipFill>
        <p:spPr>
          <a:xfrm>
            <a:off x="10104120" y="1828800"/>
            <a:ext cx="475488" cy="475488"/>
          </a:xfrm>
          <a:prstGeom prst="rect">
            <a:avLst/>
          </a:prstGeom>
        </p:spPr>
      </p:pic>
      <p:sp>
        <p:nvSpPr>
          <p:cNvPr id="32" name="Text 26"/>
          <p:cNvSpPr/>
          <p:nvPr/>
        </p:nvSpPr>
        <p:spPr>
          <a:xfrm>
            <a:off x="9189720" y="2395728"/>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Live fetch</a:t>
            </a:r>
            <a:endParaRPr lang="en-US" sz="1300" dirty="0"/>
          </a:p>
        </p:txBody>
      </p:sp>
      <p:sp>
        <p:nvSpPr>
          <p:cNvPr id="33" name="Text 27"/>
          <p:cNvSpPr/>
          <p:nvPr/>
        </p:nvSpPr>
        <p:spPr>
          <a:xfrm>
            <a:off x="9189720" y="2688336"/>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+500 newest / run</a:t>
            </a:r>
            <a:endParaRPr lang="en-US" sz="1050" dirty="0"/>
          </a:p>
        </p:txBody>
      </p:sp>
      <p:sp>
        <p:nvSpPr>
          <p:cNvPr id="34" name="Shape 28"/>
          <p:cNvSpPr/>
          <p:nvPr/>
        </p:nvSpPr>
        <p:spPr>
          <a:xfrm>
            <a:off x="594360" y="3611880"/>
            <a:ext cx="5943600" cy="1828800"/>
          </a:xfrm>
          <a:prstGeom prst="roundRect">
            <a:avLst>
              <a:gd name="adj" fmla="val 4500"/>
            </a:avLst>
          </a:prstGeom>
          <a:solidFill>
            <a:srgbClr val="151827"/>
          </a:solidFill>
          <a:ln w="9525">
            <a:solidFill>
              <a:srgbClr val="2A3047"/>
            </a:solidFill>
            <a:prstDash val="solid"/>
          </a:ln>
        </p:spPr>
        <p:txBody>
          <a:bodyPr/>
          <a:lstStyle/>
          <a:p>
            <a:endParaRPr lang="en-US"/>
          </a:p>
        </p:txBody>
      </p:sp>
      <p:sp>
        <p:nvSpPr>
          <p:cNvPr id="35" name="Text 29"/>
          <p:cNvSpPr/>
          <p:nvPr/>
        </p:nvSpPr>
        <p:spPr>
          <a:xfrm>
            <a:off x="868680" y="3767328"/>
            <a:ext cx="4572000" cy="237744"/>
          </a:xfrm>
          <a:prstGeom prst="rect">
            <a:avLst/>
          </a:prstGeom>
          <a:noFill/>
          <a:ln/>
        </p:spPr>
        <p:txBody>
          <a:bodyPr wrap="square" lIns="0" tIns="0" rIns="0" bIns="0" rtlCol="0" anchor="ctr"/>
          <a:lstStyle/>
          <a:p>
            <a:pPr marL="0" indent="0">
              <a:buNone/>
            </a:pPr>
            <a:r>
              <a:rPr lang="en-US" sz="1000" b="1" kern="0" spc="200" dirty="0">
                <a:solidFill>
                  <a:srgbClr val="22D3EE"/>
                </a:solidFill>
                <a:latin typeface="Arial" pitchFamily="34" charset="0"/>
                <a:ea typeface="Arial" pitchFamily="34" charset="-122"/>
                <a:cs typeface="Arial" pitchFamily="34" charset="-120"/>
              </a:rPr>
              <a:t>HOW IT WORKS</a:t>
            </a:r>
            <a:endParaRPr lang="en-US" sz="1000" dirty="0"/>
          </a:p>
        </p:txBody>
      </p:sp>
      <p:sp>
        <p:nvSpPr>
          <p:cNvPr id="36" name="Text 30"/>
          <p:cNvSpPr/>
          <p:nvPr/>
        </p:nvSpPr>
        <p:spPr>
          <a:xfrm>
            <a:off x="868680" y="4069080"/>
            <a:ext cx="5486400" cy="12801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E2E8F0"/>
                </a:solidFill>
                <a:latin typeface="Arial" pitchFamily="34" charset="0"/>
                <a:ea typeface="Arial" pitchFamily="34" charset="-122"/>
                <a:cs typeface="Arial" pitchFamily="34" charset="-120"/>
              </a:rPr>
              <a:t>Merge + deduplicate on every notebook run</a:t>
            </a:r>
            <a:endParaRPr lang="en-US" sz="1250" dirty="0"/>
          </a:p>
          <a:p>
            <a:pPr marL="342900" indent="-342900">
              <a:spcAft>
                <a:spcPts val="800"/>
              </a:spcAft>
              <a:buSzPct val="100000"/>
              <a:buChar char="•"/>
            </a:pPr>
            <a:r>
              <a:rPr lang="en-US" sz="1250" dirty="0">
                <a:solidFill>
                  <a:srgbClr val="E2E8F0"/>
                </a:solidFill>
                <a:latin typeface="Arial" pitchFamily="34" charset="0"/>
                <a:ea typeface="Arial" pitchFamily="34" charset="-122"/>
                <a:cs typeface="Arial" pitchFamily="34" charset="-120"/>
              </a:rPr>
              <a:t>Structured JSON no fragile HTML parsing</a:t>
            </a:r>
            <a:endParaRPr lang="en-US" sz="1250" dirty="0"/>
          </a:p>
          <a:p>
            <a:pPr marL="342900" indent="-342900">
              <a:spcAft>
                <a:spcPts val="800"/>
              </a:spcAft>
              <a:buSzPct val="100000"/>
              <a:buChar char="•"/>
            </a:pPr>
            <a:r>
              <a:rPr lang="en-US" sz="1250" dirty="0">
                <a:solidFill>
                  <a:srgbClr val="E2E8F0"/>
                </a:solidFill>
                <a:latin typeface="Arial" pitchFamily="34" charset="0"/>
                <a:ea typeface="Arial" pitchFamily="34" charset="-122"/>
                <a:cs typeface="Arial" pitchFamily="34" charset="-120"/>
              </a:rPr>
              <a:t>Dataset is always current (last fetch: Jul 2026)</a:t>
            </a:r>
            <a:endParaRPr lang="en-US" sz="1250" dirty="0"/>
          </a:p>
        </p:txBody>
      </p:sp>
      <p:sp>
        <p:nvSpPr>
          <p:cNvPr id="37" name="Shape 31"/>
          <p:cNvSpPr/>
          <p:nvPr/>
        </p:nvSpPr>
        <p:spPr>
          <a:xfrm>
            <a:off x="6812280" y="3611880"/>
            <a:ext cx="4782312" cy="1828800"/>
          </a:xfrm>
          <a:prstGeom prst="roundRect">
            <a:avLst>
              <a:gd name="adj" fmla="val 4500"/>
            </a:avLst>
          </a:prstGeom>
          <a:solidFill>
            <a:srgbClr val="10131F"/>
          </a:solidFill>
          <a:ln w="9525">
            <a:solidFill>
              <a:srgbClr val="2A3047"/>
            </a:solidFill>
            <a:prstDash val="solid"/>
          </a:ln>
        </p:spPr>
        <p:txBody>
          <a:bodyPr/>
          <a:lstStyle/>
          <a:p>
            <a:endParaRPr lang="en-US"/>
          </a:p>
        </p:txBody>
      </p:sp>
      <p:pic>
        <p:nvPicPr>
          <p:cNvPr id="38" name="Image 4" descr="icons/quote.png"/>
          <p:cNvPicPr>
            <a:picLocks noChangeAspect="1"/>
          </p:cNvPicPr>
          <p:nvPr/>
        </p:nvPicPr>
        <p:blipFill>
          <a:blip r:embed="rId8"/>
          <a:stretch>
            <a:fillRect/>
          </a:stretch>
        </p:blipFill>
        <p:spPr>
          <a:xfrm>
            <a:off x="7086600" y="3794760"/>
            <a:ext cx="365760" cy="365760"/>
          </a:xfrm>
          <a:prstGeom prst="rect">
            <a:avLst/>
          </a:prstGeom>
        </p:spPr>
      </p:pic>
      <p:sp>
        <p:nvSpPr>
          <p:cNvPr id="39" name="Text 32"/>
          <p:cNvSpPr/>
          <p:nvPr/>
        </p:nvSpPr>
        <p:spPr>
          <a:xfrm>
            <a:off x="7589520" y="3858768"/>
            <a:ext cx="3840480" cy="237744"/>
          </a:xfrm>
          <a:prstGeom prst="rect">
            <a:avLst/>
          </a:prstGeom>
          <a:noFill/>
          <a:ln/>
        </p:spPr>
        <p:txBody>
          <a:bodyPr wrap="square" lIns="0" tIns="0" rIns="0" bIns="0" rtlCol="0" anchor="ctr"/>
          <a:lstStyle/>
          <a:p>
            <a:pPr marL="0" indent="0">
              <a:buNone/>
            </a:pPr>
            <a:r>
              <a:rPr lang="en-US" sz="1000" b="1" kern="0" spc="200" dirty="0">
                <a:solidFill>
                  <a:srgbClr val="94A3B8"/>
                </a:solidFill>
                <a:latin typeface="Arial" pitchFamily="34" charset="0"/>
                <a:ea typeface="Arial" pitchFamily="34" charset="-122"/>
                <a:cs typeface="Arial" pitchFamily="34" charset="-120"/>
              </a:rPr>
              <a:t>LIVE SAMPLE · 2026-07-12</a:t>
            </a:r>
            <a:endParaRPr lang="en-US" sz="1000" dirty="0"/>
          </a:p>
        </p:txBody>
      </p:sp>
      <p:sp>
        <p:nvSpPr>
          <p:cNvPr id="40" name="Text 33"/>
          <p:cNvSpPr/>
          <p:nvPr/>
        </p:nvSpPr>
        <p:spPr>
          <a:xfrm>
            <a:off x="7086600" y="4297680"/>
            <a:ext cx="4297680" cy="1005840"/>
          </a:xfrm>
          <a:prstGeom prst="rect">
            <a:avLst/>
          </a:prstGeom>
          <a:noFill/>
          <a:ln/>
        </p:spPr>
        <p:txBody>
          <a:bodyPr wrap="square" lIns="0" tIns="0" rIns="0" bIns="0" rtlCol="0" anchor="ctr"/>
          <a:lstStyle/>
          <a:p>
            <a:pPr marL="0" indent="0">
              <a:buNone/>
            </a:pPr>
            <a:r>
              <a:rPr lang="en-US" sz="1300" i="1" dirty="0">
                <a:solidFill>
                  <a:srgbClr val="E2E8F0"/>
                </a:solidFill>
                <a:latin typeface="Arial" pitchFamily="34" charset="0"/>
                <a:ea typeface="Arial" pitchFamily="34" charset="-122"/>
                <a:cs typeface="Arial" pitchFamily="34" charset="-120"/>
              </a:rPr>
              <a:t>“game good. sometimes crashes and has bugs</a:t>
            </a:r>
            <a:endParaRPr lang="en-US" sz="1300" dirty="0"/>
          </a:p>
          <a:p>
            <a:pPr marL="0" indent="0">
              <a:buNone/>
            </a:pPr>
            <a:r>
              <a:rPr lang="en-US" sz="1300" i="1" dirty="0">
                <a:solidFill>
                  <a:srgbClr val="E2E8F0"/>
                </a:solidFill>
                <a:latin typeface="Arial" pitchFamily="34" charset="0"/>
                <a:ea typeface="Arial" pitchFamily="34" charset="-122"/>
                <a:cs typeface="Arial" pitchFamily="34" charset="-120"/>
              </a:rPr>
              <a:t>but its worth it”</a:t>
            </a:r>
            <a:endParaRPr lang="en-US" sz="1300" dirty="0"/>
          </a:p>
        </p:txBody>
      </p:sp>
      <p:sp>
        <p:nvSpPr>
          <p:cNvPr id="41" name="Shape 34"/>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42" name="Text 35"/>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API-based collection is the modern form of web crawling the corpus refreshes itself.</a:t>
            </a:r>
            <a:endParaRPr lang="en-US" sz="1250" dirty="0"/>
          </a:p>
        </p:txBody>
      </p:sp>
      <p:sp>
        <p:nvSpPr>
          <p:cNvPr id="43" name="Text 36"/>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44" name="Text 37"/>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03</a:t>
            </a:r>
            <a:endParaRPr lang="en-US" sz="900" dirty="0"/>
          </a:p>
        </p:txBody>
      </p:sp>
      <p:pic>
        <p:nvPicPr>
          <p:cNvPr id="45" name="Image 5" descr="logo_dark.png"/>
          <p:cNvPicPr>
            <a:picLocks noChangeAspect="1"/>
          </p:cNvPicPr>
          <p:nvPr/>
        </p:nvPicPr>
        <p:blipFill>
          <a:blip r:embed="rId9"/>
          <a:stretch>
            <a:fillRect/>
          </a:stretch>
        </p:blipFill>
        <p:spPr>
          <a:xfrm>
            <a:off x="10222992" y="6236208"/>
            <a:ext cx="868680" cy="502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THE BIG PICTURE</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One Pipeline, All 15 Methods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 – M15</a:t>
            </a:r>
            <a:endParaRPr lang="en-US" sz="1050" dirty="0"/>
          </a:p>
        </p:txBody>
      </p:sp>
      <p:sp>
        <p:nvSpPr>
          <p:cNvPr id="15" name="Shape 13"/>
          <p:cNvSpPr/>
          <p:nvPr/>
        </p:nvSpPr>
        <p:spPr>
          <a:xfrm>
            <a:off x="594360" y="1554480"/>
            <a:ext cx="1755648" cy="960120"/>
          </a:xfrm>
          <a:prstGeom prst="roundRect">
            <a:avLst>
              <a:gd name="adj" fmla="val 8571"/>
            </a:avLst>
          </a:prstGeom>
          <a:solidFill>
            <a:srgbClr val="1B1F31"/>
          </a:solidFill>
          <a:ln w="15875">
            <a:solidFill>
              <a:srgbClr val="22D3EE"/>
            </a:solidFill>
            <a:prstDash val="solid"/>
          </a:ln>
        </p:spPr>
        <p:txBody>
          <a:bodyPr/>
          <a:lstStyle/>
          <a:p>
            <a:endParaRPr lang="en-US"/>
          </a:p>
        </p:txBody>
      </p:sp>
      <p:pic>
        <p:nvPicPr>
          <p:cNvPr id="16" name="Image 0" descr="icons/file.png"/>
          <p:cNvPicPr>
            <a:picLocks noChangeAspect="1"/>
          </p:cNvPicPr>
          <p:nvPr/>
        </p:nvPicPr>
        <p:blipFill>
          <a:blip r:embed="rId4"/>
          <a:stretch>
            <a:fillRect/>
          </a:stretch>
        </p:blipFill>
        <p:spPr>
          <a:xfrm>
            <a:off x="1316736" y="1673352"/>
            <a:ext cx="310896" cy="310896"/>
          </a:xfrm>
          <a:prstGeom prst="rect">
            <a:avLst/>
          </a:prstGeom>
        </p:spPr>
      </p:pic>
      <p:sp>
        <p:nvSpPr>
          <p:cNvPr id="17" name="Text 14"/>
          <p:cNvSpPr/>
          <p:nvPr/>
        </p:nvSpPr>
        <p:spPr>
          <a:xfrm>
            <a:off x="649224" y="2057400"/>
            <a:ext cx="1645920" cy="274320"/>
          </a:xfrm>
          <a:prstGeom prst="rect">
            <a:avLst/>
          </a:prstGeom>
          <a:noFill/>
          <a:ln/>
        </p:spPr>
        <p:txBody>
          <a:bodyPr wrap="square" lIns="0" tIns="0" rIns="0" bIns="0" rtlCol="0" anchor="ctr"/>
          <a:lstStyle/>
          <a:p>
            <a:pPr marL="0" indent="0" algn="ctr">
              <a:buNone/>
            </a:pPr>
            <a:r>
              <a:rPr lang="en-US" sz="1100" b="1" dirty="0">
                <a:solidFill>
                  <a:srgbClr val="22D3EE"/>
                </a:solidFill>
                <a:latin typeface="Arial" pitchFamily="34" charset="0"/>
                <a:ea typeface="Arial" pitchFamily="34" charset="-122"/>
                <a:cs typeface="Arial" pitchFamily="34" charset="-120"/>
              </a:rPr>
              <a:t>RAW TEXT</a:t>
            </a:r>
            <a:endParaRPr lang="en-US" sz="1100" dirty="0"/>
          </a:p>
        </p:txBody>
      </p:sp>
      <p:sp>
        <p:nvSpPr>
          <p:cNvPr id="18" name="Shape 15"/>
          <p:cNvSpPr/>
          <p:nvPr/>
        </p:nvSpPr>
        <p:spPr>
          <a:xfrm>
            <a:off x="59436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19" name="Text 16"/>
          <p:cNvSpPr/>
          <p:nvPr/>
        </p:nvSpPr>
        <p:spPr>
          <a:xfrm>
            <a:off x="70408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92,190 reviews</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CSV + live API</a:t>
            </a:r>
            <a:endParaRPr lang="en-US" sz="950" dirty="0"/>
          </a:p>
        </p:txBody>
      </p:sp>
      <p:sp>
        <p:nvSpPr>
          <p:cNvPr id="20" name="Shape 17"/>
          <p:cNvSpPr/>
          <p:nvPr/>
        </p:nvSpPr>
        <p:spPr>
          <a:xfrm>
            <a:off x="1472184" y="2514600"/>
            <a:ext cx="0" cy="228600"/>
          </a:xfrm>
          <a:prstGeom prst="line">
            <a:avLst/>
          </a:prstGeom>
          <a:noFill/>
          <a:ln w="15875">
            <a:solidFill>
              <a:srgbClr val="22D3EE"/>
            </a:solidFill>
            <a:prstDash val="dash"/>
          </a:ln>
        </p:spPr>
        <p:txBody>
          <a:bodyPr/>
          <a:lstStyle/>
          <a:p>
            <a:endParaRPr lang="en-US"/>
          </a:p>
        </p:txBody>
      </p:sp>
      <p:sp>
        <p:nvSpPr>
          <p:cNvPr id="21" name="Text 18"/>
          <p:cNvSpPr/>
          <p:nvPr/>
        </p:nvSpPr>
        <p:spPr>
          <a:xfrm>
            <a:off x="2313432" y="1847088"/>
            <a:ext cx="228600" cy="365760"/>
          </a:xfrm>
          <a:prstGeom prst="rect">
            <a:avLst/>
          </a:prstGeom>
          <a:noFill/>
          <a:ln/>
        </p:spPr>
        <p:txBody>
          <a:bodyPr wrap="square" lIns="0" tIns="0" rIns="0" bIns="0" rtlCol="0" anchor="ctr"/>
          <a:lstStyle/>
          <a:p>
            <a:pPr marL="0" indent="0" algn="ctr">
              <a:buNone/>
            </a:pPr>
            <a:r>
              <a:rPr lang="en-US" sz="1400" b="1" dirty="0">
                <a:solidFill>
                  <a:srgbClr val="E2E8F0"/>
                </a:solidFill>
                <a:latin typeface="Arial" pitchFamily="34" charset="0"/>
                <a:ea typeface="Arial" pitchFamily="34" charset="-122"/>
                <a:cs typeface="Arial" pitchFamily="34" charset="-120"/>
              </a:rPr>
              <a:t>→</a:t>
            </a:r>
            <a:endParaRPr lang="en-US" sz="1400" dirty="0"/>
          </a:p>
        </p:txBody>
      </p:sp>
      <p:sp>
        <p:nvSpPr>
          <p:cNvPr id="22" name="Shape 19"/>
          <p:cNvSpPr/>
          <p:nvPr/>
        </p:nvSpPr>
        <p:spPr>
          <a:xfrm>
            <a:off x="2468880" y="1554480"/>
            <a:ext cx="1755648" cy="960120"/>
          </a:xfrm>
          <a:prstGeom prst="roundRect">
            <a:avLst>
              <a:gd name="adj" fmla="val 8571"/>
            </a:avLst>
          </a:prstGeom>
          <a:solidFill>
            <a:srgbClr val="1B1F31"/>
          </a:solidFill>
          <a:ln w="15875">
            <a:solidFill>
              <a:srgbClr val="FACC15"/>
            </a:solidFill>
            <a:prstDash val="solid"/>
          </a:ln>
        </p:spPr>
        <p:txBody>
          <a:bodyPr/>
          <a:lstStyle/>
          <a:p>
            <a:endParaRPr lang="en-US"/>
          </a:p>
        </p:txBody>
      </p:sp>
      <p:pic>
        <p:nvPicPr>
          <p:cNvPr id="23" name="Image 1" descr="icons/filter.png"/>
          <p:cNvPicPr>
            <a:picLocks noChangeAspect="1"/>
          </p:cNvPicPr>
          <p:nvPr/>
        </p:nvPicPr>
        <p:blipFill>
          <a:blip r:embed="rId5"/>
          <a:stretch>
            <a:fillRect/>
          </a:stretch>
        </p:blipFill>
        <p:spPr>
          <a:xfrm>
            <a:off x="3191256" y="1673352"/>
            <a:ext cx="310896" cy="310896"/>
          </a:xfrm>
          <a:prstGeom prst="rect">
            <a:avLst/>
          </a:prstGeom>
        </p:spPr>
      </p:pic>
      <p:sp>
        <p:nvSpPr>
          <p:cNvPr id="24" name="Text 20"/>
          <p:cNvSpPr/>
          <p:nvPr/>
        </p:nvSpPr>
        <p:spPr>
          <a:xfrm>
            <a:off x="2523744" y="2057400"/>
            <a:ext cx="1645920" cy="274320"/>
          </a:xfrm>
          <a:prstGeom prst="rect">
            <a:avLst/>
          </a:prstGeom>
          <a:noFill/>
          <a:ln/>
        </p:spPr>
        <p:txBody>
          <a:bodyPr wrap="square" lIns="0" tIns="0" rIns="0" bIns="0" rtlCol="0" anchor="ctr"/>
          <a:lstStyle/>
          <a:p>
            <a:pPr marL="0" indent="0" algn="ctr">
              <a:buNone/>
            </a:pPr>
            <a:r>
              <a:rPr lang="en-US" sz="1100" b="1" dirty="0">
                <a:solidFill>
                  <a:srgbClr val="FACC15"/>
                </a:solidFill>
                <a:latin typeface="Arial" pitchFamily="34" charset="0"/>
                <a:ea typeface="Arial" pitchFamily="34" charset="-122"/>
                <a:cs typeface="Arial" pitchFamily="34" charset="-120"/>
              </a:rPr>
              <a:t>PREPROCESS</a:t>
            </a:r>
            <a:endParaRPr lang="en-US" sz="1100" dirty="0"/>
          </a:p>
        </p:txBody>
      </p:sp>
      <p:sp>
        <p:nvSpPr>
          <p:cNvPr id="25" name="Shape 21"/>
          <p:cNvSpPr/>
          <p:nvPr/>
        </p:nvSpPr>
        <p:spPr>
          <a:xfrm>
            <a:off x="246888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26" name="Text 22"/>
          <p:cNvSpPr/>
          <p:nvPr/>
        </p:nvSpPr>
        <p:spPr>
          <a:xfrm>
            <a:off x="257860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M1 Tokenization</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M2 Stop words</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M3 Lemmatization</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M4 Stemming A/B</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M5 POS filter</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M10 Levenshtein</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M11 Jaccard dedup</a:t>
            </a:r>
            <a:endParaRPr lang="en-US" sz="950" dirty="0"/>
          </a:p>
        </p:txBody>
      </p:sp>
      <p:sp>
        <p:nvSpPr>
          <p:cNvPr id="27" name="Shape 23"/>
          <p:cNvSpPr/>
          <p:nvPr/>
        </p:nvSpPr>
        <p:spPr>
          <a:xfrm>
            <a:off x="3346704" y="2514600"/>
            <a:ext cx="0" cy="228600"/>
          </a:xfrm>
          <a:prstGeom prst="line">
            <a:avLst/>
          </a:prstGeom>
          <a:noFill/>
          <a:ln w="15875">
            <a:solidFill>
              <a:srgbClr val="FACC15"/>
            </a:solidFill>
            <a:prstDash val="dash"/>
          </a:ln>
        </p:spPr>
        <p:txBody>
          <a:bodyPr/>
          <a:lstStyle/>
          <a:p>
            <a:endParaRPr lang="en-US"/>
          </a:p>
        </p:txBody>
      </p:sp>
      <p:sp>
        <p:nvSpPr>
          <p:cNvPr id="28" name="Text 24"/>
          <p:cNvSpPr/>
          <p:nvPr/>
        </p:nvSpPr>
        <p:spPr>
          <a:xfrm>
            <a:off x="4187952" y="1847088"/>
            <a:ext cx="228600" cy="365760"/>
          </a:xfrm>
          <a:prstGeom prst="rect">
            <a:avLst/>
          </a:prstGeom>
          <a:noFill/>
          <a:ln/>
        </p:spPr>
        <p:txBody>
          <a:bodyPr wrap="square" lIns="0" tIns="0" rIns="0" bIns="0" rtlCol="0" anchor="ctr"/>
          <a:lstStyle/>
          <a:p>
            <a:pPr marL="0" indent="0" algn="ctr">
              <a:buNone/>
            </a:pPr>
            <a:r>
              <a:rPr lang="en-US" sz="1400" b="1" dirty="0">
                <a:solidFill>
                  <a:srgbClr val="E2E8F0"/>
                </a:solidFill>
                <a:latin typeface="Arial" pitchFamily="34" charset="0"/>
                <a:ea typeface="Arial" pitchFamily="34" charset="-122"/>
                <a:cs typeface="Arial" pitchFamily="34" charset="-120"/>
              </a:rPr>
              <a:t>→</a:t>
            </a:r>
            <a:endParaRPr lang="en-US" sz="1400" dirty="0"/>
          </a:p>
        </p:txBody>
      </p:sp>
      <p:sp>
        <p:nvSpPr>
          <p:cNvPr id="29" name="Shape 25"/>
          <p:cNvSpPr/>
          <p:nvPr/>
        </p:nvSpPr>
        <p:spPr>
          <a:xfrm>
            <a:off x="4343400" y="1554480"/>
            <a:ext cx="1755648" cy="960120"/>
          </a:xfrm>
          <a:prstGeom prst="roundRect">
            <a:avLst>
              <a:gd name="adj" fmla="val 8571"/>
            </a:avLst>
          </a:prstGeom>
          <a:solidFill>
            <a:srgbClr val="1B1F31"/>
          </a:solidFill>
          <a:ln w="15875">
            <a:solidFill>
              <a:srgbClr val="A78BFA"/>
            </a:solidFill>
            <a:prstDash val="solid"/>
          </a:ln>
        </p:spPr>
        <p:txBody>
          <a:bodyPr/>
          <a:lstStyle/>
          <a:p>
            <a:endParaRPr lang="en-US"/>
          </a:p>
        </p:txBody>
      </p:sp>
      <p:pic>
        <p:nvPicPr>
          <p:cNvPr id="30" name="Image 2" descr="icons/tag.png"/>
          <p:cNvPicPr>
            <a:picLocks noChangeAspect="1"/>
          </p:cNvPicPr>
          <p:nvPr/>
        </p:nvPicPr>
        <p:blipFill>
          <a:blip r:embed="rId6"/>
          <a:stretch>
            <a:fillRect/>
          </a:stretch>
        </p:blipFill>
        <p:spPr>
          <a:xfrm>
            <a:off x="5065776" y="1673352"/>
            <a:ext cx="310896" cy="310896"/>
          </a:xfrm>
          <a:prstGeom prst="rect">
            <a:avLst/>
          </a:prstGeom>
        </p:spPr>
      </p:pic>
      <p:sp>
        <p:nvSpPr>
          <p:cNvPr id="31" name="Text 26"/>
          <p:cNvSpPr/>
          <p:nvPr/>
        </p:nvSpPr>
        <p:spPr>
          <a:xfrm>
            <a:off x="4398264" y="2057400"/>
            <a:ext cx="1645920" cy="274320"/>
          </a:xfrm>
          <a:prstGeom prst="rect">
            <a:avLst/>
          </a:prstGeom>
          <a:noFill/>
          <a:ln/>
        </p:spPr>
        <p:txBody>
          <a:bodyPr wrap="square" lIns="0" tIns="0" rIns="0" bIns="0" rtlCol="0" anchor="ctr"/>
          <a:lstStyle/>
          <a:p>
            <a:pPr marL="0" indent="0" algn="ctr">
              <a:buNone/>
            </a:pPr>
            <a:r>
              <a:rPr lang="en-US" sz="1100" b="1" dirty="0">
                <a:solidFill>
                  <a:srgbClr val="A78BFA"/>
                </a:solidFill>
                <a:latin typeface="Arial" pitchFamily="34" charset="0"/>
                <a:ea typeface="Arial" pitchFamily="34" charset="-122"/>
                <a:cs typeface="Arial" pitchFamily="34" charset="-120"/>
              </a:rPr>
              <a:t>ENRICH</a:t>
            </a:r>
            <a:endParaRPr lang="en-US" sz="1100" dirty="0"/>
          </a:p>
        </p:txBody>
      </p:sp>
      <p:sp>
        <p:nvSpPr>
          <p:cNvPr id="32" name="Shape 27"/>
          <p:cNvSpPr/>
          <p:nvPr/>
        </p:nvSpPr>
        <p:spPr>
          <a:xfrm>
            <a:off x="434340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33" name="Text 28"/>
          <p:cNvSpPr/>
          <p:nvPr/>
        </p:nvSpPr>
        <p:spPr>
          <a:xfrm>
            <a:off x="445312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M6 NER</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M7 Patterns</a:t>
            </a:r>
            <a:endParaRPr lang="en-US" sz="950" dirty="0"/>
          </a:p>
        </p:txBody>
      </p:sp>
      <p:sp>
        <p:nvSpPr>
          <p:cNvPr id="34" name="Shape 29"/>
          <p:cNvSpPr/>
          <p:nvPr/>
        </p:nvSpPr>
        <p:spPr>
          <a:xfrm>
            <a:off x="5221224" y="2514600"/>
            <a:ext cx="0" cy="228600"/>
          </a:xfrm>
          <a:prstGeom prst="line">
            <a:avLst/>
          </a:prstGeom>
          <a:noFill/>
          <a:ln w="15875">
            <a:solidFill>
              <a:srgbClr val="A78BFA"/>
            </a:solidFill>
            <a:prstDash val="dash"/>
          </a:ln>
        </p:spPr>
        <p:txBody>
          <a:bodyPr/>
          <a:lstStyle/>
          <a:p>
            <a:endParaRPr lang="en-US"/>
          </a:p>
        </p:txBody>
      </p:sp>
      <p:sp>
        <p:nvSpPr>
          <p:cNvPr id="35" name="Text 30"/>
          <p:cNvSpPr/>
          <p:nvPr/>
        </p:nvSpPr>
        <p:spPr>
          <a:xfrm>
            <a:off x="6062472" y="1847088"/>
            <a:ext cx="228600" cy="365760"/>
          </a:xfrm>
          <a:prstGeom prst="rect">
            <a:avLst/>
          </a:prstGeom>
          <a:noFill/>
          <a:ln/>
        </p:spPr>
        <p:txBody>
          <a:bodyPr wrap="square" lIns="0" tIns="0" rIns="0" bIns="0" rtlCol="0" anchor="ctr"/>
          <a:lstStyle/>
          <a:p>
            <a:pPr marL="0" indent="0" algn="ctr">
              <a:buNone/>
            </a:pPr>
            <a:r>
              <a:rPr lang="en-US" sz="1400" b="1" dirty="0">
                <a:solidFill>
                  <a:srgbClr val="E2E8F0"/>
                </a:solidFill>
                <a:latin typeface="Arial" pitchFamily="34" charset="0"/>
                <a:ea typeface="Arial" pitchFamily="34" charset="-122"/>
                <a:cs typeface="Arial" pitchFamily="34" charset="-120"/>
              </a:rPr>
              <a:t>→</a:t>
            </a:r>
            <a:endParaRPr lang="en-US" sz="1400" dirty="0"/>
          </a:p>
        </p:txBody>
      </p:sp>
      <p:sp>
        <p:nvSpPr>
          <p:cNvPr id="36" name="Shape 31"/>
          <p:cNvSpPr/>
          <p:nvPr/>
        </p:nvSpPr>
        <p:spPr>
          <a:xfrm>
            <a:off x="6217920" y="1554480"/>
            <a:ext cx="1755648" cy="960120"/>
          </a:xfrm>
          <a:prstGeom prst="roundRect">
            <a:avLst>
              <a:gd name="adj" fmla="val 8571"/>
            </a:avLst>
          </a:prstGeom>
          <a:solidFill>
            <a:srgbClr val="1B1F31"/>
          </a:solidFill>
          <a:ln w="15875">
            <a:solidFill>
              <a:srgbClr val="22D3EE"/>
            </a:solidFill>
            <a:prstDash val="solid"/>
          </a:ln>
        </p:spPr>
        <p:txBody>
          <a:bodyPr/>
          <a:lstStyle/>
          <a:p>
            <a:endParaRPr lang="en-US"/>
          </a:p>
        </p:txBody>
      </p:sp>
      <p:pic>
        <p:nvPicPr>
          <p:cNvPr id="37" name="Image 3" descr="icons/hash.png"/>
          <p:cNvPicPr>
            <a:picLocks noChangeAspect="1"/>
          </p:cNvPicPr>
          <p:nvPr/>
        </p:nvPicPr>
        <p:blipFill>
          <a:blip r:embed="rId7"/>
          <a:stretch>
            <a:fillRect/>
          </a:stretch>
        </p:blipFill>
        <p:spPr>
          <a:xfrm>
            <a:off x="6940296" y="1673352"/>
            <a:ext cx="310896" cy="310896"/>
          </a:xfrm>
          <a:prstGeom prst="rect">
            <a:avLst/>
          </a:prstGeom>
        </p:spPr>
      </p:pic>
      <p:sp>
        <p:nvSpPr>
          <p:cNvPr id="38" name="Text 32"/>
          <p:cNvSpPr/>
          <p:nvPr/>
        </p:nvSpPr>
        <p:spPr>
          <a:xfrm>
            <a:off x="6272784" y="2057400"/>
            <a:ext cx="1645920" cy="274320"/>
          </a:xfrm>
          <a:prstGeom prst="rect">
            <a:avLst/>
          </a:prstGeom>
          <a:noFill/>
          <a:ln/>
        </p:spPr>
        <p:txBody>
          <a:bodyPr wrap="square" lIns="0" tIns="0" rIns="0" bIns="0" rtlCol="0" anchor="ctr"/>
          <a:lstStyle/>
          <a:p>
            <a:pPr marL="0" indent="0" algn="ctr">
              <a:buNone/>
            </a:pPr>
            <a:r>
              <a:rPr lang="en-US" sz="1100" b="1" dirty="0">
                <a:solidFill>
                  <a:srgbClr val="22D3EE"/>
                </a:solidFill>
                <a:latin typeface="Arial" pitchFamily="34" charset="0"/>
                <a:ea typeface="Arial" pitchFamily="34" charset="-122"/>
                <a:cs typeface="Arial" pitchFamily="34" charset="-120"/>
              </a:rPr>
              <a:t>FEATURES</a:t>
            </a:r>
            <a:endParaRPr lang="en-US" sz="1100" dirty="0"/>
          </a:p>
        </p:txBody>
      </p:sp>
      <p:sp>
        <p:nvSpPr>
          <p:cNvPr id="39" name="Shape 33"/>
          <p:cNvSpPr/>
          <p:nvPr/>
        </p:nvSpPr>
        <p:spPr>
          <a:xfrm>
            <a:off x="621792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40" name="Text 34"/>
          <p:cNvSpPr/>
          <p:nvPr/>
        </p:nvSpPr>
        <p:spPr>
          <a:xfrm>
            <a:off x="632764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M8 N-grams</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M9 tf-idf</a:t>
            </a:r>
            <a:endParaRPr lang="en-US" sz="950" dirty="0"/>
          </a:p>
        </p:txBody>
      </p:sp>
      <p:sp>
        <p:nvSpPr>
          <p:cNvPr id="41" name="Shape 35"/>
          <p:cNvSpPr/>
          <p:nvPr/>
        </p:nvSpPr>
        <p:spPr>
          <a:xfrm>
            <a:off x="7095744" y="2514600"/>
            <a:ext cx="0" cy="228600"/>
          </a:xfrm>
          <a:prstGeom prst="line">
            <a:avLst/>
          </a:prstGeom>
          <a:noFill/>
          <a:ln w="15875">
            <a:solidFill>
              <a:srgbClr val="22D3EE"/>
            </a:solidFill>
            <a:prstDash val="dash"/>
          </a:ln>
        </p:spPr>
        <p:txBody>
          <a:bodyPr/>
          <a:lstStyle/>
          <a:p>
            <a:endParaRPr lang="en-US"/>
          </a:p>
        </p:txBody>
      </p:sp>
      <p:sp>
        <p:nvSpPr>
          <p:cNvPr id="42" name="Text 36"/>
          <p:cNvSpPr/>
          <p:nvPr/>
        </p:nvSpPr>
        <p:spPr>
          <a:xfrm>
            <a:off x="7936992" y="1847088"/>
            <a:ext cx="228600" cy="365760"/>
          </a:xfrm>
          <a:prstGeom prst="rect">
            <a:avLst/>
          </a:prstGeom>
          <a:noFill/>
          <a:ln/>
        </p:spPr>
        <p:txBody>
          <a:bodyPr wrap="square" lIns="0" tIns="0" rIns="0" bIns="0" rtlCol="0" anchor="ctr"/>
          <a:lstStyle/>
          <a:p>
            <a:pPr marL="0" indent="0" algn="ctr">
              <a:buNone/>
            </a:pPr>
            <a:r>
              <a:rPr lang="en-US" sz="1400" b="1" dirty="0">
                <a:solidFill>
                  <a:srgbClr val="E2E8F0"/>
                </a:solidFill>
                <a:latin typeface="Arial" pitchFamily="34" charset="0"/>
                <a:ea typeface="Arial" pitchFamily="34" charset="-122"/>
                <a:cs typeface="Arial" pitchFamily="34" charset="-120"/>
              </a:rPr>
              <a:t>→</a:t>
            </a:r>
            <a:endParaRPr lang="en-US" sz="1400" dirty="0"/>
          </a:p>
        </p:txBody>
      </p:sp>
      <p:sp>
        <p:nvSpPr>
          <p:cNvPr id="43" name="Shape 37"/>
          <p:cNvSpPr/>
          <p:nvPr/>
        </p:nvSpPr>
        <p:spPr>
          <a:xfrm>
            <a:off x="8092440" y="1554480"/>
            <a:ext cx="1755648" cy="960120"/>
          </a:xfrm>
          <a:prstGeom prst="roundRect">
            <a:avLst>
              <a:gd name="adj" fmla="val 8571"/>
            </a:avLst>
          </a:prstGeom>
          <a:solidFill>
            <a:srgbClr val="1B1F31"/>
          </a:solidFill>
          <a:ln w="15875">
            <a:solidFill>
              <a:srgbClr val="34D399"/>
            </a:solidFill>
            <a:prstDash val="solid"/>
          </a:ln>
        </p:spPr>
        <p:txBody>
          <a:bodyPr/>
          <a:lstStyle/>
          <a:p>
            <a:endParaRPr lang="en-US"/>
          </a:p>
        </p:txBody>
      </p:sp>
      <p:pic>
        <p:nvPicPr>
          <p:cNvPr id="44" name="Image 4" descr="icons/cpu.png"/>
          <p:cNvPicPr>
            <a:picLocks noChangeAspect="1"/>
          </p:cNvPicPr>
          <p:nvPr/>
        </p:nvPicPr>
        <p:blipFill>
          <a:blip r:embed="rId8"/>
          <a:stretch>
            <a:fillRect/>
          </a:stretch>
        </p:blipFill>
        <p:spPr>
          <a:xfrm>
            <a:off x="8814816" y="1673352"/>
            <a:ext cx="310896" cy="310896"/>
          </a:xfrm>
          <a:prstGeom prst="rect">
            <a:avLst/>
          </a:prstGeom>
        </p:spPr>
      </p:pic>
      <p:sp>
        <p:nvSpPr>
          <p:cNvPr id="45" name="Text 38"/>
          <p:cNvSpPr/>
          <p:nvPr/>
        </p:nvSpPr>
        <p:spPr>
          <a:xfrm>
            <a:off x="8147304" y="2057400"/>
            <a:ext cx="1645920" cy="274320"/>
          </a:xfrm>
          <a:prstGeom prst="rect">
            <a:avLst/>
          </a:prstGeom>
          <a:noFill/>
          <a:ln/>
        </p:spPr>
        <p:txBody>
          <a:bodyPr wrap="square" lIns="0" tIns="0" rIns="0" bIns="0" rtlCol="0" anchor="ctr"/>
          <a:lstStyle/>
          <a:p>
            <a:pPr marL="0" indent="0" algn="ctr">
              <a:buNone/>
            </a:pPr>
            <a:r>
              <a:rPr lang="en-US" sz="1100" b="1" dirty="0">
                <a:solidFill>
                  <a:srgbClr val="34D399"/>
                </a:solidFill>
                <a:latin typeface="Arial" pitchFamily="34" charset="0"/>
                <a:ea typeface="Arial" pitchFamily="34" charset="-122"/>
                <a:cs typeface="Arial" pitchFamily="34" charset="-120"/>
              </a:rPr>
              <a:t>MODELS</a:t>
            </a:r>
            <a:endParaRPr lang="en-US" sz="1100" dirty="0"/>
          </a:p>
        </p:txBody>
      </p:sp>
      <p:sp>
        <p:nvSpPr>
          <p:cNvPr id="46" name="Shape 39"/>
          <p:cNvSpPr/>
          <p:nvPr/>
        </p:nvSpPr>
        <p:spPr>
          <a:xfrm>
            <a:off x="809244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47" name="Text 40"/>
          <p:cNvSpPr/>
          <p:nvPr/>
        </p:nvSpPr>
        <p:spPr>
          <a:xfrm>
            <a:off x="820216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M12 LogReg</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M13 Word2Vec</a:t>
            </a:r>
            <a:endParaRPr lang="en-US" sz="950" dirty="0"/>
          </a:p>
        </p:txBody>
      </p:sp>
      <p:sp>
        <p:nvSpPr>
          <p:cNvPr id="48" name="Shape 41"/>
          <p:cNvSpPr/>
          <p:nvPr/>
        </p:nvSpPr>
        <p:spPr>
          <a:xfrm>
            <a:off x="8970264" y="2514600"/>
            <a:ext cx="0" cy="228600"/>
          </a:xfrm>
          <a:prstGeom prst="line">
            <a:avLst/>
          </a:prstGeom>
          <a:noFill/>
          <a:ln w="15875">
            <a:solidFill>
              <a:srgbClr val="34D399"/>
            </a:solidFill>
            <a:prstDash val="dash"/>
          </a:ln>
        </p:spPr>
        <p:txBody>
          <a:bodyPr/>
          <a:lstStyle/>
          <a:p>
            <a:endParaRPr lang="en-US"/>
          </a:p>
        </p:txBody>
      </p:sp>
      <p:sp>
        <p:nvSpPr>
          <p:cNvPr id="49" name="Text 42"/>
          <p:cNvSpPr/>
          <p:nvPr/>
        </p:nvSpPr>
        <p:spPr>
          <a:xfrm>
            <a:off x="9811512" y="1847088"/>
            <a:ext cx="228600" cy="365760"/>
          </a:xfrm>
          <a:prstGeom prst="rect">
            <a:avLst/>
          </a:prstGeom>
          <a:noFill/>
          <a:ln/>
        </p:spPr>
        <p:txBody>
          <a:bodyPr wrap="square" lIns="0" tIns="0" rIns="0" bIns="0" rtlCol="0" anchor="ctr"/>
          <a:lstStyle/>
          <a:p>
            <a:pPr marL="0" indent="0" algn="ctr">
              <a:buNone/>
            </a:pPr>
            <a:r>
              <a:rPr lang="en-US" sz="1400" b="1" dirty="0">
                <a:solidFill>
                  <a:srgbClr val="E2E8F0"/>
                </a:solidFill>
                <a:latin typeface="Arial" pitchFamily="34" charset="0"/>
                <a:ea typeface="Arial" pitchFamily="34" charset="-122"/>
                <a:cs typeface="Arial" pitchFamily="34" charset="-120"/>
              </a:rPr>
              <a:t>→</a:t>
            </a:r>
            <a:endParaRPr lang="en-US" sz="1400" dirty="0"/>
          </a:p>
        </p:txBody>
      </p:sp>
      <p:sp>
        <p:nvSpPr>
          <p:cNvPr id="50" name="Shape 43"/>
          <p:cNvSpPr/>
          <p:nvPr/>
        </p:nvSpPr>
        <p:spPr>
          <a:xfrm>
            <a:off x="9966960" y="1554480"/>
            <a:ext cx="1755648" cy="960120"/>
          </a:xfrm>
          <a:prstGeom prst="roundRect">
            <a:avLst>
              <a:gd name="adj" fmla="val 8571"/>
            </a:avLst>
          </a:prstGeom>
          <a:solidFill>
            <a:srgbClr val="1B1F31"/>
          </a:solidFill>
          <a:ln w="15875">
            <a:solidFill>
              <a:srgbClr val="FACC15"/>
            </a:solidFill>
            <a:prstDash val="solid"/>
          </a:ln>
        </p:spPr>
        <p:txBody>
          <a:bodyPr/>
          <a:lstStyle/>
          <a:p>
            <a:endParaRPr lang="en-US"/>
          </a:p>
        </p:txBody>
      </p:sp>
      <p:pic>
        <p:nvPicPr>
          <p:cNvPr id="51" name="Image 5" descr="icons/search.png"/>
          <p:cNvPicPr>
            <a:picLocks noChangeAspect="1"/>
          </p:cNvPicPr>
          <p:nvPr/>
        </p:nvPicPr>
        <p:blipFill>
          <a:blip r:embed="rId9"/>
          <a:stretch>
            <a:fillRect/>
          </a:stretch>
        </p:blipFill>
        <p:spPr>
          <a:xfrm>
            <a:off x="10689336" y="1673352"/>
            <a:ext cx="310896" cy="310896"/>
          </a:xfrm>
          <a:prstGeom prst="rect">
            <a:avLst/>
          </a:prstGeom>
        </p:spPr>
      </p:pic>
      <p:sp>
        <p:nvSpPr>
          <p:cNvPr id="52" name="Text 44"/>
          <p:cNvSpPr/>
          <p:nvPr/>
        </p:nvSpPr>
        <p:spPr>
          <a:xfrm>
            <a:off x="10021824" y="2057400"/>
            <a:ext cx="1645920" cy="274320"/>
          </a:xfrm>
          <a:prstGeom prst="rect">
            <a:avLst/>
          </a:prstGeom>
          <a:noFill/>
          <a:ln/>
        </p:spPr>
        <p:txBody>
          <a:bodyPr wrap="square" lIns="0" tIns="0" rIns="0" bIns="0" rtlCol="0" anchor="ctr"/>
          <a:lstStyle/>
          <a:p>
            <a:pPr marL="0" indent="0" algn="ctr">
              <a:buNone/>
            </a:pPr>
            <a:r>
              <a:rPr lang="en-US" sz="1100" b="1" dirty="0">
                <a:solidFill>
                  <a:srgbClr val="FACC15"/>
                </a:solidFill>
                <a:latin typeface="Arial" pitchFamily="34" charset="0"/>
                <a:ea typeface="Arial" pitchFamily="34" charset="-122"/>
                <a:cs typeface="Arial" pitchFamily="34" charset="-120"/>
              </a:rPr>
              <a:t>APPLY</a:t>
            </a:r>
            <a:endParaRPr lang="en-US" sz="1100" dirty="0"/>
          </a:p>
        </p:txBody>
      </p:sp>
      <p:sp>
        <p:nvSpPr>
          <p:cNvPr id="53" name="Shape 45"/>
          <p:cNvSpPr/>
          <p:nvPr/>
        </p:nvSpPr>
        <p:spPr>
          <a:xfrm>
            <a:off x="9966960" y="2743200"/>
            <a:ext cx="1755648" cy="2148840"/>
          </a:xfrm>
          <a:prstGeom prst="roundRect">
            <a:avLst>
              <a:gd name="adj" fmla="val 4688"/>
            </a:avLst>
          </a:prstGeom>
          <a:solidFill>
            <a:srgbClr val="151827"/>
          </a:solidFill>
          <a:ln w="9525">
            <a:solidFill>
              <a:srgbClr val="2A3047"/>
            </a:solidFill>
            <a:prstDash val="solid"/>
          </a:ln>
        </p:spPr>
        <p:txBody>
          <a:bodyPr/>
          <a:lstStyle/>
          <a:p>
            <a:endParaRPr lang="en-US"/>
          </a:p>
        </p:txBody>
      </p:sp>
      <p:sp>
        <p:nvSpPr>
          <p:cNvPr id="54" name="Text 46"/>
          <p:cNvSpPr/>
          <p:nvPr/>
        </p:nvSpPr>
        <p:spPr>
          <a:xfrm>
            <a:off x="10076688" y="2852928"/>
            <a:ext cx="1572768" cy="1929384"/>
          </a:xfrm>
          <a:prstGeom prst="rect">
            <a:avLst/>
          </a:prstGeom>
          <a:noFill/>
          <a:ln/>
        </p:spPr>
        <p:txBody>
          <a:bodyPr wrap="square" lIns="0" tIns="0" rIns="0" bIns="0" rtlCol="0" anchor="ctr"/>
          <a:lstStyle/>
          <a:p>
            <a:pPr marL="0" indent="0">
              <a:lnSpc>
                <a:spcPts val="1600"/>
              </a:lnSpc>
              <a:buNone/>
            </a:pPr>
            <a:r>
              <a:rPr lang="en-US" sz="950" dirty="0">
                <a:solidFill>
                  <a:srgbClr val="E2E8F0"/>
                </a:solidFill>
                <a:latin typeface="Arial" pitchFamily="34" charset="0"/>
                <a:ea typeface="Arial" pitchFamily="34" charset="-122"/>
                <a:cs typeface="Arial" pitchFamily="34" charset="-120"/>
              </a:rPr>
              <a:t>M14 Search</a:t>
            </a:r>
            <a:endParaRPr lang="en-US" sz="950" dirty="0"/>
          </a:p>
          <a:p>
            <a:pPr marL="0" indent="0">
              <a:lnSpc>
                <a:spcPts val="1600"/>
              </a:lnSpc>
              <a:buNone/>
            </a:pPr>
            <a:r>
              <a:rPr lang="en-US" sz="950" dirty="0">
                <a:solidFill>
                  <a:srgbClr val="E2E8F0"/>
                </a:solidFill>
                <a:latin typeface="Arial" pitchFamily="34" charset="0"/>
                <a:ea typeface="Arial" pitchFamily="34" charset="-122"/>
                <a:cs typeface="Arial" pitchFamily="34" charset="-120"/>
              </a:rPr>
              <a:t>M15 RAG</a:t>
            </a:r>
            <a:endParaRPr lang="en-US" sz="950" dirty="0"/>
          </a:p>
        </p:txBody>
      </p:sp>
      <p:sp>
        <p:nvSpPr>
          <p:cNvPr id="55" name="Shape 47"/>
          <p:cNvSpPr/>
          <p:nvPr/>
        </p:nvSpPr>
        <p:spPr>
          <a:xfrm>
            <a:off x="10844784" y="2514600"/>
            <a:ext cx="0" cy="228600"/>
          </a:xfrm>
          <a:prstGeom prst="line">
            <a:avLst/>
          </a:prstGeom>
          <a:noFill/>
          <a:ln w="15875">
            <a:solidFill>
              <a:srgbClr val="FACC15"/>
            </a:solidFill>
            <a:prstDash val="dash"/>
          </a:ln>
        </p:spPr>
        <p:txBody>
          <a:bodyPr/>
          <a:lstStyle/>
          <a:p>
            <a:endParaRPr lang="en-US"/>
          </a:p>
        </p:txBody>
      </p:sp>
      <p:sp>
        <p:nvSpPr>
          <p:cNvPr id="56" name="Shape 48"/>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57" name="Text 49"/>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Every method feeds the next: Levenshtein fixes typos before tf-idf counts them, Word2Vec expands queries for search, and search becomes the “R” in RAG.</a:t>
            </a:r>
            <a:endParaRPr lang="en-US" sz="1250" dirty="0"/>
          </a:p>
        </p:txBody>
      </p:sp>
      <p:sp>
        <p:nvSpPr>
          <p:cNvPr id="58" name="Text 50"/>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59" name="Text 51"/>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04</a:t>
            </a:r>
            <a:endParaRPr lang="en-US" sz="900" dirty="0"/>
          </a:p>
        </p:txBody>
      </p:sp>
      <p:pic>
        <p:nvPicPr>
          <p:cNvPr id="60" name="Image 6" descr="logo_dark.png"/>
          <p:cNvPicPr>
            <a:picLocks noChangeAspect="1"/>
          </p:cNvPicPr>
          <p:nvPr/>
        </p:nvPicPr>
        <p:blipFill>
          <a:blip r:embed="rId10"/>
          <a:stretch>
            <a:fillRect/>
          </a:stretch>
        </p:blipFill>
        <p:spPr>
          <a:xfrm>
            <a:off x="10222992" y="6236208"/>
            <a:ext cx="868680"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1 · SPACY PIPELINE</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Tokenize → Drop Stop Words → Lemmatize</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 · M2 · M3</a:t>
            </a:r>
            <a:endParaRPr lang="en-US" sz="1050" dirty="0"/>
          </a:p>
        </p:txBody>
      </p:sp>
      <p:sp>
        <p:nvSpPr>
          <p:cNvPr id="15" name="Shape 13"/>
          <p:cNvSpPr/>
          <p:nvPr/>
        </p:nvSpPr>
        <p:spPr>
          <a:xfrm>
            <a:off x="594360" y="1600200"/>
            <a:ext cx="5440680" cy="822960"/>
          </a:xfrm>
          <a:prstGeom prst="roundRect">
            <a:avLst>
              <a:gd name="adj" fmla="val 10000"/>
            </a:avLst>
          </a:prstGeom>
          <a:solidFill>
            <a:srgbClr val="151827"/>
          </a:solidFill>
          <a:ln w="9525">
            <a:solidFill>
              <a:srgbClr val="2A3047"/>
            </a:solidFill>
            <a:prstDash val="solid"/>
          </a:ln>
        </p:spPr>
        <p:txBody>
          <a:bodyPr/>
          <a:lstStyle/>
          <a:p>
            <a:endParaRPr lang="en-US"/>
          </a:p>
        </p:txBody>
      </p:sp>
      <p:pic>
        <p:nvPicPr>
          <p:cNvPr id="16" name="Image 0" descr="icons/scissors.png"/>
          <p:cNvPicPr>
            <a:picLocks noChangeAspect="1"/>
          </p:cNvPicPr>
          <p:nvPr/>
        </p:nvPicPr>
        <p:blipFill>
          <a:blip r:embed="rId4"/>
          <a:stretch>
            <a:fillRect/>
          </a:stretch>
        </p:blipFill>
        <p:spPr>
          <a:xfrm>
            <a:off x="868680" y="1783080"/>
            <a:ext cx="457200" cy="457200"/>
          </a:xfrm>
          <a:prstGeom prst="rect">
            <a:avLst/>
          </a:prstGeom>
        </p:spPr>
      </p:pic>
      <p:sp>
        <p:nvSpPr>
          <p:cNvPr id="17" name="Text 14"/>
          <p:cNvSpPr/>
          <p:nvPr/>
        </p:nvSpPr>
        <p:spPr>
          <a:xfrm>
            <a:off x="1554480" y="1719072"/>
            <a:ext cx="4297680" cy="274320"/>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M1 · Tokenization</a:t>
            </a:r>
            <a:endParaRPr lang="en-US" sz="1350" dirty="0"/>
          </a:p>
        </p:txBody>
      </p:sp>
      <p:sp>
        <p:nvSpPr>
          <p:cNvPr id="18" name="Text 15"/>
          <p:cNvSpPr/>
          <p:nvPr/>
        </p:nvSpPr>
        <p:spPr>
          <a:xfrm>
            <a:off x="1554480" y="2011680"/>
            <a:ext cx="438912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text → tokens (“PS5”, “10/10”, emoji handled)</a:t>
            </a:r>
            <a:endParaRPr lang="en-US" sz="1100" dirty="0"/>
          </a:p>
        </p:txBody>
      </p:sp>
      <p:sp>
        <p:nvSpPr>
          <p:cNvPr id="19" name="Shape 16"/>
          <p:cNvSpPr/>
          <p:nvPr/>
        </p:nvSpPr>
        <p:spPr>
          <a:xfrm>
            <a:off x="594360" y="2560320"/>
            <a:ext cx="5440680" cy="822960"/>
          </a:xfrm>
          <a:prstGeom prst="roundRect">
            <a:avLst>
              <a:gd name="adj" fmla="val 10000"/>
            </a:avLst>
          </a:prstGeom>
          <a:solidFill>
            <a:srgbClr val="151827"/>
          </a:solidFill>
          <a:ln w="9525">
            <a:solidFill>
              <a:srgbClr val="2A3047"/>
            </a:solidFill>
            <a:prstDash val="solid"/>
          </a:ln>
        </p:spPr>
        <p:txBody>
          <a:bodyPr/>
          <a:lstStyle/>
          <a:p>
            <a:endParaRPr lang="en-US"/>
          </a:p>
        </p:txBody>
      </p:sp>
      <p:pic>
        <p:nvPicPr>
          <p:cNvPr id="20" name="Image 1" descr="icons/filter.png"/>
          <p:cNvPicPr>
            <a:picLocks noChangeAspect="1"/>
          </p:cNvPicPr>
          <p:nvPr/>
        </p:nvPicPr>
        <p:blipFill>
          <a:blip r:embed="rId5"/>
          <a:stretch>
            <a:fillRect/>
          </a:stretch>
        </p:blipFill>
        <p:spPr>
          <a:xfrm>
            <a:off x="868680" y="2743200"/>
            <a:ext cx="457200" cy="457200"/>
          </a:xfrm>
          <a:prstGeom prst="rect">
            <a:avLst/>
          </a:prstGeom>
        </p:spPr>
      </p:pic>
      <p:sp>
        <p:nvSpPr>
          <p:cNvPr id="21" name="Text 17"/>
          <p:cNvSpPr/>
          <p:nvPr/>
        </p:nvSpPr>
        <p:spPr>
          <a:xfrm>
            <a:off x="1554480" y="2679192"/>
            <a:ext cx="4297680" cy="274320"/>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M2 · Stop-word removal</a:t>
            </a:r>
            <a:endParaRPr lang="en-US" sz="1350" dirty="0"/>
          </a:p>
        </p:txBody>
      </p:sp>
      <p:sp>
        <p:nvSpPr>
          <p:cNvPr id="22" name="Text 18"/>
          <p:cNvSpPr/>
          <p:nvPr/>
        </p:nvSpPr>
        <p:spPr>
          <a:xfrm>
            <a:off x="1554480" y="2971800"/>
            <a:ext cx="438912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drop noise  but keep “not” (negation!)</a:t>
            </a:r>
            <a:endParaRPr lang="en-US" sz="1100" dirty="0"/>
          </a:p>
        </p:txBody>
      </p:sp>
      <p:sp>
        <p:nvSpPr>
          <p:cNvPr id="23" name="Shape 19"/>
          <p:cNvSpPr/>
          <p:nvPr/>
        </p:nvSpPr>
        <p:spPr>
          <a:xfrm>
            <a:off x="594360" y="3520440"/>
            <a:ext cx="5440680" cy="822960"/>
          </a:xfrm>
          <a:prstGeom prst="roundRect">
            <a:avLst>
              <a:gd name="adj" fmla="val 10000"/>
            </a:avLst>
          </a:prstGeom>
          <a:solidFill>
            <a:srgbClr val="151827"/>
          </a:solidFill>
          <a:ln w="9525">
            <a:solidFill>
              <a:srgbClr val="2A3047"/>
            </a:solidFill>
            <a:prstDash val="solid"/>
          </a:ln>
        </p:spPr>
        <p:txBody>
          <a:bodyPr/>
          <a:lstStyle/>
          <a:p>
            <a:endParaRPr lang="en-US"/>
          </a:p>
        </p:txBody>
      </p:sp>
      <p:pic>
        <p:nvPicPr>
          <p:cNvPr id="24" name="Image 2" descr="icons/book.png"/>
          <p:cNvPicPr>
            <a:picLocks noChangeAspect="1"/>
          </p:cNvPicPr>
          <p:nvPr/>
        </p:nvPicPr>
        <p:blipFill>
          <a:blip r:embed="rId6"/>
          <a:stretch>
            <a:fillRect/>
          </a:stretch>
        </p:blipFill>
        <p:spPr>
          <a:xfrm>
            <a:off x="868680" y="3703320"/>
            <a:ext cx="457200" cy="457200"/>
          </a:xfrm>
          <a:prstGeom prst="rect">
            <a:avLst/>
          </a:prstGeom>
        </p:spPr>
      </p:pic>
      <p:sp>
        <p:nvSpPr>
          <p:cNvPr id="25" name="Text 20"/>
          <p:cNvSpPr/>
          <p:nvPr/>
        </p:nvSpPr>
        <p:spPr>
          <a:xfrm>
            <a:off x="1554480" y="3639312"/>
            <a:ext cx="4297680" cy="274320"/>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M3 · Lemmatization</a:t>
            </a:r>
            <a:endParaRPr lang="en-US" sz="1350" dirty="0"/>
          </a:p>
        </p:txBody>
      </p:sp>
      <p:sp>
        <p:nvSpPr>
          <p:cNvPr id="26" name="Text 21"/>
          <p:cNvSpPr/>
          <p:nvPr/>
        </p:nvSpPr>
        <p:spPr>
          <a:xfrm>
            <a:off x="1554480" y="3931920"/>
            <a:ext cx="438912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crashes → crash · are → be (real words only)</a:t>
            </a:r>
            <a:endParaRPr lang="en-US" sz="1100" dirty="0"/>
          </a:p>
        </p:txBody>
      </p:sp>
      <p:sp>
        <p:nvSpPr>
          <p:cNvPr id="27" name="Shape 22"/>
          <p:cNvSpPr/>
          <p:nvPr/>
        </p:nvSpPr>
        <p:spPr>
          <a:xfrm>
            <a:off x="594360" y="4617720"/>
            <a:ext cx="5440680" cy="914400"/>
          </a:xfrm>
          <a:prstGeom prst="roundRect">
            <a:avLst>
              <a:gd name="adj" fmla="val 9000"/>
            </a:avLst>
          </a:prstGeom>
          <a:solidFill>
            <a:srgbClr val="10131F"/>
          </a:solidFill>
          <a:ln w="9525">
            <a:solidFill>
              <a:srgbClr val="2A3047"/>
            </a:solidFill>
            <a:prstDash val="solid"/>
          </a:ln>
        </p:spPr>
        <p:txBody>
          <a:bodyPr/>
          <a:lstStyle/>
          <a:p>
            <a:endParaRPr lang="en-US"/>
          </a:p>
        </p:txBody>
      </p:sp>
      <p:pic>
        <p:nvPicPr>
          <p:cNvPr id="28" name="Image 3" descr="icons/zap.png"/>
          <p:cNvPicPr>
            <a:picLocks noChangeAspect="1"/>
          </p:cNvPicPr>
          <p:nvPr/>
        </p:nvPicPr>
        <p:blipFill>
          <a:blip r:embed="rId7"/>
          <a:stretch>
            <a:fillRect/>
          </a:stretch>
        </p:blipFill>
        <p:spPr>
          <a:xfrm>
            <a:off x="868680" y="4846320"/>
            <a:ext cx="384048" cy="384048"/>
          </a:xfrm>
          <a:prstGeom prst="rect">
            <a:avLst/>
          </a:prstGeom>
        </p:spPr>
      </p:pic>
      <p:sp>
        <p:nvSpPr>
          <p:cNvPr id="29" name="Text 23"/>
          <p:cNvSpPr/>
          <p:nvPr/>
        </p:nvSpPr>
        <p:spPr>
          <a:xfrm>
            <a:off x="1463040" y="4617720"/>
            <a:ext cx="4480560" cy="91440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One nlp.pipe() pass  </a:t>
            </a:r>
            <a:r>
              <a:rPr lang="en-US" sz="1150" dirty="0">
                <a:solidFill>
                  <a:srgbClr val="E2E8F0"/>
                </a:solidFill>
                <a:latin typeface="Arial" pitchFamily="34" charset="0"/>
                <a:ea typeface="Arial" pitchFamily="34" charset="-122"/>
                <a:cs typeface="Arial" pitchFamily="34" charset="-120"/>
              </a:rPr>
              <a:t>= tokens + lemmas + POS + entities · 92k reviews in minutes</a:t>
            </a:r>
            <a:endParaRPr lang="en-US" sz="1150" dirty="0"/>
          </a:p>
        </p:txBody>
      </p:sp>
      <p:sp>
        <p:nvSpPr>
          <p:cNvPr id="30" name="Shape 24"/>
          <p:cNvSpPr/>
          <p:nvPr/>
        </p:nvSpPr>
        <p:spPr>
          <a:xfrm>
            <a:off x="6309360" y="1600200"/>
            <a:ext cx="5285232" cy="3931920"/>
          </a:xfrm>
          <a:prstGeom prst="roundRect">
            <a:avLst>
              <a:gd name="adj" fmla="val 2093"/>
            </a:avLst>
          </a:prstGeom>
          <a:solidFill>
            <a:srgbClr val="1B1F31"/>
          </a:solidFill>
          <a:ln w="9525">
            <a:solidFill>
              <a:srgbClr val="2A3047"/>
            </a:solidFill>
            <a:prstDash val="solid"/>
          </a:ln>
        </p:spPr>
        <p:txBody>
          <a:bodyPr/>
          <a:lstStyle/>
          <a:p>
            <a:endParaRPr lang="en-US"/>
          </a:p>
        </p:txBody>
      </p:sp>
      <p:sp>
        <p:nvSpPr>
          <p:cNvPr id="31" name="Text 25"/>
          <p:cNvSpPr/>
          <p:nvPr/>
        </p:nvSpPr>
        <p:spPr>
          <a:xfrm>
            <a:off x="6583680" y="1755648"/>
            <a:ext cx="4663440" cy="256032"/>
          </a:xfrm>
          <a:prstGeom prst="rect">
            <a:avLst/>
          </a:prstGeom>
          <a:noFill/>
          <a:ln/>
        </p:spPr>
        <p:txBody>
          <a:bodyPr wrap="square" lIns="0" tIns="0" rIns="0" bIns="0" rtlCol="0" anchor="ctr"/>
          <a:lstStyle/>
          <a:p>
            <a:pPr marL="0" indent="0">
              <a:buNone/>
            </a:pPr>
            <a:r>
              <a:rPr lang="en-US" sz="1000" b="1" kern="0" spc="200" dirty="0">
                <a:solidFill>
                  <a:srgbClr val="FACC15"/>
                </a:solidFill>
                <a:latin typeface="Arial" pitchFamily="34" charset="0"/>
                <a:ea typeface="Arial" pitchFamily="34" charset="-122"/>
                <a:cs typeface="Arial" pitchFamily="34" charset="-120"/>
              </a:rPr>
              <a:t>ONE REVIEW THROUGH THE PIPELINE</a:t>
            </a:r>
            <a:endParaRPr lang="en-US" sz="1000" dirty="0"/>
          </a:p>
        </p:txBody>
      </p:sp>
      <p:sp>
        <p:nvSpPr>
          <p:cNvPr id="32" name="Text 26"/>
          <p:cNvSpPr/>
          <p:nvPr/>
        </p:nvSpPr>
        <p:spPr>
          <a:xfrm>
            <a:off x="6583680" y="2103120"/>
            <a:ext cx="4754880" cy="594360"/>
          </a:xfrm>
          <a:prstGeom prst="rect">
            <a:avLst/>
          </a:prstGeom>
          <a:noFill/>
          <a:ln/>
        </p:spPr>
        <p:txBody>
          <a:bodyPr wrap="square" lIns="0" tIns="0" rIns="0" bIns="0" rtlCol="0" anchor="ctr"/>
          <a:lstStyle/>
          <a:p>
            <a:pPr marL="0" indent="0">
              <a:buNone/>
            </a:pPr>
            <a:r>
              <a:rPr lang="en-US" sz="1250" i="1" dirty="0">
                <a:solidFill>
                  <a:srgbClr val="E2E8F0"/>
                </a:solidFill>
                <a:latin typeface="Arial" pitchFamily="34" charset="0"/>
                <a:ea typeface="Arial" pitchFamily="34" charset="-122"/>
                <a:cs typeface="Arial" pitchFamily="34" charset="-120"/>
              </a:rPr>
              <a:t>“The graphics are amazingly beautiful but the game constantly crashes on my PS5.”</a:t>
            </a:r>
            <a:endParaRPr lang="en-US" sz="1250" dirty="0"/>
          </a:p>
        </p:txBody>
      </p:sp>
      <p:sp>
        <p:nvSpPr>
          <p:cNvPr id="33" name="Text 27"/>
          <p:cNvSpPr/>
          <p:nvPr/>
        </p:nvSpPr>
        <p:spPr>
          <a:xfrm>
            <a:off x="8778240" y="2788920"/>
            <a:ext cx="365760" cy="274320"/>
          </a:xfrm>
          <a:prstGeom prst="rect">
            <a:avLst/>
          </a:prstGeom>
          <a:noFill/>
          <a:ln/>
        </p:spPr>
        <p:txBody>
          <a:bodyPr wrap="square" lIns="0" tIns="0" rIns="0" bIns="0" rtlCol="0" anchor="ctr"/>
          <a:lstStyle/>
          <a:p>
            <a:pPr marL="0" indent="0" algn="ctr">
              <a:buNone/>
            </a:pPr>
            <a:r>
              <a:rPr lang="en-US" sz="1400" dirty="0">
                <a:solidFill>
                  <a:srgbClr val="FACC15"/>
                </a:solidFill>
                <a:latin typeface="Arial" pitchFamily="34" charset="0"/>
                <a:ea typeface="Arial" pitchFamily="34" charset="-122"/>
                <a:cs typeface="Arial" pitchFamily="34" charset="-120"/>
              </a:rPr>
              <a:t>▼</a:t>
            </a:r>
            <a:endParaRPr lang="en-US" sz="1400" dirty="0"/>
          </a:p>
        </p:txBody>
      </p:sp>
      <p:sp>
        <p:nvSpPr>
          <p:cNvPr id="34" name="Shape 28"/>
          <p:cNvSpPr/>
          <p:nvPr/>
        </p:nvSpPr>
        <p:spPr>
          <a:xfrm>
            <a:off x="6583680" y="3154680"/>
            <a:ext cx="4754880" cy="548640"/>
          </a:xfrm>
          <a:prstGeom prst="roundRect">
            <a:avLst>
              <a:gd name="adj" fmla="val 10000"/>
            </a:avLst>
          </a:prstGeom>
          <a:solidFill>
            <a:srgbClr val="0E2A2E"/>
          </a:solidFill>
          <a:ln w="12700">
            <a:solidFill>
              <a:srgbClr val="22D3EE"/>
            </a:solidFill>
            <a:prstDash val="solid"/>
          </a:ln>
        </p:spPr>
        <p:txBody>
          <a:bodyPr/>
          <a:lstStyle/>
          <a:p>
            <a:endParaRPr lang="en-US"/>
          </a:p>
        </p:txBody>
      </p:sp>
      <p:sp>
        <p:nvSpPr>
          <p:cNvPr id="35" name="Text 29"/>
          <p:cNvSpPr/>
          <p:nvPr/>
        </p:nvSpPr>
        <p:spPr>
          <a:xfrm>
            <a:off x="6720840" y="3154680"/>
            <a:ext cx="4526280" cy="548640"/>
          </a:xfrm>
          <a:prstGeom prst="rect">
            <a:avLst/>
          </a:prstGeom>
          <a:noFill/>
          <a:ln/>
        </p:spPr>
        <p:txBody>
          <a:bodyPr wrap="square" lIns="0" tIns="0" rIns="0" bIns="0" rtlCol="0" anchor="ctr"/>
          <a:lstStyle/>
          <a:p>
            <a:pPr marL="0" indent="0">
              <a:buNone/>
            </a:pPr>
            <a:r>
              <a:rPr lang="en-US" sz="1150" b="1" dirty="0">
                <a:solidFill>
                  <a:srgbClr val="22D3EE"/>
                </a:solidFill>
                <a:latin typeface="Courier New" pitchFamily="34" charset="0"/>
                <a:ea typeface="Courier New" pitchFamily="34" charset="-122"/>
                <a:cs typeface="Courier New" pitchFamily="34" charset="-120"/>
              </a:rPr>
              <a:t>graphic amazingly beautiful game constantly crash ps</a:t>
            </a:r>
            <a:endParaRPr lang="en-US" sz="1150" dirty="0"/>
          </a:p>
        </p:txBody>
      </p:sp>
      <p:sp>
        <p:nvSpPr>
          <p:cNvPr id="36" name="Text 30"/>
          <p:cNvSpPr/>
          <p:nvPr/>
        </p:nvSpPr>
        <p:spPr>
          <a:xfrm>
            <a:off x="6583680" y="3977640"/>
            <a:ext cx="1508760" cy="457200"/>
          </a:xfrm>
          <a:prstGeom prst="rect">
            <a:avLst/>
          </a:prstGeom>
          <a:noFill/>
          <a:ln/>
        </p:spPr>
        <p:txBody>
          <a:bodyPr wrap="square" lIns="0" tIns="0" rIns="0" bIns="0" rtlCol="0" anchor="ctr"/>
          <a:lstStyle/>
          <a:p>
            <a:pPr marL="0" indent="0" algn="ctr">
              <a:buNone/>
            </a:pPr>
            <a:r>
              <a:rPr lang="en-US" sz="1900" b="1" dirty="0">
                <a:solidFill>
                  <a:srgbClr val="FACC15"/>
                </a:solidFill>
                <a:latin typeface="Arial" pitchFamily="34" charset="0"/>
                <a:ea typeface="Arial" pitchFamily="34" charset="-122"/>
                <a:cs typeface="Arial" pitchFamily="34" charset="-120"/>
              </a:rPr>
              <a:t>14 → 7</a:t>
            </a:r>
            <a:endParaRPr lang="en-US" sz="1900" dirty="0"/>
          </a:p>
        </p:txBody>
      </p:sp>
      <p:sp>
        <p:nvSpPr>
          <p:cNvPr id="37" name="Text 31"/>
          <p:cNvSpPr/>
          <p:nvPr/>
        </p:nvSpPr>
        <p:spPr>
          <a:xfrm>
            <a:off x="6583680" y="4462272"/>
            <a:ext cx="1508760" cy="54864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tokens kept</a:t>
            </a:r>
            <a:endParaRPr lang="en-US" sz="1000" dirty="0"/>
          </a:p>
        </p:txBody>
      </p:sp>
      <p:sp>
        <p:nvSpPr>
          <p:cNvPr id="38" name="Text 32"/>
          <p:cNvSpPr/>
          <p:nvPr/>
        </p:nvSpPr>
        <p:spPr>
          <a:xfrm>
            <a:off x="8211312" y="3977640"/>
            <a:ext cx="1508760" cy="457200"/>
          </a:xfrm>
          <a:prstGeom prst="rect">
            <a:avLst/>
          </a:prstGeom>
          <a:noFill/>
          <a:ln/>
        </p:spPr>
        <p:txBody>
          <a:bodyPr wrap="square" lIns="0" tIns="0" rIns="0" bIns="0" rtlCol="0" anchor="ctr"/>
          <a:lstStyle/>
          <a:p>
            <a:pPr marL="0" indent="0" algn="ctr">
              <a:buNone/>
            </a:pPr>
            <a:r>
              <a:rPr lang="en-US" sz="1900" b="1" dirty="0">
                <a:solidFill>
                  <a:srgbClr val="FACC15"/>
                </a:solidFill>
                <a:latin typeface="Arial" pitchFamily="34" charset="0"/>
                <a:ea typeface="Arial" pitchFamily="34" charset="-122"/>
                <a:cs typeface="Arial" pitchFamily="34" charset="-120"/>
              </a:rPr>
              <a:t>1</a:t>
            </a:r>
            <a:endParaRPr lang="en-US" sz="1900" dirty="0"/>
          </a:p>
        </p:txBody>
      </p:sp>
      <p:sp>
        <p:nvSpPr>
          <p:cNvPr id="39" name="Text 33"/>
          <p:cNvSpPr/>
          <p:nvPr/>
        </p:nvSpPr>
        <p:spPr>
          <a:xfrm>
            <a:off x="8211312" y="4462272"/>
            <a:ext cx="1508760" cy="54864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tf-idf column per lemma</a:t>
            </a:r>
            <a:endParaRPr lang="en-US" sz="1000" dirty="0"/>
          </a:p>
        </p:txBody>
      </p:sp>
      <p:sp>
        <p:nvSpPr>
          <p:cNvPr id="40" name="Text 34"/>
          <p:cNvSpPr/>
          <p:nvPr/>
        </p:nvSpPr>
        <p:spPr>
          <a:xfrm>
            <a:off x="9838944" y="3977640"/>
            <a:ext cx="1508760" cy="457200"/>
          </a:xfrm>
          <a:prstGeom prst="rect">
            <a:avLst/>
          </a:prstGeom>
          <a:noFill/>
          <a:ln/>
        </p:spPr>
        <p:txBody>
          <a:bodyPr wrap="square" lIns="0" tIns="0" rIns="0" bIns="0" rtlCol="0" anchor="ctr"/>
          <a:lstStyle/>
          <a:p>
            <a:pPr marL="0" indent="0" algn="ctr">
              <a:buNone/>
            </a:pPr>
            <a:r>
              <a:rPr lang="en-US" sz="1900" b="1" dirty="0">
                <a:solidFill>
                  <a:srgbClr val="FACC15"/>
                </a:solidFill>
                <a:latin typeface="Arial" pitchFamily="34" charset="0"/>
                <a:ea typeface="Arial" pitchFamily="34" charset="-122"/>
                <a:cs typeface="Arial" pitchFamily="34" charset="-120"/>
              </a:rPr>
              <a:t>“not”</a:t>
            </a:r>
            <a:endParaRPr lang="en-US" sz="1900" dirty="0"/>
          </a:p>
        </p:txBody>
      </p:sp>
      <p:sp>
        <p:nvSpPr>
          <p:cNvPr id="41" name="Text 35"/>
          <p:cNvSpPr/>
          <p:nvPr/>
        </p:nvSpPr>
        <p:spPr>
          <a:xfrm>
            <a:off x="9838944" y="4462272"/>
            <a:ext cx="1508760" cy="54864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always preserved</a:t>
            </a:r>
            <a:endParaRPr lang="en-US" sz="1000" dirty="0"/>
          </a:p>
        </p:txBody>
      </p:sp>
      <p:sp>
        <p:nvSpPr>
          <p:cNvPr id="42" name="Shape 36"/>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43" name="Text 37"/>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50% smaller text, meaning intact  and negation survives by design.</a:t>
            </a:r>
            <a:endParaRPr lang="en-US" sz="1250" dirty="0"/>
          </a:p>
        </p:txBody>
      </p:sp>
      <p:sp>
        <p:nvSpPr>
          <p:cNvPr id="44" name="Text 38"/>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45" name="Text 39"/>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05</a:t>
            </a:r>
            <a:endParaRPr lang="en-US" sz="900" dirty="0"/>
          </a:p>
        </p:txBody>
      </p:sp>
      <p:pic>
        <p:nvPicPr>
          <p:cNvPr id="46" name="Image 4" descr="logo_dark.png"/>
          <p:cNvPicPr>
            <a:picLocks noChangeAspect="1"/>
          </p:cNvPicPr>
          <p:nvPr/>
        </p:nvPicPr>
        <p:blipFill>
          <a:blip r:embed="rId8"/>
          <a:stretch>
            <a:fillRect/>
          </a:stretch>
        </p:blipFill>
        <p:spPr>
          <a:xfrm>
            <a:off x="10222992" y="6236208"/>
            <a:ext cx="868680"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1 · DECISIONS BACKED BY EXPERIMENTS</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Four Methods That Guard Data Quality</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M4 · M5 · M10 · M11</a:t>
            </a:r>
            <a:endParaRPr lang="en-US" sz="1050" dirty="0"/>
          </a:p>
        </p:txBody>
      </p:sp>
      <p:sp>
        <p:nvSpPr>
          <p:cNvPr id="15" name="Shape 13"/>
          <p:cNvSpPr/>
          <p:nvPr/>
        </p:nvSpPr>
        <p:spPr>
          <a:xfrm>
            <a:off x="594360" y="1600200"/>
            <a:ext cx="5340096" cy="1828800"/>
          </a:xfrm>
          <a:prstGeom prst="roundRect">
            <a:avLst>
              <a:gd name="adj" fmla="val 4500"/>
            </a:avLst>
          </a:prstGeom>
          <a:solidFill>
            <a:srgbClr val="151827"/>
          </a:solidFill>
          <a:ln w="9525">
            <a:solidFill>
              <a:srgbClr val="2A3047"/>
            </a:solidFill>
            <a:prstDash val="solid"/>
          </a:ln>
        </p:spPr>
        <p:txBody>
          <a:bodyPr/>
          <a:lstStyle/>
          <a:p>
            <a:endParaRPr lang="en-US"/>
          </a:p>
        </p:txBody>
      </p:sp>
      <p:pic>
        <p:nvPicPr>
          <p:cNvPr id="16" name="Image 0" descr="icons/branch.png"/>
          <p:cNvPicPr>
            <a:picLocks noChangeAspect="1"/>
          </p:cNvPicPr>
          <p:nvPr/>
        </p:nvPicPr>
        <p:blipFill>
          <a:blip r:embed="rId4"/>
          <a:stretch>
            <a:fillRect/>
          </a:stretch>
        </p:blipFill>
        <p:spPr>
          <a:xfrm>
            <a:off x="868680" y="1874520"/>
            <a:ext cx="457200" cy="457200"/>
          </a:xfrm>
          <a:prstGeom prst="rect">
            <a:avLst/>
          </a:prstGeom>
        </p:spPr>
      </p:pic>
      <p:sp>
        <p:nvSpPr>
          <p:cNvPr id="17" name="Text 14"/>
          <p:cNvSpPr/>
          <p:nvPr/>
        </p:nvSpPr>
        <p:spPr>
          <a:xfrm>
            <a:off x="1508760" y="1801368"/>
            <a:ext cx="4206240" cy="292608"/>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M4 · Stemming vs Lemma</a:t>
            </a:r>
            <a:endParaRPr lang="en-US" sz="1350" dirty="0"/>
          </a:p>
        </p:txBody>
      </p:sp>
      <p:sp>
        <p:nvSpPr>
          <p:cNvPr id="18" name="Text 15"/>
          <p:cNvSpPr/>
          <p:nvPr/>
        </p:nvSpPr>
        <p:spPr>
          <a:xfrm>
            <a:off x="1508760" y="2148840"/>
            <a:ext cx="4206240" cy="640080"/>
          </a:xfrm>
          <a:prstGeom prst="rect">
            <a:avLst/>
          </a:prstGeom>
          <a:noFill/>
          <a:ln/>
        </p:spPr>
        <p:txBody>
          <a:bodyPr wrap="square" lIns="0" tIns="0" rIns="0" bIns="0" rtlCol="0" anchor="ctr"/>
          <a:lstStyle/>
          <a:p>
            <a:pPr marL="0" indent="0">
              <a:buNone/>
            </a:pPr>
            <a:r>
              <a:rPr lang="en-US" sz="3000" b="1" dirty="0">
                <a:solidFill>
                  <a:srgbClr val="22D3EE"/>
                </a:solidFill>
                <a:latin typeface="Arial" pitchFamily="34" charset="0"/>
                <a:ea typeface="Arial" pitchFamily="34" charset="-122"/>
                <a:cs typeface="Arial" pitchFamily="34" charset="-120"/>
              </a:rPr>
              <a:t>Δ 0.06 pp</a:t>
            </a:r>
            <a:endParaRPr lang="en-US" sz="3000" dirty="0"/>
          </a:p>
        </p:txBody>
      </p:sp>
      <p:sp>
        <p:nvSpPr>
          <p:cNvPr id="19" name="Text 16"/>
          <p:cNvSpPr/>
          <p:nvPr/>
        </p:nvSpPr>
        <p:spPr>
          <a:xfrm>
            <a:off x="1508760" y="2862072"/>
            <a:ext cx="425196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94.33% vs 94.27%  we keep lemmas (readable)</a:t>
            </a:r>
            <a:endParaRPr lang="en-US" sz="1100" dirty="0"/>
          </a:p>
        </p:txBody>
      </p:sp>
      <p:sp>
        <p:nvSpPr>
          <p:cNvPr id="20" name="Shape 17"/>
          <p:cNvSpPr/>
          <p:nvPr/>
        </p:nvSpPr>
        <p:spPr>
          <a:xfrm>
            <a:off x="6254496" y="1600200"/>
            <a:ext cx="5340096" cy="1828800"/>
          </a:xfrm>
          <a:prstGeom prst="roundRect">
            <a:avLst>
              <a:gd name="adj" fmla="val 4500"/>
            </a:avLst>
          </a:prstGeom>
          <a:solidFill>
            <a:srgbClr val="151827"/>
          </a:solidFill>
          <a:ln w="9525">
            <a:solidFill>
              <a:srgbClr val="2A3047"/>
            </a:solidFill>
            <a:prstDash val="solid"/>
          </a:ln>
        </p:spPr>
        <p:txBody>
          <a:bodyPr/>
          <a:lstStyle/>
          <a:p>
            <a:endParaRPr lang="en-US"/>
          </a:p>
        </p:txBody>
      </p:sp>
      <p:pic>
        <p:nvPicPr>
          <p:cNvPr id="21" name="Image 1" descr="icons/tag.png"/>
          <p:cNvPicPr>
            <a:picLocks noChangeAspect="1"/>
          </p:cNvPicPr>
          <p:nvPr/>
        </p:nvPicPr>
        <p:blipFill>
          <a:blip r:embed="rId5"/>
          <a:stretch>
            <a:fillRect/>
          </a:stretch>
        </p:blipFill>
        <p:spPr>
          <a:xfrm>
            <a:off x="6528816" y="1874520"/>
            <a:ext cx="457200" cy="457200"/>
          </a:xfrm>
          <a:prstGeom prst="rect">
            <a:avLst/>
          </a:prstGeom>
        </p:spPr>
      </p:pic>
      <p:sp>
        <p:nvSpPr>
          <p:cNvPr id="22" name="Text 18"/>
          <p:cNvSpPr/>
          <p:nvPr/>
        </p:nvSpPr>
        <p:spPr>
          <a:xfrm>
            <a:off x="7168896" y="1801368"/>
            <a:ext cx="4206240" cy="292608"/>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M5 · POS filter</a:t>
            </a:r>
            <a:endParaRPr lang="en-US" sz="1350" dirty="0"/>
          </a:p>
        </p:txBody>
      </p:sp>
      <p:sp>
        <p:nvSpPr>
          <p:cNvPr id="23" name="Text 19"/>
          <p:cNvSpPr/>
          <p:nvPr/>
        </p:nvSpPr>
        <p:spPr>
          <a:xfrm>
            <a:off x="7168896" y="2148840"/>
            <a:ext cx="4206240" cy="640080"/>
          </a:xfrm>
          <a:prstGeom prst="rect">
            <a:avLst/>
          </a:prstGeom>
          <a:noFill/>
          <a:ln/>
        </p:spPr>
        <p:txBody>
          <a:bodyPr wrap="square" lIns="0" tIns="0" rIns="0" bIns="0" rtlCol="0" anchor="ctr"/>
          <a:lstStyle/>
          <a:p>
            <a:pPr marL="0" indent="0">
              <a:buNone/>
            </a:pPr>
            <a:r>
              <a:rPr lang="en-US" sz="3000" b="1" dirty="0">
                <a:solidFill>
                  <a:srgbClr val="A78BFA"/>
                </a:solidFill>
                <a:latin typeface="Arial" pitchFamily="34" charset="0"/>
                <a:ea typeface="Arial" pitchFamily="34" charset="-122"/>
                <a:cs typeface="Arial" pitchFamily="34" charset="-120"/>
              </a:rPr>
              <a:t>5 POS</a:t>
            </a:r>
            <a:endParaRPr lang="en-US" sz="3000" dirty="0"/>
          </a:p>
        </p:txBody>
      </p:sp>
      <p:sp>
        <p:nvSpPr>
          <p:cNvPr id="24" name="Text 20"/>
          <p:cNvSpPr/>
          <p:nvPr/>
        </p:nvSpPr>
        <p:spPr>
          <a:xfrm>
            <a:off x="7168896" y="2862072"/>
            <a:ext cx="425196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NOUN · PROPN · VERB · ADJ · ADV (+ “not”)</a:t>
            </a:r>
            <a:endParaRPr lang="en-US" sz="1100" dirty="0"/>
          </a:p>
        </p:txBody>
      </p:sp>
      <p:sp>
        <p:nvSpPr>
          <p:cNvPr id="25" name="Shape 21"/>
          <p:cNvSpPr/>
          <p:nvPr/>
        </p:nvSpPr>
        <p:spPr>
          <a:xfrm>
            <a:off x="594360" y="3611880"/>
            <a:ext cx="5340096" cy="1828800"/>
          </a:xfrm>
          <a:prstGeom prst="roundRect">
            <a:avLst>
              <a:gd name="adj" fmla="val 4500"/>
            </a:avLst>
          </a:prstGeom>
          <a:solidFill>
            <a:srgbClr val="151827"/>
          </a:solidFill>
          <a:ln w="9525">
            <a:solidFill>
              <a:srgbClr val="2A3047"/>
            </a:solidFill>
            <a:prstDash val="solid"/>
          </a:ln>
        </p:spPr>
        <p:txBody>
          <a:bodyPr/>
          <a:lstStyle/>
          <a:p>
            <a:endParaRPr lang="en-US"/>
          </a:p>
        </p:txBody>
      </p:sp>
      <p:pic>
        <p:nvPicPr>
          <p:cNvPr id="26" name="Image 2" descr="icons/edit.png"/>
          <p:cNvPicPr>
            <a:picLocks noChangeAspect="1"/>
          </p:cNvPicPr>
          <p:nvPr/>
        </p:nvPicPr>
        <p:blipFill>
          <a:blip r:embed="rId6"/>
          <a:stretch>
            <a:fillRect/>
          </a:stretch>
        </p:blipFill>
        <p:spPr>
          <a:xfrm>
            <a:off x="868680" y="3886200"/>
            <a:ext cx="457200" cy="457200"/>
          </a:xfrm>
          <a:prstGeom prst="rect">
            <a:avLst/>
          </a:prstGeom>
        </p:spPr>
      </p:pic>
      <p:sp>
        <p:nvSpPr>
          <p:cNvPr id="27" name="Text 22"/>
          <p:cNvSpPr/>
          <p:nvPr/>
        </p:nvSpPr>
        <p:spPr>
          <a:xfrm>
            <a:off x="1508760" y="3813048"/>
            <a:ext cx="4206240" cy="292608"/>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M10 · Levenshtein fix</a:t>
            </a:r>
            <a:endParaRPr lang="en-US" sz="1350" dirty="0"/>
          </a:p>
        </p:txBody>
      </p:sp>
      <p:sp>
        <p:nvSpPr>
          <p:cNvPr id="28" name="Text 23"/>
          <p:cNvSpPr/>
          <p:nvPr/>
        </p:nvSpPr>
        <p:spPr>
          <a:xfrm>
            <a:off x="1508760" y="4160520"/>
            <a:ext cx="4206240" cy="640080"/>
          </a:xfrm>
          <a:prstGeom prst="rect">
            <a:avLst/>
          </a:prstGeom>
          <a:noFill/>
          <a:ln/>
        </p:spPr>
        <p:txBody>
          <a:bodyPr wrap="square" lIns="0" tIns="0" rIns="0" bIns="0" rtlCol="0" anchor="ctr"/>
          <a:lstStyle/>
          <a:p>
            <a:pPr marL="0" indent="0">
              <a:buNone/>
            </a:pPr>
            <a:r>
              <a:rPr lang="en-US" sz="3000" b="1" dirty="0">
                <a:solidFill>
                  <a:srgbClr val="FACC15"/>
                </a:solidFill>
                <a:latin typeface="Arial" pitchFamily="34" charset="0"/>
                <a:ea typeface="Arial" pitchFamily="34" charset="-122"/>
                <a:cs typeface="Arial" pitchFamily="34" charset="-120"/>
              </a:rPr>
              <a:t>832</a:t>
            </a:r>
            <a:endParaRPr lang="en-US" sz="3000" dirty="0"/>
          </a:p>
        </p:txBody>
      </p:sp>
      <p:sp>
        <p:nvSpPr>
          <p:cNvPr id="29" name="Text 24"/>
          <p:cNvSpPr/>
          <p:nvPr/>
        </p:nvSpPr>
        <p:spPr>
          <a:xfrm>
            <a:off x="1508760" y="4873752"/>
            <a:ext cx="425196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typos merged BEFORE tf-idf (beatiful→beautiful)</a:t>
            </a:r>
            <a:endParaRPr lang="en-US" sz="1100" dirty="0"/>
          </a:p>
        </p:txBody>
      </p:sp>
      <p:sp>
        <p:nvSpPr>
          <p:cNvPr id="30" name="Shape 25"/>
          <p:cNvSpPr/>
          <p:nvPr/>
        </p:nvSpPr>
        <p:spPr>
          <a:xfrm>
            <a:off x="6254496" y="3611880"/>
            <a:ext cx="5340096" cy="1828800"/>
          </a:xfrm>
          <a:prstGeom prst="roundRect">
            <a:avLst>
              <a:gd name="adj" fmla="val 4500"/>
            </a:avLst>
          </a:prstGeom>
          <a:solidFill>
            <a:srgbClr val="151827"/>
          </a:solidFill>
          <a:ln w="9525">
            <a:solidFill>
              <a:srgbClr val="2A3047"/>
            </a:solidFill>
            <a:prstDash val="solid"/>
          </a:ln>
        </p:spPr>
        <p:txBody>
          <a:bodyPr/>
          <a:lstStyle/>
          <a:p>
            <a:endParaRPr lang="en-US"/>
          </a:p>
        </p:txBody>
      </p:sp>
      <p:pic>
        <p:nvPicPr>
          <p:cNvPr id="31" name="Image 3" descr="icons/copy.png"/>
          <p:cNvPicPr>
            <a:picLocks noChangeAspect="1"/>
          </p:cNvPicPr>
          <p:nvPr/>
        </p:nvPicPr>
        <p:blipFill>
          <a:blip r:embed="rId7"/>
          <a:stretch>
            <a:fillRect/>
          </a:stretch>
        </p:blipFill>
        <p:spPr>
          <a:xfrm>
            <a:off x="6528816" y="3886200"/>
            <a:ext cx="457200" cy="457200"/>
          </a:xfrm>
          <a:prstGeom prst="rect">
            <a:avLst/>
          </a:prstGeom>
        </p:spPr>
      </p:pic>
      <p:sp>
        <p:nvSpPr>
          <p:cNvPr id="32" name="Text 26"/>
          <p:cNvSpPr/>
          <p:nvPr/>
        </p:nvSpPr>
        <p:spPr>
          <a:xfrm>
            <a:off x="7168896" y="3813048"/>
            <a:ext cx="4206240" cy="292608"/>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M11 · Jaccard dedup</a:t>
            </a:r>
            <a:endParaRPr lang="en-US" sz="1350" dirty="0"/>
          </a:p>
        </p:txBody>
      </p:sp>
      <p:sp>
        <p:nvSpPr>
          <p:cNvPr id="33" name="Text 27"/>
          <p:cNvSpPr/>
          <p:nvPr/>
        </p:nvSpPr>
        <p:spPr>
          <a:xfrm>
            <a:off x="7168896" y="4160520"/>
            <a:ext cx="4206240" cy="640080"/>
          </a:xfrm>
          <a:prstGeom prst="rect">
            <a:avLst/>
          </a:prstGeom>
          <a:noFill/>
          <a:ln/>
        </p:spPr>
        <p:txBody>
          <a:bodyPr wrap="square" lIns="0" tIns="0" rIns="0" bIns="0" rtlCol="0" anchor="ctr"/>
          <a:lstStyle/>
          <a:p>
            <a:pPr marL="0" indent="0">
              <a:buNone/>
            </a:pPr>
            <a:r>
              <a:rPr lang="en-US" sz="3000" b="1" dirty="0">
                <a:solidFill>
                  <a:srgbClr val="34D399"/>
                </a:solidFill>
                <a:latin typeface="Arial" pitchFamily="34" charset="0"/>
                <a:ea typeface="Arial" pitchFamily="34" charset="-122"/>
                <a:cs typeface="Arial" pitchFamily="34" charset="-120"/>
              </a:rPr>
              <a:t>−10,308</a:t>
            </a:r>
            <a:endParaRPr lang="en-US" sz="3000" dirty="0"/>
          </a:p>
        </p:txBody>
      </p:sp>
      <p:sp>
        <p:nvSpPr>
          <p:cNvPr id="34" name="Text 28"/>
          <p:cNvSpPr/>
          <p:nvPr/>
        </p:nvSpPr>
        <p:spPr>
          <a:xfrm>
            <a:off x="7168896" y="4873752"/>
            <a:ext cx="425196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duplicates removed → 62,368 clean reviews</a:t>
            </a:r>
            <a:endParaRPr lang="en-US" sz="1100" dirty="0"/>
          </a:p>
        </p:txBody>
      </p:sp>
      <p:sp>
        <p:nvSpPr>
          <p:cNvPr id="35" name="Shape 29"/>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36" name="Text 30"/>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Every cleaning decision was tested, not assumed  A/B accuracy, edit distance, trigram similarity.</a:t>
            </a:r>
            <a:endParaRPr lang="en-US" sz="1250" dirty="0"/>
          </a:p>
        </p:txBody>
      </p:sp>
      <p:sp>
        <p:nvSpPr>
          <p:cNvPr id="37" name="Text 31"/>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8" name="Text 32"/>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06</a:t>
            </a:r>
            <a:endParaRPr lang="en-US" sz="900" dirty="0"/>
          </a:p>
        </p:txBody>
      </p:sp>
      <p:pic>
        <p:nvPicPr>
          <p:cNvPr id="39" name="Image 4" descr="logo_dark.png"/>
          <p:cNvPicPr>
            <a:picLocks noChangeAspect="1"/>
          </p:cNvPicPr>
          <p:nvPr/>
        </p:nvPicPr>
        <p:blipFill>
          <a:blip r:embed="rId8"/>
          <a:stretch>
            <a:fillRect/>
          </a:stretch>
        </p:blipFill>
        <p:spPr>
          <a:xfrm>
            <a:off x="10222992" y="6236208"/>
            <a:ext cx="86868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1 · FROM TEXT TO STRUCTURE</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NER &amp; Pattern Matching Create New Columns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M6 · M7</a:t>
            </a:r>
            <a:endParaRPr lang="en-US" sz="1050" dirty="0"/>
          </a:p>
        </p:txBody>
      </p:sp>
      <p:sp>
        <p:nvSpPr>
          <p:cNvPr id="15" name="Shape 13"/>
          <p:cNvSpPr/>
          <p:nvPr/>
        </p:nvSpPr>
        <p:spPr>
          <a:xfrm>
            <a:off x="594360" y="1554480"/>
            <a:ext cx="5532120" cy="3977640"/>
          </a:xfrm>
          <a:prstGeom prst="roundRect">
            <a:avLst>
              <a:gd name="adj" fmla="val 2069"/>
            </a:avLst>
          </a:prstGeom>
          <a:solidFill>
            <a:srgbClr val="151827"/>
          </a:solidFill>
          <a:ln w="9525">
            <a:solidFill>
              <a:srgbClr val="2A3047"/>
            </a:solidFill>
            <a:prstDash val="solid"/>
          </a:ln>
        </p:spPr>
        <p:txBody>
          <a:bodyPr/>
          <a:lstStyle/>
          <a:p>
            <a:endParaRPr lang="en-US"/>
          </a:p>
        </p:txBody>
      </p:sp>
      <p:pic>
        <p:nvPicPr>
          <p:cNvPr id="16" name="Image 0" descr="icons/mappin.png"/>
          <p:cNvPicPr>
            <a:picLocks noChangeAspect="1"/>
          </p:cNvPicPr>
          <p:nvPr/>
        </p:nvPicPr>
        <p:blipFill>
          <a:blip r:embed="rId4"/>
          <a:stretch>
            <a:fillRect/>
          </a:stretch>
        </p:blipFill>
        <p:spPr>
          <a:xfrm>
            <a:off x="868680" y="1719072"/>
            <a:ext cx="365760" cy="365760"/>
          </a:xfrm>
          <a:prstGeom prst="rect">
            <a:avLst/>
          </a:prstGeom>
        </p:spPr>
      </p:pic>
      <p:sp>
        <p:nvSpPr>
          <p:cNvPr id="17" name="Text 14"/>
          <p:cNvSpPr/>
          <p:nvPr/>
        </p:nvSpPr>
        <p:spPr>
          <a:xfrm>
            <a:off x="1371600" y="1764792"/>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Arial" pitchFamily="34" charset="0"/>
                <a:ea typeface="Arial" pitchFamily="34" charset="-122"/>
                <a:cs typeface="Arial" pitchFamily="34" charset="-120"/>
              </a:rPr>
              <a:t>M6 · NER → platform column</a:t>
            </a:r>
            <a:endParaRPr lang="en-US" sz="1300" dirty="0"/>
          </a:p>
        </p:txBody>
      </p:sp>
      <p:sp>
        <p:nvSpPr>
          <p:cNvPr id="18" name="Text 15"/>
          <p:cNvSpPr/>
          <p:nvPr/>
        </p:nvSpPr>
        <p:spPr>
          <a:xfrm>
            <a:off x="1371600" y="2057400"/>
            <a:ext cx="4114800"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 positive by platform</a:t>
            </a:r>
            <a:endParaRPr lang="en-US" sz="1050" dirty="0"/>
          </a:p>
        </p:txBody>
      </p:sp>
      <p:graphicFrame>
        <p:nvGraphicFramePr>
          <p:cNvPr id="19" name="Chart 0"/>
          <p:cNvGraphicFramePr/>
          <p:nvPr/>
        </p:nvGraphicFramePr>
        <p:xfrm>
          <a:off x="777240" y="2377440"/>
          <a:ext cx="512064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20" name="Shape 16"/>
          <p:cNvSpPr/>
          <p:nvPr/>
        </p:nvSpPr>
        <p:spPr>
          <a:xfrm>
            <a:off x="6355080" y="1554480"/>
            <a:ext cx="5239512" cy="3977640"/>
          </a:xfrm>
          <a:prstGeom prst="roundRect">
            <a:avLst>
              <a:gd name="adj" fmla="val 2069"/>
            </a:avLst>
          </a:prstGeom>
          <a:solidFill>
            <a:srgbClr val="151827"/>
          </a:solidFill>
          <a:ln w="9525">
            <a:solidFill>
              <a:srgbClr val="2A3047"/>
            </a:solidFill>
            <a:prstDash val="solid"/>
          </a:ln>
        </p:spPr>
        <p:txBody>
          <a:bodyPr/>
          <a:lstStyle/>
          <a:p>
            <a:endParaRPr lang="en-US"/>
          </a:p>
        </p:txBody>
      </p:sp>
      <p:pic>
        <p:nvPicPr>
          <p:cNvPr id="21" name="Image 1" descr="icons/target.png"/>
          <p:cNvPicPr>
            <a:picLocks noChangeAspect="1"/>
          </p:cNvPicPr>
          <p:nvPr/>
        </p:nvPicPr>
        <p:blipFill>
          <a:blip r:embed="rId6"/>
          <a:stretch>
            <a:fillRect/>
          </a:stretch>
        </p:blipFill>
        <p:spPr>
          <a:xfrm>
            <a:off x="6629400" y="1719072"/>
            <a:ext cx="365760" cy="365760"/>
          </a:xfrm>
          <a:prstGeom prst="rect">
            <a:avLst/>
          </a:prstGeom>
        </p:spPr>
      </p:pic>
      <p:sp>
        <p:nvSpPr>
          <p:cNvPr id="22" name="Text 17"/>
          <p:cNvSpPr/>
          <p:nvPr/>
        </p:nvSpPr>
        <p:spPr>
          <a:xfrm>
            <a:off x="7132320" y="1764792"/>
            <a:ext cx="4206240" cy="274320"/>
          </a:xfrm>
          <a:prstGeom prst="rect">
            <a:avLst/>
          </a:prstGeom>
          <a:noFill/>
          <a:ln/>
        </p:spPr>
        <p:txBody>
          <a:bodyPr wrap="square" lIns="0" tIns="0" rIns="0" bIns="0" rtlCol="0" anchor="ctr"/>
          <a:lstStyle/>
          <a:p>
            <a:pPr marL="0" indent="0">
              <a:buNone/>
            </a:pPr>
            <a:r>
              <a:rPr lang="en-US" sz="1300" b="1" dirty="0">
                <a:solidFill>
                  <a:srgbClr val="E2E8F0"/>
                </a:solidFill>
                <a:latin typeface="Arial" pitchFamily="34" charset="0"/>
                <a:ea typeface="Arial" pitchFamily="34" charset="-122"/>
                <a:cs typeface="Arial" pitchFamily="34" charset="-120"/>
              </a:rPr>
              <a:t>M7 · Matcher → category column</a:t>
            </a:r>
            <a:endParaRPr lang="en-US" sz="1300" dirty="0"/>
          </a:p>
        </p:txBody>
      </p:sp>
      <p:sp>
        <p:nvSpPr>
          <p:cNvPr id="23" name="Text 18"/>
          <p:cNvSpPr/>
          <p:nvPr/>
        </p:nvSpPr>
        <p:spPr>
          <a:xfrm>
            <a:off x="7132320" y="2057400"/>
            <a:ext cx="4114800"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reviews per pattern tag (4,819 tagged)</a:t>
            </a:r>
            <a:endParaRPr lang="en-US" sz="1050" dirty="0"/>
          </a:p>
        </p:txBody>
      </p:sp>
      <p:graphicFrame>
        <p:nvGraphicFramePr>
          <p:cNvPr id="24" name="Chart 1"/>
          <p:cNvGraphicFramePr/>
          <p:nvPr/>
        </p:nvGraphicFramePr>
        <p:xfrm>
          <a:off x="6537960" y="2377440"/>
          <a:ext cx="4892040" cy="2834640"/>
        </p:xfrm>
        <a:graphic>
          <a:graphicData uri="http://schemas.openxmlformats.org/drawingml/2006/chart">
            <c:chart xmlns:c="http://schemas.openxmlformats.org/drawingml/2006/chart" xmlns:r="http://schemas.openxmlformats.org/officeDocument/2006/relationships" r:id="rId7"/>
          </a:graphicData>
        </a:graphic>
      </p:graphicFrame>
      <p:sp>
        <p:nvSpPr>
          <p:cNvPr id="25" name="Shape 19"/>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26" name="Text 20"/>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PS5 players are the happiest (97.5%), PC the most critical (88.5%)  and praise tags outnumber complaint tags ~10 : 1.</a:t>
            </a:r>
            <a:endParaRPr lang="en-US" sz="1250" dirty="0"/>
          </a:p>
        </p:txBody>
      </p:sp>
      <p:sp>
        <p:nvSpPr>
          <p:cNvPr id="27" name="Text 21"/>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28" name="Text 22"/>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07</a:t>
            </a:r>
            <a:endParaRPr lang="en-US" sz="900" dirty="0"/>
          </a:p>
        </p:txBody>
      </p:sp>
      <p:pic>
        <p:nvPicPr>
          <p:cNvPr id="29" name="Image 2" descr="logo_dark.png"/>
          <p:cNvPicPr>
            <a:picLocks noChangeAspect="1"/>
          </p:cNvPicPr>
          <p:nvPr/>
        </p:nvPicPr>
        <p:blipFill>
          <a:blip r:embed="rId8"/>
          <a:stretch>
            <a:fillRect/>
          </a:stretch>
        </p:blipFill>
        <p:spPr>
          <a:xfrm>
            <a:off x="10222992" y="6236208"/>
            <a:ext cx="868680" cy="502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2 · WHAT PLAYERS ACTUALLY SAY</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N-grams: The Phrases Behind the Votes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M8</a:t>
            </a:r>
            <a:endParaRPr lang="en-US" sz="1050" dirty="0"/>
          </a:p>
        </p:txBody>
      </p:sp>
      <p:pic>
        <p:nvPicPr>
          <p:cNvPr id="15" name="Image 0" descr="bigrams.png"/>
          <p:cNvPicPr>
            <a:picLocks noChangeAspect="1"/>
          </p:cNvPicPr>
          <p:nvPr/>
        </p:nvPicPr>
        <p:blipFill>
          <a:blip r:embed="rId4"/>
          <a:stretch>
            <a:fillRect/>
          </a:stretch>
        </p:blipFill>
        <p:spPr>
          <a:xfrm>
            <a:off x="594360" y="1600200"/>
            <a:ext cx="7635240" cy="3346704"/>
          </a:xfrm>
          <a:prstGeom prst="rect">
            <a:avLst/>
          </a:prstGeom>
        </p:spPr>
      </p:pic>
      <p:sp>
        <p:nvSpPr>
          <p:cNvPr id="16" name="Shape 13"/>
          <p:cNvSpPr/>
          <p:nvPr/>
        </p:nvSpPr>
        <p:spPr>
          <a:xfrm>
            <a:off x="8503920" y="1600200"/>
            <a:ext cx="3090672" cy="3346704"/>
          </a:xfrm>
          <a:prstGeom prst="roundRect">
            <a:avLst>
              <a:gd name="adj" fmla="val 2663"/>
            </a:avLst>
          </a:prstGeom>
          <a:solidFill>
            <a:srgbClr val="151827"/>
          </a:solidFill>
          <a:ln w="9525">
            <a:solidFill>
              <a:srgbClr val="2A3047"/>
            </a:solidFill>
            <a:prstDash val="solid"/>
          </a:ln>
        </p:spPr>
        <p:txBody>
          <a:bodyPr/>
          <a:lstStyle/>
          <a:p>
            <a:endParaRPr lang="en-US"/>
          </a:p>
        </p:txBody>
      </p:sp>
      <p:pic>
        <p:nvPicPr>
          <p:cNvPr id="17" name="Image 1" descr="icons/link.png"/>
          <p:cNvPicPr>
            <a:picLocks noChangeAspect="1"/>
          </p:cNvPicPr>
          <p:nvPr/>
        </p:nvPicPr>
        <p:blipFill>
          <a:blip r:embed="rId5"/>
          <a:stretch>
            <a:fillRect/>
          </a:stretch>
        </p:blipFill>
        <p:spPr>
          <a:xfrm>
            <a:off x="8778240" y="1783080"/>
            <a:ext cx="365760" cy="365760"/>
          </a:xfrm>
          <a:prstGeom prst="rect">
            <a:avLst/>
          </a:prstGeom>
        </p:spPr>
      </p:pic>
      <p:sp>
        <p:nvSpPr>
          <p:cNvPr id="18" name="Text 14"/>
          <p:cNvSpPr/>
          <p:nvPr/>
        </p:nvSpPr>
        <p:spPr>
          <a:xfrm>
            <a:off x="9281160" y="1847088"/>
            <a:ext cx="2194560" cy="237744"/>
          </a:xfrm>
          <a:prstGeom prst="rect">
            <a:avLst/>
          </a:prstGeom>
          <a:noFill/>
          <a:ln/>
        </p:spPr>
        <p:txBody>
          <a:bodyPr wrap="square" lIns="0" tIns="0" rIns="0" bIns="0" rtlCol="0" anchor="ctr"/>
          <a:lstStyle/>
          <a:p>
            <a:pPr marL="0" indent="0">
              <a:buNone/>
            </a:pPr>
            <a:r>
              <a:rPr lang="en-US" sz="1000" b="1" kern="0" spc="200" dirty="0">
                <a:solidFill>
                  <a:srgbClr val="22D3EE"/>
                </a:solidFill>
                <a:latin typeface="Arial" pitchFamily="34" charset="0"/>
                <a:ea typeface="Arial" pitchFamily="34" charset="-122"/>
                <a:cs typeface="Arial" pitchFamily="34" charset="-120"/>
              </a:rPr>
              <a:t>KEY BIGRAMS</a:t>
            </a:r>
            <a:endParaRPr lang="en-US" sz="1000" dirty="0"/>
          </a:p>
        </p:txBody>
      </p:sp>
      <p:sp>
        <p:nvSpPr>
          <p:cNvPr id="19" name="Text 15"/>
          <p:cNvSpPr/>
          <p:nvPr/>
        </p:nvSpPr>
        <p:spPr>
          <a:xfrm>
            <a:off x="8778240" y="2286000"/>
            <a:ext cx="1828800" cy="502920"/>
          </a:xfrm>
          <a:prstGeom prst="rect">
            <a:avLst/>
          </a:prstGeom>
          <a:noFill/>
          <a:ln/>
        </p:spPr>
        <p:txBody>
          <a:bodyPr wrap="square" lIns="0" tIns="0" rIns="0" bIns="0" rtlCol="0" anchor="ctr"/>
          <a:lstStyle/>
          <a:p>
            <a:pPr marL="0" indent="0">
              <a:buNone/>
            </a:pPr>
            <a:r>
              <a:rPr lang="en-US" sz="1150" b="1" dirty="0">
                <a:solidFill>
                  <a:srgbClr val="E2E8F0"/>
                </a:solidFill>
                <a:latin typeface="Arial" pitchFamily="34" charset="0"/>
                <a:ea typeface="Arial" pitchFamily="34" charset="-122"/>
                <a:cs typeface="Arial" pitchFamily="34" charset="-120"/>
              </a:rPr>
              <a:t>night city</a:t>
            </a:r>
            <a:endParaRPr lang="en-US" sz="1150" dirty="0"/>
          </a:p>
        </p:txBody>
      </p:sp>
      <p:sp>
        <p:nvSpPr>
          <p:cNvPr id="20" name="Text 16"/>
          <p:cNvSpPr/>
          <p:nvPr/>
        </p:nvSpPr>
        <p:spPr>
          <a:xfrm>
            <a:off x="10561320" y="2286000"/>
            <a:ext cx="868680" cy="502920"/>
          </a:xfrm>
          <a:prstGeom prst="rect">
            <a:avLst/>
          </a:prstGeom>
          <a:noFill/>
          <a:ln/>
        </p:spPr>
        <p:txBody>
          <a:bodyPr wrap="square" lIns="0" tIns="0" rIns="0" bIns="0" rtlCol="0" anchor="ctr"/>
          <a:lstStyle/>
          <a:p>
            <a:pPr marL="0" indent="0" algn="r">
              <a:buNone/>
            </a:pPr>
            <a:r>
              <a:rPr lang="en-US" sz="1200" b="1" dirty="0">
                <a:solidFill>
                  <a:srgbClr val="34D399"/>
                </a:solidFill>
                <a:latin typeface="Arial" pitchFamily="34" charset="0"/>
                <a:ea typeface="Arial" pitchFamily="34" charset="-122"/>
                <a:cs typeface="Arial" pitchFamily="34" charset="-120"/>
              </a:rPr>
              <a:t>5,444×</a:t>
            </a:r>
            <a:endParaRPr lang="en-US" sz="1200" dirty="0"/>
          </a:p>
        </p:txBody>
      </p:sp>
      <p:sp>
        <p:nvSpPr>
          <p:cNvPr id="21" name="Text 17"/>
          <p:cNvSpPr/>
          <p:nvPr/>
        </p:nvSpPr>
        <p:spPr>
          <a:xfrm>
            <a:off x="8778240" y="2907792"/>
            <a:ext cx="1828800" cy="502920"/>
          </a:xfrm>
          <a:prstGeom prst="rect">
            <a:avLst/>
          </a:prstGeom>
          <a:noFill/>
          <a:ln/>
        </p:spPr>
        <p:txBody>
          <a:bodyPr wrap="square" lIns="0" tIns="0" rIns="0" bIns="0" rtlCol="0" anchor="ctr"/>
          <a:lstStyle/>
          <a:p>
            <a:pPr marL="0" indent="0">
              <a:buNone/>
            </a:pPr>
            <a:r>
              <a:rPr lang="en-US" sz="1150" b="1" dirty="0">
                <a:solidFill>
                  <a:srgbClr val="E2E8F0"/>
                </a:solidFill>
                <a:latin typeface="Arial" pitchFamily="34" charset="0"/>
                <a:ea typeface="Arial" pitchFamily="34" charset="-122"/>
                <a:cs typeface="Arial" pitchFamily="34" charset="-120"/>
              </a:rPr>
              <a:t>phantom liberty</a:t>
            </a:r>
            <a:endParaRPr lang="en-US" sz="1150" dirty="0"/>
          </a:p>
        </p:txBody>
      </p:sp>
      <p:sp>
        <p:nvSpPr>
          <p:cNvPr id="22" name="Text 18"/>
          <p:cNvSpPr/>
          <p:nvPr/>
        </p:nvSpPr>
        <p:spPr>
          <a:xfrm>
            <a:off x="10561320" y="2907792"/>
            <a:ext cx="868680" cy="502920"/>
          </a:xfrm>
          <a:prstGeom prst="rect">
            <a:avLst/>
          </a:prstGeom>
          <a:noFill/>
          <a:ln/>
        </p:spPr>
        <p:txBody>
          <a:bodyPr wrap="square" lIns="0" tIns="0" rIns="0" bIns="0" rtlCol="0" anchor="ctr"/>
          <a:lstStyle/>
          <a:p>
            <a:pPr marL="0" indent="0" algn="r">
              <a:buNone/>
            </a:pPr>
            <a:r>
              <a:rPr lang="en-US" sz="1200" b="1" dirty="0">
                <a:solidFill>
                  <a:srgbClr val="34D399"/>
                </a:solidFill>
                <a:latin typeface="Arial" pitchFamily="34" charset="0"/>
                <a:ea typeface="Arial" pitchFamily="34" charset="-122"/>
                <a:cs typeface="Arial" pitchFamily="34" charset="-120"/>
              </a:rPr>
              <a:t>3,546×</a:t>
            </a:r>
            <a:endParaRPr lang="en-US" sz="1200" dirty="0"/>
          </a:p>
        </p:txBody>
      </p:sp>
      <p:sp>
        <p:nvSpPr>
          <p:cNvPr id="23" name="Text 19"/>
          <p:cNvSpPr/>
          <p:nvPr/>
        </p:nvSpPr>
        <p:spPr>
          <a:xfrm>
            <a:off x="8778240" y="3529584"/>
            <a:ext cx="1828800" cy="502920"/>
          </a:xfrm>
          <a:prstGeom prst="rect">
            <a:avLst/>
          </a:prstGeom>
          <a:noFill/>
          <a:ln/>
        </p:spPr>
        <p:txBody>
          <a:bodyPr wrap="square" lIns="0" tIns="0" rIns="0" bIns="0" rtlCol="0" anchor="ctr"/>
          <a:lstStyle/>
          <a:p>
            <a:pPr marL="0" indent="0">
              <a:buNone/>
            </a:pPr>
            <a:r>
              <a:rPr lang="en-US" sz="1150" b="1" dirty="0">
                <a:solidFill>
                  <a:srgbClr val="E2E8F0"/>
                </a:solidFill>
                <a:latin typeface="Arial" pitchFamily="34" charset="0"/>
                <a:ea typeface="Arial" pitchFamily="34" charset="-122"/>
                <a:cs typeface="Arial" pitchFamily="34" charset="-120"/>
              </a:rPr>
              <a:t>game crash</a:t>
            </a:r>
            <a:endParaRPr lang="en-US" sz="1150" dirty="0"/>
          </a:p>
        </p:txBody>
      </p:sp>
      <p:sp>
        <p:nvSpPr>
          <p:cNvPr id="24" name="Text 20"/>
          <p:cNvSpPr/>
          <p:nvPr/>
        </p:nvSpPr>
        <p:spPr>
          <a:xfrm>
            <a:off x="10561320" y="3529584"/>
            <a:ext cx="868680" cy="502920"/>
          </a:xfrm>
          <a:prstGeom prst="rect">
            <a:avLst/>
          </a:prstGeom>
          <a:noFill/>
          <a:ln/>
        </p:spPr>
        <p:txBody>
          <a:bodyPr wrap="square" lIns="0" tIns="0" rIns="0" bIns="0" rtlCol="0" anchor="ctr"/>
          <a:lstStyle/>
          <a:p>
            <a:pPr marL="0" indent="0" algn="r">
              <a:buNone/>
            </a:pPr>
            <a:r>
              <a:rPr lang="en-US" sz="1200" b="1" dirty="0">
                <a:solidFill>
                  <a:srgbClr val="F87171"/>
                </a:solidFill>
                <a:latin typeface="Arial" pitchFamily="34" charset="0"/>
                <a:ea typeface="Arial" pitchFamily="34" charset="-122"/>
                <a:cs typeface="Arial" pitchFamily="34" charset="-120"/>
              </a:rPr>
              <a:t>180×</a:t>
            </a:r>
            <a:endParaRPr lang="en-US" sz="1200" dirty="0"/>
          </a:p>
        </p:txBody>
      </p:sp>
      <p:sp>
        <p:nvSpPr>
          <p:cNvPr id="25" name="Text 21"/>
          <p:cNvSpPr/>
          <p:nvPr/>
        </p:nvSpPr>
        <p:spPr>
          <a:xfrm>
            <a:off x="8778240" y="4151376"/>
            <a:ext cx="1828800" cy="502920"/>
          </a:xfrm>
          <a:prstGeom prst="rect">
            <a:avLst/>
          </a:prstGeom>
          <a:noFill/>
          <a:ln/>
        </p:spPr>
        <p:txBody>
          <a:bodyPr wrap="square" lIns="0" tIns="0" rIns="0" bIns="0" rtlCol="0" anchor="ctr"/>
          <a:lstStyle/>
          <a:p>
            <a:pPr marL="0" indent="0">
              <a:buNone/>
            </a:pPr>
            <a:r>
              <a:rPr lang="en-US" sz="1150" b="1" dirty="0">
                <a:solidFill>
                  <a:srgbClr val="E2E8F0"/>
                </a:solidFill>
                <a:latin typeface="Arial" pitchFamily="34" charset="0"/>
                <a:ea typeface="Arial" pitchFamily="34" charset="-122"/>
                <a:cs typeface="Arial" pitchFamily="34" charset="-120"/>
              </a:rPr>
              <a:t>yap yap (meme)</a:t>
            </a:r>
            <a:endParaRPr lang="en-US" sz="1150" dirty="0"/>
          </a:p>
        </p:txBody>
      </p:sp>
      <p:sp>
        <p:nvSpPr>
          <p:cNvPr id="26" name="Text 22"/>
          <p:cNvSpPr/>
          <p:nvPr/>
        </p:nvSpPr>
        <p:spPr>
          <a:xfrm>
            <a:off x="10561320" y="4151376"/>
            <a:ext cx="868680" cy="502920"/>
          </a:xfrm>
          <a:prstGeom prst="rect">
            <a:avLst/>
          </a:prstGeom>
          <a:noFill/>
          <a:ln/>
        </p:spPr>
        <p:txBody>
          <a:bodyPr wrap="square" lIns="0" tIns="0" rIns="0" bIns="0" rtlCol="0" anchor="ctr"/>
          <a:lstStyle/>
          <a:p>
            <a:pPr marL="0" indent="0" algn="r">
              <a:buNone/>
            </a:pPr>
            <a:r>
              <a:rPr lang="en-US" sz="1200" b="1" dirty="0">
                <a:solidFill>
                  <a:srgbClr val="F87171"/>
                </a:solidFill>
                <a:latin typeface="Arial" pitchFamily="34" charset="0"/>
                <a:ea typeface="Arial" pitchFamily="34" charset="-122"/>
                <a:cs typeface="Arial" pitchFamily="34" charset="-120"/>
              </a:rPr>
              <a:t>1,662×</a:t>
            </a:r>
            <a:endParaRPr lang="en-US" sz="1200" dirty="0"/>
          </a:p>
        </p:txBody>
      </p:sp>
      <p:sp>
        <p:nvSpPr>
          <p:cNvPr id="27" name="Shape 23"/>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28" name="Text 24"/>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With ngram_range=(1,2) bigrams become tf-idf features  the model can tell “not worth” from “worth”.</a:t>
            </a:r>
            <a:endParaRPr lang="en-US" sz="1250" dirty="0"/>
          </a:p>
        </p:txBody>
      </p:sp>
      <p:sp>
        <p:nvSpPr>
          <p:cNvPr id="29" name="Text 25"/>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0" name="Text 26"/>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08</a:t>
            </a:r>
            <a:endParaRPr lang="en-US" sz="900" dirty="0"/>
          </a:p>
        </p:txBody>
      </p:sp>
      <p:pic>
        <p:nvPicPr>
          <p:cNvPr id="31" name="Image 2" descr="logo_dark.png"/>
          <p:cNvPicPr>
            <a:picLocks noChangeAspect="1"/>
          </p:cNvPicPr>
          <p:nvPr/>
        </p:nvPicPr>
        <p:blipFill>
          <a:blip r:embed="rId6"/>
          <a:stretch>
            <a:fillRect/>
          </a:stretch>
        </p:blipFill>
        <p:spPr>
          <a:xfrm>
            <a:off x="10222992" y="6236208"/>
            <a:ext cx="868680" cy="502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2 · TEXT BECOMES NUMBERS</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tf-idf: Rare = Informative</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M9</a:t>
            </a:r>
            <a:endParaRPr lang="en-US" sz="1050" dirty="0"/>
          </a:p>
        </p:txBody>
      </p:sp>
      <p:sp>
        <p:nvSpPr>
          <p:cNvPr id="15" name="Shape 13"/>
          <p:cNvSpPr/>
          <p:nvPr/>
        </p:nvSpPr>
        <p:spPr>
          <a:xfrm>
            <a:off x="594360" y="1600200"/>
            <a:ext cx="3429000" cy="1234440"/>
          </a:xfrm>
          <a:prstGeom prst="roundRect">
            <a:avLst>
              <a:gd name="adj" fmla="val 6667"/>
            </a:avLst>
          </a:prstGeom>
          <a:solidFill>
            <a:srgbClr val="1B1F31"/>
          </a:solidFill>
          <a:ln w="9525">
            <a:solidFill>
              <a:srgbClr val="2A3047"/>
            </a:solidFill>
            <a:prstDash val="solid"/>
          </a:ln>
        </p:spPr>
        <p:txBody>
          <a:bodyPr/>
          <a:lstStyle/>
          <a:p>
            <a:endParaRPr lang="en-US"/>
          </a:p>
        </p:txBody>
      </p:sp>
      <p:pic>
        <p:nvPicPr>
          <p:cNvPr id="16" name="Image 0" descr="icons/file.png"/>
          <p:cNvPicPr>
            <a:picLocks noChangeAspect="1"/>
          </p:cNvPicPr>
          <p:nvPr/>
        </p:nvPicPr>
        <p:blipFill>
          <a:blip r:embed="rId4"/>
          <a:stretch>
            <a:fillRect/>
          </a:stretch>
        </p:blipFill>
        <p:spPr>
          <a:xfrm>
            <a:off x="850392" y="1920240"/>
            <a:ext cx="502920" cy="502920"/>
          </a:xfrm>
          <a:prstGeom prst="rect">
            <a:avLst/>
          </a:prstGeom>
        </p:spPr>
      </p:pic>
      <p:sp>
        <p:nvSpPr>
          <p:cNvPr id="17" name="Text 14"/>
          <p:cNvSpPr/>
          <p:nvPr/>
        </p:nvSpPr>
        <p:spPr>
          <a:xfrm>
            <a:off x="1508760" y="1810512"/>
            <a:ext cx="2423160" cy="411480"/>
          </a:xfrm>
          <a:prstGeom prst="rect">
            <a:avLst/>
          </a:prstGeom>
          <a:noFill/>
          <a:ln/>
        </p:spPr>
        <p:txBody>
          <a:bodyPr wrap="square" lIns="0" tIns="0" rIns="0" bIns="0" rtlCol="0" anchor="ctr"/>
          <a:lstStyle/>
          <a:p>
            <a:pPr marL="0" indent="0">
              <a:buNone/>
            </a:pPr>
            <a:r>
              <a:rPr lang="en-US" sz="1600" b="1" dirty="0">
                <a:solidFill>
                  <a:srgbClr val="E2E8F0"/>
                </a:solidFill>
                <a:latin typeface="Arial" pitchFamily="34" charset="0"/>
                <a:ea typeface="Arial" pitchFamily="34" charset="-122"/>
                <a:cs typeface="Arial" pitchFamily="34" charset="-120"/>
              </a:rPr>
              <a:t>62,368 docs</a:t>
            </a:r>
            <a:endParaRPr lang="en-US" sz="1600" dirty="0"/>
          </a:p>
        </p:txBody>
      </p:sp>
      <p:sp>
        <p:nvSpPr>
          <p:cNvPr id="18" name="Text 15"/>
          <p:cNvSpPr/>
          <p:nvPr/>
        </p:nvSpPr>
        <p:spPr>
          <a:xfrm>
            <a:off x="1508760" y="2267712"/>
            <a:ext cx="2423160" cy="27432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cleaned reviews</a:t>
            </a:r>
            <a:endParaRPr lang="en-US" sz="1050" dirty="0"/>
          </a:p>
        </p:txBody>
      </p:sp>
      <p:sp>
        <p:nvSpPr>
          <p:cNvPr id="19" name="Text 16"/>
          <p:cNvSpPr/>
          <p:nvPr/>
        </p:nvSpPr>
        <p:spPr>
          <a:xfrm>
            <a:off x="4023360" y="1965960"/>
            <a:ext cx="347472"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4379976" y="1600200"/>
            <a:ext cx="3429000" cy="1234440"/>
          </a:xfrm>
          <a:prstGeom prst="roundRect">
            <a:avLst>
              <a:gd name="adj" fmla="val 6667"/>
            </a:avLst>
          </a:prstGeom>
          <a:solidFill>
            <a:srgbClr val="1B1F31"/>
          </a:solidFill>
          <a:ln w="9525">
            <a:solidFill>
              <a:srgbClr val="2A3047"/>
            </a:solidFill>
            <a:prstDash val="solid"/>
          </a:ln>
        </p:spPr>
        <p:txBody>
          <a:bodyPr/>
          <a:lstStyle/>
          <a:p>
            <a:endParaRPr lang="en-US"/>
          </a:p>
        </p:txBody>
      </p:sp>
      <p:pic>
        <p:nvPicPr>
          <p:cNvPr id="21" name="Image 1" descr="icons/hash.png"/>
          <p:cNvPicPr>
            <a:picLocks noChangeAspect="1"/>
          </p:cNvPicPr>
          <p:nvPr/>
        </p:nvPicPr>
        <p:blipFill>
          <a:blip r:embed="rId5"/>
          <a:stretch>
            <a:fillRect/>
          </a:stretch>
        </p:blipFill>
        <p:spPr>
          <a:xfrm>
            <a:off x="4636008" y="1920240"/>
            <a:ext cx="502920" cy="502920"/>
          </a:xfrm>
          <a:prstGeom prst="rect">
            <a:avLst/>
          </a:prstGeom>
        </p:spPr>
      </p:pic>
      <p:sp>
        <p:nvSpPr>
          <p:cNvPr id="22" name="Text 18"/>
          <p:cNvSpPr/>
          <p:nvPr/>
        </p:nvSpPr>
        <p:spPr>
          <a:xfrm>
            <a:off x="5294376" y="1810512"/>
            <a:ext cx="2423160" cy="411480"/>
          </a:xfrm>
          <a:prstGeom prst="rect">
            <a:avLst/>
          </a:prstGeom>
          <a:noFill/>
          <a:ln/>
        </p:spPr>
        <p:txBody>
          <a:bodyPr wrap="square" lIns="0" tIns="0" rIns="0" bIns="0" rtlCol="0" anchor="ctr"/>
          <a:lstStyle/>
          <a:p>
            <a:pPr marL="0" indent="0">
              <a:buNone/>
            </a:pPr>
            <a:r>
              <a:rPr lang="en-US" sz="1400" b="1" dirty="0">
                <a:solidFill>
                  <a:srgbClr val="FACC15"/>
                </a:solidFill>
                <a:latin typeface="Courier New" pitchFamily="34" charset="0"/>
                <a:ea typeface="Courier New" pitchFamily="34" charset="-122"/>
                <a:cs typeface="Courier New" pitchFamily="34" charset="-120"/>
              </a:rPr>
              <a:t>TF × log(N/df)</a:t>
            </a:r>
            <a:endParaRPr lang="en-US" sz="1400" dirty="0"/>
          </a:p>
        </p:txBody>
      </p:sp>
      <p:sp>
        <p:nvSpPr>
          <p:cNvPr id="23" name="Text 19"/>
          <p:cNvSpPr/>
          <p:nvPr/>
        </p:nvSpPr>
        <p:spPr>
          <a:xfrm>
            <a:off x="5294376" y="2267712"/>
            <a:ext cx="2423160" cy="27432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the lecture formula</a:t>
            </a:r>
            <a:endParaRPr lang="en-US" sz="1050" dirty="0"/>
          </a:p>
        </p:txBody>
      </p:sp>
      <p:sp>
        <p:nvSpPr>
          <p:cNvPr id="24" name="Text 20"/>
          <p:cNvSpPr/>
          <p:nvPr/>
        </p:nvSpPr>
        <p:spPr>
          <a:xfrm>
            <a:off x="7808976" y="1965960"/>
            <a:ext cx="347472"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5" name="Shape 21"/>
          <p:cNvSpPr/>
          <p:nvPr/>
        </p:nvSpPr>
        <p:spPr>
          <a:xfrm>
            <a:off x="8165592" y="1600200"/>
            <a:ext cx="3429000" cy="1234440"/>
          </a:xfrm>
          <a:prstGeom prst="roundRect">
            <a:avLst>
              <a:gd name="adj" fmla="val 6667"/>
            </a:avLst>
          </a:prstGeom>
          <a:solidFill>
            <a:srgbClr val="1B1F31"/>
          </a:solidFill>
          <a:ln w="9525">
            <a:solidFill>
              <a:srgbClr val="2A3047"/>
            </a:solidFill>
            <a:prstDash val="solid"/>
          </a:ln>
        </p:spPr>
        <p:txBody>
          <a:bodyPr/>
          <a:lstStyle/>
          <a:p>
            <a:endParaRPr lang="en-US"/>
          </a:p>
        </p:txBody>
      </p:sp>
      <p:pic>
        <p:nvPicPr>
          <p:cNvPr id="26" name="Image 2" descr="icons/layers.png"/>
          <p:cNvPicPr>
            <a:picLocks noChangeAspect="1"/>
          </p:cNvPicPr>
          <p:nvPr/>
        </p:nvPicPr>
        <p:blipFill>
          <a:blip r:embed="rId6"/>
          <a:stretch>
            <a:fillRect/>
          </a:stretch>
        </p:blipFill>
        <p:spPr>
          <a:xfrm>
            <a:off x="8421624" y="1920240"/>
            <a:ext cx="502920" cy="502920"/>
          </a:xfrm>
          <a:prstGeom prst="rect">
            <a:avLst/>
          </a:prstGeom>
        </p:spPr>
      </p:pic>
      <p:sp>
        <p:nvSpPr>
          <p:cNvPr id="27" name="Text 22"/>
          <p:cNvSpPr/>
          <p:nvPr/>
        </p:nvSpPr>
        <p:spPr>
          <a:xfrm>
            <a:off x="9079992" y="1810512"/>
            <a:ext cx="2423160" cy="411480"/>
          </a:xfrm>
          <a:prstGeom prst="rect">
            <a:avLst/>
          </a:prstGeom>
          <a:noFill/>
          <a:ln/>
        </p:spPr>
        <p:txBody>
          <a:bodyPr wrap="square" lIns="0" tIns="0" rIns="0" bIns="0" rtlCol="0" anchor="ctr"/>
          <a:lstStyle/>
          <a:p>
            <a:pPr marL="0" indent="0">
              <a:buNone/>
            </a:pPr>
            <a:r>
              <a:rPr lang="en-US" sz="1600" b="1" dirty="0">
                <a:solidFill>
                  <a:srgbClr val="E2E8F0"/>
                </a:solidFill>
                <a:latin typeface="Arial" pitchFamily="34" charset="0"/>
                <a:ea typeface="Arial" pitchFamily="34" charset="-122"/>
                <a:cs typeface="Arial" pitchFamily="34" charset="-120"/>
              </a:rPr>
              <a:t>62,368 × 8,000</a:t>
            </a:r>
            <a:endParaRPr lang="en-US" sz="1600" dirty="0"/>
          </a:p>
        </p:txBody>
      </p:sp>
      <p:sp>
        <p:nvSpPr>
          <p:cNvPr id="28" name="Text 23"/>
          <p:cNvSpPr/>
          <p:nvPr/>
        </p:nvSpPr>
        <p:spPr>
          <a:xfrm>
            <a:off x="9079992" y="2267712"/>
            <a:ext cx="2423160" cy="27432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sparse matrix · 99.7% zero</a:t>
            </a:r>
            <a:endParaRPr lang="en-US" sz="1050" dirty="0"/>
          </a:p>
        </p:txBody>
      </p:sp>
      <p:sp>
        <p:nvSpPr>
          <p:cNvPr id="29" name="Shape 24"/>
          <p:cNvSpPr/>
          <p:nvPr/>
        </p:nvSpPr>
        <p:spPr>
          <a:xfrm>
            <a:off x="594360" y="3108960"/>
            <a:ext cx="5532120" cy="2423160"/>
          </a:xfrm>
          <a:prstGeom prst="roundRect">
            <a:avLst>
              <a:gd name="adj" fmla="val 3396"/>
            </a:avLst>
          </a:prstGeom>
          <a:solidFill>
            <a:srgbClr val="151827"/>
          </a:solidFill>
          <a:ln w="9525">
            <a:solidFill>
              <a:srgbClr val="2A3047"/>
            </a:solidFill>
            <a:prstDash val="solid"/>
          </a:ln>
        </p:spPr>
        <p:txBody>
          <a:bodyPr/>
          <a:lstStyle/>
          <a:p>
            <a:endParaRPr lang="en-US"/>
          </a:p>
        </p:txBody>
      </p:sp>
      <p:sp>
        <p:nvSpPr>
          <p:cNvPr id="30" name="Text 25"/>
          <p:cNvSpPr/>
          <p:nvPr/>
        </p:nvSpPr>
        <p:spPr>
          <a:xfrm>
            <a:off x="868680" y="3246120"/>
            <a:ext cx="4937760" cy="256032"/>
          </a:xfrm>
          <a:prstGeom prst="rect">
            <a:avLst/>
          </a:prstGeom>
          <a:noFill/>
          <a:ln/>
        </p:spPr>
        <p:txBody>
          <a:bodyPr wrap="square" lIns="0" tIns="0" rIns="0" bIns="0" rtlCol="0" anchor="ctr"/>
          <a:lstStyle/>
          <a:p>
            <a:pPr marL="0" indent="0">
              <a:buNone/>
            </a:pPr>
            <a:r>
              <a:rPr lang="en-US" sz="1100" b="1" dirty="0">
                <a:solidFill>
                  <a:srgbClr val="34D399"/>
                </a:solidFill>
                <a:latin typeface="Arial" pitchFamily="34" charset="0"/>
                <a:ea typeface="Arial" pitchFamily="34" charset="-122"/>
                <a:cs typeface="Arial" pitchFamily="34" charset="-120"/>
              </a:rPr>
              <a:t>Top positive-class terms (mean tf-idf)</a:t>
            </a:r>
            <a:endParaRPr lang="en-US" sz="1100" dirty="0"/>
          </a:p>
        </p:txBody>
      </p:sp>
      <p:graphicFrame>
        <p:nvGraphicFramePr>
          <p:cNvPr id="31" name="Chart 0"/>
          <p:cNvGraphicFramePr/>
          <p:nvPr/>
        </p:nvGraphicFramePr>
        <p:xfrm>
          <a:off x="777240" y="3520440"/>
          <a:ext cx="5120640" cy="1828800"/>
        </p:xfrm>
        <a:graphic>
          <a:graphicData uri="http://schemas.openxmlformats.org/drawingml/2006/chart">
            <c:chart xmlns:c="http://schemas.openxmlformats.org/drawingml/2006/chart" xmlns:r="http://schemas.openxmlformats.org/officeDocument/2006/relationships" r:id="rId7"/>
          </a:graphicData>
        </a:graphic>
      </p:graphicFrame>
      <p:sp>
        <p:nvSpPr>
          <p:cNvPr id="32" name="Shape 26"/>
          <p:cNvSpPr/>
          <p:nvPr/>
        </p:nvSpPr>
        <p:spPr>
          <a:xfrm>
            <a:off x="6355080" y="3108960"/>
            <a:ext cx="5239512" cy="2423160"/>
          </a:xfrm>
          <a:prstGeom prst="roundRect">
            <a:avLst>
              <a:gd name="adj" fmla="val 3396"/>
            </a:avLst>
          </a:prstGeom>
          <a:solidFill>
            <a:srgbClr val="151827"/>
          </a:solidFill>
          <a:ln w="9525">
            <a:solidFill>
              <a:srgbClr val="2A3047"/>
            </a:solidFill>
            <a:prstDash val="solid"/>
          </a:ln>
        </p:spPr>
        <p:txBody>
          <a:bodyPr/>
          <a:lstStyle/>
          <a:p>
            <a:endParaRPr lang="en-US"/>
          </a:p>
        </p:txBody>
      </p:sp>
      <p:sp>
        <p:nvSpPr>
          <p:cNvPr id="33" name="Text 27"/>
          <p:cNvSpPr/>
          <p:nvPr/>
        </p:nvSpPr>
        <p:spPr>
          <a:xfrm>
            <a:off x="6629400" y="3246120"/>
            <a:ext cx="4754880" cy="256032"/>
          </a:xfrm>
          <a:prstGeom prst="rect">
            <a:avLst/>
          </a:prstGeom>
          <a:noFill/>
          <a:ln/>
        </p:spPr>
        <p:txBody>
          <a:bodyPr wrap="square" lIns="0" tIns="0" rIns="0" bIns="0" rtlCol="0" anchor="ctr"/>
          <a:lstStyle/>
          <a:p>
            <a:pPr marL="0" indent="0">
              <a:buNone/>
            </a:pPr>
            <a:r>
              <a:rPr lang="en-US" sz="1100" b="1" dirty="0">
                <a:solidFill>
                  <a:srgbClr val="F87171"/>
                </a:solidFill>
                <a:latin typeface="Arial" pitchFamily="34" charset="0"/>
                <a:ea typeface="Arial" pitchFamily="34" charset="-122"/>
                <a:cs typeface="Arial" pitchFamily="34" charset="-120"/>
              </a:rPr>
              <a:t>Top negative-class terms (mean tf-idf)</a:t>
            </a:r>
            <a:endParaRPr lang="en-US" sz="1100" dirty="0"/>
          </a:p>
        </p:txBody>
      </p:sp>
      <p:graphicFrame>
        <p:nvGraphicFramePr>
          <p:cNvPr id="34" name="Chart 1"/>
          <p:cNvGraphicFramePr/>
          <p:nvPr/>
        </p:nvGraphicFramePr>
        <p:xfrm>
          <a:off x="6537960" y="3520440"/>
          <a:ext cx="4892040"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35" name="Shape 28"/>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36" name="Text 29"/>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“not” is the 2nd-strongest negative term  protecting it from stop-word removal paid off.</a:t>
            </a:r>
            <a:endParaRPr lang="en-US" sz="1250" dirty="0"/>
          </a:p>
        </p:txBody>
      </p:sp>
      <p:sp>
        <p:nvSpPr>
          <p:cNvPr id="37" name="Text 30"/>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8" name="Text 31"/>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09</a:t>
            </a:r>
            <a:endParaRPr lang="en-US" sz="900" dirty="0"/>
          </a:p>
        </p:txBody>
      </p:sp>
      <p:pic>
        <p:nvPicPr>
          <p:cNvPr id="39" name="Image 3" descr="logo_dark.png"/>
          <p:cNvPicPr>
            <a:picLocks noChangeAspect="1"/>
          </p:cNvPicPr>
          <p:nvPr/>
        </p:nvPicPr>
        <p:blipFill>
          <a:blip r:embed="rId9"/>
          <a:stretch>
            <a:fillRect/>
          </a:stretch>
        </p:blipFill>
        <p:spPr>
          <a:xfrm>
            <a:off x="10222992" y="6236208"/>
            <a:ext cx="868680" cy="50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2 · SUPERVISED MACHINE LEARNING</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Sentiment Classification with Logistic Regression</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M12</a:t>
            </a:r>
            <a:endParaRPr lang="en-US" sz="1050" dirty="0"/>
          </a:p>
        </p:txBody>
      </p:sp>
      <p:sp>
        <p:nvSpPr>
          <p:cNvPr id="15" name="Shape 13"/>
          <p:cNvSpPr/>
          <p:nvPr/>
        </p:nvSpPr>
        <p:spPr>
          <a:xfrm>
            <a:off x="594360" y="1554480"/>
            <a:ext cx="3429000" cy="1051560"/>
          </a:xfrm>
          <a:prstGeom prst="roundRect">
            <a:avLst>
              <a:gd name="adj" fmla="val 7826"/>
            </a:avLst>
          </a:prstGeom>
          <a:solidFill>
            <a:srgbClr val="151827"/>
          </a:solidFill>
          <a:ln w="9525">
            <a:solidFill>
              <a:srgbClr val="2A3047"/>
            </a:solidFill>
            <a:prstDash val="solid"/>
          </a:ln>
        </p:spPr>
        <p:txBody>
          <a:bodyPr/>
          <a:lstStyle/>
          <a:p>
            <a:endParaRPr lang="en-US"/>
          </a:p>
        </p:txBody>
      </p:sp>
      <p:pic>
        <p:nvPicPr>
          <p:cNvPr id="16" name="Image 0" descr="icons/cpu.png"/>
          <p:cNvPicPr>
            <a:picLocks noChangeAspect="1"/>
          </p:cNvPicPr>
          <p:nvPr/>
        </p:nvPicPr>
        <p:blipFill>
          <a:blip r:embed="rId4"/>
          <a:stretch>
            <a:fillRect/>
          </a:stretch>
        </p:blipFill>
        <p:spPr>
          <a:xfrm>
            <a:off x="868680" y="1810512"/>
            <a:ext cx="502920" cy="502920"/>
          </a:xfrm>
          <a:prstGeom prst="rect">
            <a:avLst/>
          </a:prstGeom>
        </p:spPr>
      </p:pic>
      <p:sp>
        <p:nvSpPr>
          <p:cNvPr id="17" name="Text 14"/>
          <p:cNvSpPr/>
          <p:nvPr/>
        </p:nvSpPr>
        <p:spPr>
          <a:xfrm>
            <a:off x="1554480" y="1691640"/>
            <a:ext cx="2286000" cy="548640"/>
          </a:xfrm>
          <a:prstGeom prst="rect">
            <a:avLst/>
          </a:prstGeom>
          <a:noFill/>
          <a:ln/>
        </p:spPr>
        <p:txBody>
          <a:bodyPr wrap="square" lIns="0" tIns="0" rIns="0" bIns="0" rtlCol="0" anchor="ctr"/>
          <a:lstStyle/>
          <a:p>
            <a:pPr marL="0" indent="0">
              <a:buNone/>
            </a:pPr>
            <a:r>
              <a:rPr lang="en-US" sz="3200" b="1" dirty="0">
                <a:solidFill>
                  <a:srgbClr val="34D399"/>
                </a:solidFill>
                <a:latin typeface="Arial" pitchFamily="34" charset="0"/>
                <a:ea typeface="Arial" pitchFamily="34" charset="-122"/>
                <a:cs typeface="Arial" pitchFamily="34" charset="-120"/>
              </a:rPr>
              <a:t>95.3%</a:t>
            </a:r>
            <a:endParaRPr lang="en-US" sz="3200" dirty="0"/>
          </a:p>
        </p:txBody>
      </p:sp>
      <p:sp>
        <p:nvSpPr>
          <p:cNvPr id="18" name="Text 15"/>
          <p:cNvSpPr/>
          <p:nvPr/>
        </p:nvSpPr>
        <p:spPr>
          <a:xfrm>
            <a:off x="1572768" y="2240280"/>
            <a:ext cx="237744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test accuracy · 12,474 reviews</a:t>
            </a:r>
            <a:endParaRPr lang="en-US" sz="1000" dirty="0"/>
          </a:p>
        </p:txBody>
      </p:sp>
      <p:pic>
        <p:nvPicPr>
          <p:cNvPr id="19" name="Image 1" descr="confusion_matrix.png"/>
          <p:cNvPicPr>
            <a:picLocks noChangeAspect="1"/>
          </p:cNvPicPr>
          <p:nvPr/>
        </p:nvPicPr>
        <p:blipFill>
          <a:blip r:embed="rId5"/>
          <a:stretch>
            <a:fillRect/>
          </a:stretch>
        </p:blipFill>
        <p:spPr>
          <a:xfrm>
            <a:off x="594360" y="2788920"/>
            <a:ext cx="3429000" cy="2560320"/>
          </a:xfrm>
          <a:prstGeom prst="rect">
            <a:avLst/>
          </a:prstGeom>
        </p:spPr>
      </p:pic>
      <p:sp>
        <p:nvSpPr>
          <p:cNvPr id="20" name="Shape 16"/>
          <p:cNvSpPr/>
          <p:nvPr/>
        </p:nvSpPr>
        <p:spPr>
          <a:xfrm>
            <a:off x="4251960" y="1554480"/>
            <a:ext cx="7342632" cy="3794760"/>
          </a:xfrm>
          <a:prstGeom prst="roundRect">
            <a:avLst>
              <a:gd name="adj" fmla="val 2169"/>
            </a:avLst>
          </a:prstGeom>
          <a:solidFill>
            <a:srgbClr val="151827"/>
          </a:solidFill>
          <a:ln w="9525">
            <a:solidFill>
              <a:srgbClr val="2A3047"/>
            </a:solidFill>
            <a:prstDash val="solid"/>
          </a:ln>
        </p:spPr>
        <p:txBody>
          <a:bodyPr/>
          <a:lstStyle/>
          <a:p>
            <a:endParaRPr lang="en-US"/>
          </a:p>
        </p:txBody>
      </p:sp>
      <p:sp>
        <p:nvSpPr>
          <p:cNvPr id="21" name="Text 17"/>
          <p:cNvSpPr/>
          <p:nvPr/>
        </p:nvSpPr>
        <p:spPr>
          <a:xfrm>
            <a:off x="4526280" y="1709928"/>
            <a:ext cx="6766560" cy="256032"/>
          </a:xfrm>
          <a:prstGeom prst="rect">
            <a:avLst/>
          </a:prstGeom>
          <a:noFill/>
          <a:ln/>
        </p:spPr>
        <p:txBody>
          <a:bodyPr wrap="square" lIns="0" tIns="0" rIns="0" bIns="0" rtlCol="0" anchor="ctr"/>
          <a:lstStyle/>
          <a:p>
            <a:pPr marL="0" indent="0">
              <a:buNone/>
            </a:pPr>
            <a:r>
              <a:rPr lang="en-US" sz="1000" b="1" kern="0" spc="150" dirty="0">
                <a:solidFill>
                  <a:srgbClr val="22D3EE"/>
                </a:solidFill>
                <a:latin typeface="Arial" pitchFamily="34" charset="0"/>
                <a:ea typeface="Arial" pitchFamily="34" charset="-122"/>
                <a:cs typeface="Arial" pitchFamily="34" charset="-120"/>
              </a:rPr>
              <a:t>WHAT THE MODEL LEARNED  LOGISTIC REGRESSION COEFFICIENTS</a:t>
            </a:r>
            <a:endParaRPr lang="en-US" sz="1000" dirty="0"/>
          </a:p>
        </p:txBody>
      </p:sp>
      <p:sp>
        <p:nvSpPr>
          <p:cNvPr id="22" name="Text 18"/>
          <p:cNvSpPr/>
          <p:nvPr/>
        </p:nvSpPr>
        <p:spPr>
          <a:xfrm>
            <a:off x="4526280" y="2029968"/>
            <a:ext cx="3291840" cy="256032"/>
          </a:xfrm>
          <a:prstGeom prst="rect">
            <a:avLst/>
          </a:prstGeom>
          <a:noFill/>
          <a:ln/>
        </p:spPr>
        <p:txBody>
          <a:bodyPr wrap="square" lIns="0" tIns="0" rIns="0" bIns="0" rtlCol="0" anchor="ctr"/>
          <a:lstStyle/>
          <a:p>
            <a:pPr marL="0" indent="0">
              <a:buNone/>
            </a:pPr>
            <a:r>
              <a:rPr lang="en-US" sz="1150" b="1" dirty="0">
                <a:solidFill>
                  <a:srgbClr val="34D399"/>
                </a:solidFill>
                <a:latin typeface="Arial" pitchFamily="34" charset="0"/>
                <a:ea typeface="Arial" pitchFamily="34" charset="-122"/>
                <a:cs typeface="Arial" pitchFamily="34" charset="-120"/>
              </a:rPr>
              <a:t>Positive drivers ▲</a:t>
            </a:r>
            <a:endParaRPr lang="en-US" sz="1150" dirty="0"/>
          </a:p>
        </p:txBody>
      </p:sp>
      <p:graphicFrame>
        <p:nvGraphicFramePr>
          <p:cNvPr id="23" name="Chart 0"/>
          <p:cNvGraphicFramePr/>
          <p:nvPr/>
        </p:nvGraphicFramePr>
        <p:xfrm>
          <a:off x="4434840" y="2331720"/>
          <a:ext cx="34747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 19"/>
          <p:cNvSpPr/>
          <p:nvPr/>
        </p:nvSpPr>
        <p:spPr>
          <a:xfrm>
            <a:off x="8183880" y="2029968"/>
            <a:ext cx="3291840" cy="256032"/>
          </a:xfrm>
          <a:prstGeom prst="rect">
            <a:avLst/>
          </a:prstGeom>
          <a:noFill/>
          <a:ln/>
        </p:spPr>
        <p:txBody>
          <a:bodyPr wrap="square" lIns="0" tIns="0" rIns="0" bIns="0" rtlCol="0" anchor="ctr"/>
          <a:lstStyle/>
          <a:p>
            <a:pPr marL="0" indent="0">
              <a:buNone/>
            </a:pPr>
            <a:r>
              <a:rPr lang="en-US" sz="1150" b="1" dirty="0">
                <a:solidFill>
                  <a:srgbClr val="F87171"/>
                </a:solidFill>
                <a:latin typeface="Arial" pitchFamily="34" charset="0"/>
                <a:ea typeface="Arial" pitchFamily="34" charset="-122"/>
                <a:cs typeface="Arial" pitchFamily="34" charset="-120"/>
              </a:rPr>
              <a:t>Negative drivers ▼</a:t>
            </a:r>
            <a:endParaRPr lang="en-US" sz="1150" dirty="0"/>
          </a:p>
        </p:txBody>
      </p:sp>
      <p:graphicFrame>
        <p:nvGraphicFramePr>
          <p:cNvPr id="25" name="Chart 1"/>
          <p:cNvGraphicFramePr/>
          <p:nvPr/>
        </p:nvGraphicFramePr>
        <p:xfrm>
          <a:off x="8092440" y="2331720"/>
          <a:ext cx="34747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6" name="Text 20"/>
          <p:cNvSpPr/>
          <p:nvPr/>
        </p:nvSpPr>
        <p:spPr>
          <a:xfrm>
            <a:off x="4526280" y="4892040"/>
            <a:ext cx="6766560" cy="274320"/>
          </a:xfrm>
          <a:prstGeom prst="rect">
            <a:avLst/>
          </a:prstGeom>
          <a:noFill/>
          <a:ln/>
        </p:spPr>
        <p:txBody>
          <a:bodyPr wrap="square" lIns="0" tIns="0" rIns="0" bIns="0" rtlCol="0" anchor="ctr"/>
          <a:lstStyle/>
          <a:p>
            <a:pPr marL="0" indent="0">
              <a:buNone/>
            </a:pPr>
            <a:r>
              <a:rPr lang="en-US" sz="1050" i="1" dirty="0">
                <a:solidFill>
                  <a:srgbClr val="94A3B8"/>
                </a:solidFill>
                <a:latin typeface="Arial" pitchFamily="34" charset="0"/>
                <a:ea typeface="Arial" pitchFamily="34" charset="-122"/>
                <a:cs typeface="Arial" pitchFamily="34" charset="-120"/>
              </a:rPr>
              <a:t>“choom” = Cyberpunk slang for friend  the model learned the game's own language.</a:t>
            </a:r>
            <a:endParaRPr lang="en-US" sz="1050" dirty="0"/>
          </a:p>
        </p:txBody>
      </p:sp>
      <p:sp>
        <p:nvSpPr>
          <p:cNvPr id="27" name="Shape 21"/>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28" name="Text 22"/>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Fully interpretable  but 95/5 class imbalance caps negative recall at 0.40 (a data property, not a model failure).</a:t>
            </a:r>
            <a:endParaRPr lang="en-US" sz="1250" dirty="0"/>
          </a:p>
        </p:txBody>
      </p:sp>
      <p:sp>
        <p:nvSpPr>
          <p:cNvPr id="29" name="Text 23"/>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0" name="Text 24"/>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10</a:t>
            </a:r>
            <a:endParaRPr lang="en-US" sz="900" dirty="0"/>
          </a:p>
        </p:txBody>
      </p:sp>
      <p:pic>
        <p:nvPicPr>
          <p:cNvPr id="31" name="Image 2" descr="logo_dark.png"/>
          <p:cNvPicPr>
            <a:picLocks noChangeAspect="1"/>
          </p:cNvPicPr>
          <p:nvPr/>
        </p:nvPicPr>
        <p:blipFill>
          <a:blip r:embed="rId8"/>
          <a:stretch>
            <a:fillRect/>
          </a:stretch>
        </p:blipFill>
        <p:spPr>
          <a:xfrm>
            <a:off x="10222992" y="6236208"/>
            <a:ext cx="868680" cy="502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3 · MEANING AS GEOMETRY</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Word2Vec: Semantic Clusters from Context Alone</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M13</a:t>
            </a:r>
            <a:endParaRPr lang="en-US" sz="1050" dirty="0"/>
          </a:p>
        </p:txBody>
      </p:sp>
      <p:sp>
        <p:nvSpPr>
          <p:cNvPr id="15" name="Shape 13"/>
          <p:cNvSpPr/>
          <p:nvPr/>
        </p:nvSpPr>
        <p:spPr>
          <a:xfrm>
            <a:off x="594360" y="1554480"/>
            <a:ext cx="2240280" cy="2286000"/>
          </a:xfrm>
          <a:prstGeom prst="roundRect">
            <a:avLst>
              <a:gd name="adj" fmla="val 3673"/>
            </a:avLst>
          </a:prstGeom>
          <a:solidFill>
            <a:srgbClr val="151827"/>
          </a:solidFill>
          <a:ln w="15875">
            <a:solidFill>
              <a:srgbClr val="A78BFA"/>
            </a:solidFill>
            <a:prstDash val="solid"/>
          </a:ln>
        </p:spPr>
        <p:txBody>
          <a:bodyPr/>
          <a:lstStyle/>
          <a:p>
            <a:endParaRPr lang="en-US"/>
          </a:p>
        </p:txBody>
      </p:sp>
      <p:sp>
        <p:nvSpPr>
          <p:cNvPr id="16" name="Text 14"/>
          <p:cNvSpPr/>
          <p:nvPr/>
        </p:nvSpPr>
        <p:spPr>
          <a:xfrm>
            <a:off x="731520" y="1691640"/>
            <a:ext cx="1965960" cy="274320"/>
          </a:xfrm>
          <a:prstGeom prst="rect">
            <a:avLst/>
          </a:prstGeom>
          <a:noFill/>
          <a:ln/>
        </p:spPr>
        <p:txBody>
          <a:bodyPr wrap="square" lIns="0" tIns="0" rIns="0" bIns="0" rtlCol="0" anchor="ctr"/>
          <a:lstStyle/>
          <a:p>
            <a:pPr marL="0" indent="0" algn="ctr">
              <a:buNone/>
            </a:pPr>
            <a:r>
              <a:rPr lang="en-US" sz="1150" b="1" dirty="0">
                <a:solidFill>
                  <a:srgbClr val="A78BFA"/>
                </a:solidFill>
                <a:latin typeface="Arial" pitchFamily="34" charset="0"/>
                <a:ea typeface="Arial" pitchFamily="34" charset="-122"/>
                <a:cs typeface="Arial" pitchFamily="34" charset="-120"/>
              </a:rPr>
              <a:t>Technical issues</a:t>
            </a:r>
            <a:endParaRPr lang="en-US" sz="1150" dirty="0"/>
          </a:p>
        </p:txBody>
      </p:sp>
      <p:sp>
        <p:nvSpPr>
          <p:cNvPr id="17" name="Shape 15"/>
          <p:cNvSpPr/>
          <p:nvPr/>
        </p:nvSpPr>
        <p:spPr>
          <a:xfrm>
            <a:off x="850392" y="2103120"/>
            <a:ext cx="868680" cy="402336"/>
          </a:xfrm>
          <a:prstGeom prst="roundRect">
            <a:avLst>
              <a:gd name="adj" fmla="val 50000"/>
            </a:avLst>
          </a:prstGeom>
          <a:solidFill>
            <a:srgbClr val="1B1F31"/>
          </a:solidFill>
          <a:ln w="9525">
            <a:solidFill>
              <a:srgbClr val="A78BFA"/>
            </a:solidFill>
            <a:prstDash val="solid"/>
          </a:ln>
        </p:spPr>
        <p:txBody>
          <a:bodyPr/>
          <a:lstStyle/>
          <a:p>
            <a:endParaRPr lang="en-US"/>
          </a:p>
        </p:txBody>
      </p:sp>
      <p:sp>
        <p:nvSpPr>
          <p:cNvPr id="18" name="Text 16"/>
          <p:cNvSpPr/>
          <p:nvPr/>
        </p:nvSpPr>
        <p:spPr>
          <a:xfrm>
            <a:off x="850392"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bug</a:t>
            </a:r>
            <a:endParaRPr lang="en-US" sz="850" dirty="0"/>
          </a:p>
        </p:txBody>
      </p:sp>
      <p:sp>
        <p:nvSpPr>
          <p:cNvPr id="19" name="Shape 17"/>
          <p:cNvSpPr/>
          <p:nvPr/>
        </p:nvSpPr>
        <p:spPr>
          <a:xfrm>
            <a:off x="1764792" y="2103120"/>
            <a:ext cx="868680" cy="402336"/>
          </a:xfrm>
          <a:prstGeom prst="roundRect">
            <a:avLst>
              <a:gd name="adj" fmla="val 50000"/>
            </a:avLst>
          </a:prstGeom>
          <a:solidFill>
            <a:srgbClr val="1B1F31"/>
          </a:solidFill>
          <a:ln w="9525">
            <a:solidFill>
              <a:srgbClr val="A78BFA"/>
            </a:solidFill>
            <a:prstDash val="solid"/>
          </a:ln>
        </p:spPr>
        <p:txBody>
          <a:bodyPr/>
          <a:lstStyle/>
          <a:p>
            <a:endParaRPr lang="en-US"/>
          </a:p>
        </p:txBody>
      </p:sp>
      <p:sp>
        <p:nvSpPr>
          <p:cNvPr id="20" name="Text 18"/>
          <p:cNvSpPr/>
          <p:nvPr/>
        </p:nvSpPr>
        <p:spPr>
          <a:xfrm>
            <a:off x="1764792"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glitch .85</a:t>
            </a:r>
            <a:endParaRPr lang="en-US" sz="850" dirty="0"/>
          </a:p>
        </p:txBody>
      </p:sp>
      <p:sp>
        <p:nvSpPr>
          <p:cNvPr id="21" name="Shape 19"/>
          <p:cNvSpPr/>
          <p:nvPr/>
        </p:nvSpPr>
        <p:spPr>
          <a:xfrm>
            <a:off x="850392" y="2670048"/>
            <a:ext cx="868680" cy="402336"/>
          </a:xfrm>
          <a:prstGeom prst="roundRect">
            <a:avLst>
              <a:gd name="adj" fmla="val 50000"/>
            </a:avLst>
          </a:prstGeom>
          <a:solidFill>
            <a:srgbClr val="1B1F31"/>
          </a:solidFill>
          <a:ln w="9525">
            <a:solidFill>
              <a:srgbClr val="A78BFA"/>
            </a:solidFill>
            <a:prstDash val="solid"/>
          </a:ln>
        </p:spPr>
        <p:txBody>
          <a:bodyPr/>
          <a:lstStyle/>
          <a:p>
            <a:endParaRPr lang="en-US"/>
          </a:p>
        </p:txBody>
      </p:sp>
      <p:sp>
        <p:nvSpPr>
          <p:cNvPr id="22" name="Text 20"/>
          <p:cNvSpPr/>
          <p:nvPr/>
        </p:nvSpPr>
        <p:spPr>
          <a:xfrm>
            <a:off x="850392"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crash</a:t>
            </a:r>
            <a:endParaRPr lang="en-US" sz="850" dirty="0"/>
          </a:p>
        </p:txBody>
      </p:sp>
      <p:sp>
        <p:nvSpPr>
          <p:cNvPr id="23" name="Shape 21"/>
          <p:cNvSpPr/>
          <p:nvPr/>
        </p:nvSpPr>
        <p:spPr>
          <a:xfrm>
            <a:off x="1764792" y="2670048"/>
            <a:ext cx="868680" cy="402336"/>
          </a:xfrm>
          <a:prstGeom prst="roundRect">
            <a:avLst>
              <a:gd name="adj" fmla="val 50000"/>
            </a:avLst>
          </a:prstGeom>
          <a:solidFill>
            <a:srgbClr val="1B1F31"/>
          </a:solidFill>
          <a:ln w="9525">
            <a:solidFill>
              <a:srgbClr val="A78BFA"/>
            </a:solidFill>
            <a:prstDash val="solid"/>
          </a:ln>
        </p:spPr>
        <p:txBody>
          <a:bodyPr/>
          <a:lstStyle/>
          <a:p>
            <a:endParaRPr lang="en-US"/>
          </a:p>
        </p:txBody>
      </p:sp>
      <p:sp>
        <p:nvSpPr>
          <p:cNvPr id="24" name="Text 22"/>
          <p:cNvSpPr/>
          <p:nvPr/>
        </p:nvSpPr>
        <p:spPr>
          <a:xfrm>
            <a:off x="1764792"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freeze .69</a:t>
            </a:r>
            <a:endParaRPr lang="en-US" sz="850" dirty="0"/>
          </a:p>
        </p:txBody>
      </p:sp>
      <p:sp>
        <p:nvSpPr>
          <p:cNvPr id="25" name="Shape 23"/>
          <p:cNvSpPr/>
          <p:nvPr/>
        </p:nvSpPr>
        <p:spPr>
          <a:xfrm>
            <a:off x="850392" y="3236976"/>
            <a:ext cx="868680" cy="402336"/>
          </a:xfrm>
          <a:prstGeom prst="roundRect">
            <a:avLst>
              <a:gd name="adj" fmla="val 50000"/>
            </a:avLst>
          </a:prstGeom>
          <a:solidFill>
            <a:srgbClr val="1B1F31"/>
          </a:solidFill>
          <a:ln w="9525">
            <a:solidFill>
              <a:srgbClr val="A78BFA"/>
            </a:solidFill>
            <a:prstDash val="solid"/>
          </a:ln>
        </p:spPr>
        <p:txBody>
          <a:bodyPr/>
          <a:lstStyle/>
          <a:p>
            <a:endParaRPr lang="en-US"/>
          </a:p>
        </p:txBody>
      </p:sp>
      <p:sp>
        <p:nvSpPr>
          <p:cNvPr id="26" name="Text 24"/>
          <p:cNvSpPr/>
          <p:nvPr/>
        </p:nvSpPr>
        <p:spPr>
          <a:xfrm>
            <a:off x="850392" y="3236976"/>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lag</a:t>
            </a:r>
            <a:endParaRPr lang="en-US" sz="850" dirty="0"/>
          </a:p>
        </p:txBody>
      </p:sp>
      <p:sp>
        <p:nvSpPr>
          <p:cNvPr id="27" name="Shape 25"/>
          <p:cNvSpPr/>
          <p:nvPr/>
        </p:nvSpPr>
        <p:spPr>
          <a:xfrm>
            <a:off x="2990088" y="1554480"/>
            <a:ext cx="2240280" cy="2286000"/>
          </a:xfrm>
          <a:prstGeom prst="roundRect">
            <a:avLst>
              <a:gd name="adj" fmla="val 3673"/>
            </a:avLst>
          </a:prstGeom>
          <a:solidFill>
            <a:srgbClr val="151827"/>
          </a:solidFill>
          <a:ln w="15875">
            <a:solidFill>
              <a:srgbClr val="34D399"/>
            </a:solidFill>
            <a:prstDash val="solid"/>
          </a:ln>
        </p:spPr>
        <p:txBody>
          <a:bodyPr/>
          <a:lstStyle/>
          <a:p>
            <a:endParaRPr lang="en-US"/>
          </a:p>
        </p:txBody>
      </p:sp>
      <p:sp>
        <p:nvSpPr>
          <p:cNvPr id="28" name="Text 26"/>
          <p:cNvSpPr/>
          <p:nvPr/>
        </p:nvSpPr>
        <p:spPr>
          <a:xfrm>
            <a:off x="3127248" y="1691640"/>
            <a:ext cx="1965960" cy="274320"/>
          </a:xfrm>
          <a:prstGeom prst="rect">
            <a:avLst/>
          </a:prstGeom>
          <a:noFill/>
          <a:ln/>
        </p:spPr>
        <p:txBody>
          <a:bodyPr wrap="square" lIns="0" tIns="0" rIns="0" bIns="0" rtlCol="0" anchor="ctr"/>
          <a:lstStyle/>
          <a:p>
            <a:pPr marL="0" indent="0" algn="ctr">
              <a:buNone/>
            </a:pPr>
            <a:r>
              <a:rPr lang="en-US" sz="1150" b="1" dirty="0">
                <a:solidFill>
                  <a:srgbClr val="34D399"/>
                </a:solidFill>
                <a:latin typeface="Arial" pitchFamily="34" charset="0"/>
                <a:ea typeface="Arial" pitchFamily="34" charset="-122"/>
                <a:cs typeface="Arial" pitchFamily="34" charset="-120"/>
              </a:rPr>
              <a:t>Praise</a:t>
            </a:r>
            <a:endParaRPr lang="en-US" sz="1150" dirty="0"/>
          </a:p>
        </p:txBody>
      </p:sp>
      <p:sp>
        <p:nvSpPr>
          <p:cNvPr id="29" name="Shape 27"/>
          <p:cNvSpPr/>
          <p:nvPr/>
        </p:nvSpPr>
        <p:spPr>
          <a:xfrm>
            <a:off x="3246120" y="2103120"/>
            <a:ext cx="868680" cy="402336"/>
          </a:xfrm>
          <a:prstGeom prst="roundRect">
            <a:avLst>
              <a:gd name="adj" fmla="val 50000"/>
            </a:avLst>
          </a:prstGeom>
          <a:solidFill>
            <a:srgbClr val="1B1F31"/>
          </a:solidFill>
          <a:ln w="9525">
            <a:solidFill>
              <a:srgbClr val="34D399"/>
            </a:solidFill>
            <a:prstDash val="solid"/>
          </a:ln>
        </p:spPr>
        <p:txBody>
          <a:bodyPr/>
          <a:lstStyle/>
          <a:p>
            <a:endParaRPr lang="en-US"/>
          </a:p>
        </p:txBody>
      </p:sp>
      <p:sp>
        <p:nvSpPr>
          <p:cNvPr id="30" name="Text 28"/>
          <p:cNvSpPr/>
          <p:nvPr/>
        </p:nvSpPr>
        <p:spPr>
          <a:xfrm>
            <a:off x="3246120"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beautiful</a:t>
            </a:r>
            <a:endParaRPr lang="en-US" sz="850" dirty="0"/>
          </a:p>
        </p:txBody>
      </p:sp>
      <p:sp>
        <p:nvSpPr>
          <p:cNvPr id="31" name="Shape 29"/>
          <p:cNvSpPr/>
          <p:nvPr/>
        </p:nvSpPr>
        <p:spPr>
          <a:xfrm>
            <a:off x="4160520" y="2103120"/>
            <a:ext cx="868680" cy="402336"/>
          </a:xfrm>
          <a:prstGeom prst="roundRect">
            <a:avLst>
              <a:gd name="adj" fmla="val 50000"/>
            </a:avLst>
          </a:prstGeom>
          <a:solidFill>
            <a:srgbClr val="1B1F31"/>
          </a:solidFill>
          <a:ln w="9525">
            <a:solidFill>
              <a:srgbClr val="34D399"/>
            </a:solidFill>
            <a:prstDash val="solid"/>
          </a:ln>
        </p:spPr>
        <p:txBody>
          <a:bodyPr/>
          <a:lstStyle/>
          <a:p>
            <a:endParaRPr lang="en-US"/>
          </a:p>
        </p:txBody>
      </p:sp>
      <p:sp>
        <p:nvSpPr>
          <p:cNvPr id="32" name="Text 30"/>
          <p:cNvSpPr/>
          <p:nvPr/>
        </p:nvSpPr>
        <p:spPr>
          <a:xfrm>
            <a:off x="4160520"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gorgeous .80</a:t>
            </a:r>
            <a:endParaRPr lang="en-US" sz="850" dirty="0"/>
          </a:p>
        </p:txBody>
      </p:sp>
      <p:sp>
        <p:nvSpPr>
          <p:cNvPr id="33" name="Shape 31"/>
          <p:cNvSpPr/>
          <p:nvPr/>
        </p:nvSpPr>
        <p:spPr>
          <a:xfrm>
            <a:off x="3246120" y="2670048"/>
            <a:ext cx="868680" cy="402336"/>
          </a:xfrm>
          <a:prstGeom prst="roundRect">
            <a:avLst>
              <a:gd name="adj" fmla="val 50000"/>
            </a:avLst>
          </a:prstGeom>
          <a:solidFill>
            <a:srgbClr val="1B1F31"/>
          </a:solidFill>
          <a:ln w="9525">
            <a:solidFill>
              <a:srgbClr val="34D399"/>
            </a:solidFill>
            <a:prstDash val="solid"/>
          </a:ln>
        </p:spPr>
        <p:txBody>
          <a:bodyPr/>
          <a:lstStyle/>
          <a:p>
            <a:endParaRPr lang="en-US"/>
          </a:p>
        </p:txBody>
      </p:sp>
      <p:sp>
        <p:nvSpPr>
          <p:cNvPr id="34" name="Text 32"/>
          <p:cNvSpPr/>
          <p:nvPr/>
        </p:nvSpPr>
        <p:spPr>
          <a:xfrm>
            <a:off x="3246120"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stunning .67</a:t>
            </a:r>
            <a:endParaRPr lang="en-US" sz="850" dirty="0"/>
          </a:p>
        </p:txBody>
      </p:sp>
      <p:sp>
        <p:nvSpPr>
          <p:cNvPr id="35" name="Shape 33"/>
          <p:cNvSpPr/>
          <p:nvPr/>
        </p:nvSpPr>
        <p:spPr>
          <a:xfrm>
            <a:off x="4160520" y="2670048"/>
            <a:ext cx="868680" cy="402336"/>
          </a:xfrm>
          <a:prstGeom prst="roundRect">
            <a:avLst>
              <a:gd name="adj" fmla="val 50000"/>
            </a:avLst>
          </a:prstGeom>
          <a:solidFill>
            <a:srgbClr val="1B1F31"/>
          </a:solidFill>
          <a:ln w="9525">
            <a:solidFill>
              <a:srgbClr val="34D399"/>
            </a:solidFill>
            <a:prstDash val="solid"/>
          </a:ln>
        </p:spPr>
        <p:txBody>
          <a:bodyPr/>
          <a:lstStyle/>
          <a:p>
            <a:endParaRPr lang="en-US"/>
          </a:p>
        </p:txBody>
      </p:sp>
      <p:sp>
        <p:nvSpPr>
          <p:cNvPr id="36" name="Text 34"/>
          <p:cNvSpPr/>
          <p:nvPr/>
        </p:nvSpPr>
        <p:spPr>
          <a:xfrm>
            <a:off x="4160520"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breathtaking</a:t>
            </a:r>
            <a:endParaRPr lang="en-US" sz="850" dirty="0"/>
          </a:p>
        </p:txBody>
      </p:sp>
      <p:sp>
        <p:nvSpPr>
          <p:cNvPr id="37" name="Shape 35"/>
          <p:cNvSpPr/>
          <p:nvPr/>
        </p:nvSpPr>
        <p:spPr>
          <a:xfrm>
            <a:off x="5385816" y="1554480"/>
            <a:ext cx="2240280" cy="2286000"/>
          </a:xfrm>
          <a:prstGeom prst="roundRect">
            <a:avLst>
              <a:gd name="adj" fmla="val 3673"/>
            </a:avLst>
          </a:prstGeom>
          <a:solidFill>
            <a:srgbClr val="151827"/>
          </a:solidFill>
          <a:ln w="15875">
            <a:solidFill>
              <a:srgbClr val="22D3EE"/>
            </a:solidFill>
            <a:prstDash val="solid"/>
          </a:ln>
        </p:spPr>
        <p:txBody>
          <a:bodyPr/>
          <a:lstStyle/>
          <a:p>
            <a:endParaRPr lang="en-US"/>
          </a:p>
        </p:txBody>
      </p:sp>
      <p:sp>
        <p:nvSpPr>
          <p:cNvPr id="38" name="Text 36"/>
          <p:cNvSpPr/>
          <p:nvPr/>
        </p:nvSpPr>
        <p:spPr>
          <a:xfrm>
            <a:off x="5522976" y="1691640"/>
            <a:ext cx="1965960" cy="274320"/>
          </a:xfrm>
          <a:prstGeom prst="rect">
            <a:avLst/>
          </a:prstGeom>
          <a:noFill/>
          <a:ln/>
        </p:spPr>
        <p:txBody>
          <a:bodyPr wrap="square" lIns="0" tIns="0" rIns="0" bIns="0" rtlCol="0" anchor="ctr"/>
          <a:lstStyle/>
          <a:p>
            <a:pPr marL="0" indent="0" algn="ctr">
              <a:buNone/>
            </a:pPr>
            <a:r>
              <a:rPr lang="en-US" sz="1150" b="1" dirty="0">
                <a:solidFill>
                  <a:srgbClr val="22D3EE"/>
                </a:solidFill>
                <a:latin typeface="Arial" pitchFamily="34" charset="0"/>
                <a:ea typeface="Arial" pitchFamily="34" charset="-122"/>
                <a:cs typeface="Arial" pitchFamily="34" charset="-120"/>
              </a:rPr>
              <a:t>Narrative</a:t>
            </a:r>
            <a:endParaRPr lang="en-US" sz="1150" dirty="0"/>
          </a:p>
        </p:txBody>
      </p:sp>
      <p:sp>
        <p:nvSpPr>
          <p:cNvPr id="39" name="Shape 37"/>
          <p:cNvSpPr/>
          <p:nvPr/>
        </p:nvSpPr>
        <p:spPr>
          <a:xfrm>
            <a:off x="5641848" y="2103120"/>
            <a:ext cx="868680" cy="402336"/>
          </a:xfrm>
          <a:prstGeom prst="roundRect">
            <a:avLst>
              <a:gd name="adj" fmla="val 50000"/>
            </a:avLst>
          </a:prstGeom>
          <a:solidFill>
            <a:srgbClr val="1B1F31"/>
          </a:solidFill>
          <a:ln w="9525">
            <a:solidFill>
              <a:srgbClr val="22D3EE"/>
            </a:solidFill>
            <a:prstDash val="solid"/>
          </a:ln>
        </p:spPr>
        <p:txBody>
          <a:bodyPr/>
          <a:lstStyle/>
          <a:p>
            <a:endParaRPr lang="en-US"/>
          </a:p>
        </p:txBody>
      </p:sp>
      <p:sp>
        <p:nvSpPr>
          <p:cNvPr id="40" name="Text 38"/>
          <p:cNvSpPr/>
          <p:nvPr/>
        </p:nvSpPr>
        <p:spPr>
          <a:xfrm>
            <a:off x="5641848"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story</a:t>
            </a:r>
            <a:endParaRPr lang="en-US" sz="850" dirty="0"/>
          </a:p>
        </p:txBody>
      </p:sp>
      <p:sp>
        <p:nvSpPr>
          <p:cNvPr id="41" name="Shape 39"/>
          <p:cNvSpPr/>
          <p:nvPr/>
        </p:nvSpPr>
        <p:spPr>
          <a:xfrm>
            <a:off x="6556248" y="2103120"/>
            <a:ext cx="868680" cy="402336"/>
          </a:xfrm>
          <a:prstGeom prst="roundRect">
            <a:avLst>
              <a:gd name="adj" fmla="val 50000"/>
            </a:avLst>
          </a:prstGeom>
          <a:solidFill>
            <a:srgbClr val="1B1F31"/>
          </a:solidFill>
          <a:ln w="9525">
            <a:solidFill>
              <a:srgbClr val="22D3EE"/>
            </a:solidFill>
            <a:prstDash val="solid"/>
          </a:ln>
        </p:spPr>
        <p:txBody>
          <a:bodyPr/>
          <a:lstStyle/>
          <a:p>
            <a:endParaRPr lang="en-US"/>
          </a:p>
        </p:txBody>
      </p:sp>
      <p:sp>
        <p:nvSpPr>
          <p:cNvPr id="42" name="Text 40"/>
          <p:cNvSpPr/>
          <p:nvPr/>
        </p:nvSpPr>
        <p:spPr>
          <a:xfrm>
            <a:off x="6556248" y="2103120"/>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storyline .83</a:t>
            </a:r>
            <a:endParaRPr lang="en-US" sz="850" dirty="0"/>
          </a:p>
        </p:txBody>
      </p:sp>
      <p:sp>
        <p:nvSpPr>
          <p:cNvPr id="43" name="Shape 41"/>
          <p:cNvSpPr/>
          <p:nvPr/>
        </p:nvSpPr>
        <p:spPr>
          <a:xfrm>
            <a:off x="5641848" y="2670048"/>
            <a:ext cx="868680" cy="402336"/>
          </a:xfrm>
          <a:prstGeom prst="roundRect">
            <a:avLst>
              <a:gd name="adj" fmla="val 50000"/>
            </a:avLst>
          </a:prstGeom>
          <a:solidFill>
            <a:srgbClr val="1B1F31"/>
          </a:solidFill>
          <a:ln w="9525">
            <a:solidFill>
              <a:srgbClr val="22D3EE"/>
            </a:solidFill>
            <a:prstDash val="solid"/>
          </a:ln>
        </p:spPr>
        <p:txBody>
          <a:bodyPr/>
          <a:lstStyle/>
          <a:p>
            <a:endParaRPr lang="en-US"/>
          </a:p>
        </p:txBody>
      </p:sp>
      <p:sp>
        <p:nvSpPr>
          <p:cNvPr id="44" name="Text 42"/>
          <p:cNvSpPr/>
          <p:nvPr/>
        </p:nvSpPr>
        <p:spPr>
          <a:xfrm>
            <a:off x="5641848"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plot .67</a:t>
            </a:r>
            <a:endParaRPr lang="en-US" sz="850" dirty="0"/>
          </a:p>
        </p:txBody>
      </p:sp>
      <p:sp>
        <p:nvSpPr>
          <p:cNvPr id="45" name="Shape 43"/>
          <p:cNvSpPr/>
          <p:nvPr/>
        </p:nvSpPr>
        <p:spPr>
          <a:xfrm>
            <a:off x="6556248" y="2670048"/>
            <a:ext cx="868680" cy="402336"/>
          </a:xfrm>
          <a:prstGeom prst="roundRect">
            <a:avLst>
              <a:gd name="adj" fmla="val 50000"/>
            </a:avLst>
          </a:prstGeom>
          <a:solidFill>
            <a:srgbClr val="1B1F31"/>
          </a:solidFill>
          <a:ln w="9525">
            <a:solidFill>
              <a:srgbClr val="22D3EE"/>
            </a:solidFill>
            <a:prstDash val="solid"/>
          </a:ln>
        </p:spPr>
        <p:txBody>
          <a:bodyPr/>
          <a:lstStyle/>
          <a:p>
            <a:endParaRPr lang="en-US"/>
          </a:p>
        </p:txBody>
      </p:sp>
      <p:sp>
        <p:nvSpPr>
          <p:cNvPr id="46" name="Text 44"/>
          <p:cNvSpPr/>
          <p:nvPr/>
        </p:nvSpPr>
        <p:spPr>
          <a:xfrm>
            <a:off x="6556248" y="2670048"/>
            <a:ext cx="868680" cy="402336"/>
          </a:xfrm>
          <a:prstGeom prst="rect">
            <a:avLst/>
          </a:prstGeom>
          <a:noFill/>
          <a:ln/>
        </p:spPr>
        <p:txBody>
          <a:bodyPr wrap="square" lIns="0" tIns="0" rIns="0" bIns="0" rtlCol="0" anchor="ctr"/>
          <a:lstStyle/>
          <a:p>
            <a:pPr marL="0" indent="0" algn="ctr">
              <a:buNone/>
            </a:pPr>
            <a:r>
              <a:rPr lang="en-US" sz="850" dirty="0">
                <a:solidFill>
                  <a:srgbClr val="E2E8F0"/>
                </a:solidFill>
                <a:latin typeface="Arial" pitchFamily="34" charset="0"/>
                <a:ea typeface="Arial" pitchFamily="34" charset="-122"/>
                <a:cs typeface="Arial" pitchFamily="34" charset="-120"/>
              </a:rPr>
              <a:t>narrative</a:t>
            </a:r>
            <a:endParaRPr lang="en-US" sz="850" dirty="0"/>
          </a:p>
        </p:txBody>
      </p:sp>
      <p:sp>
        <p:nvSpPr>
          <p:cNvPr id="47" name="Shape 45"/>
          <p:cNvSpPr/>
          <p:nvPr/>
        </p:nvSpPr>
        <p:spPr>
          <a:xfrm>
            <a:off x="594360" y="4114800"/>
            <a:ext cx="7132320" cy="1417320"/>
          </a:xfrm>
          <a:prstGeom prst="roundRect">
            <a:avLst>
              <a:gd name="adj" fmla="val 5806"/>
            </a:avLst>
          </a:prstGeom>
          <a:solidFill>
            <a:srgbClr val="1B1F31"/>
          </a:solidFill>
          <a:ln w="9525">
            <a:solidFill>
              <a:srgbClr val="2A3047"/>
            </a:solidFill>
            <a:prstDash val="solid"/>
          </a:ln>
        </p:spPr>
        <p:txBody>
          <a:bodyPr/>
          <a:lstStyle/>
          <a:p>
            <a:endParaRPr lang="en-US"/>
          </a:p>
        </p:txBody>
      </p:sp>
      <p:pic>
        <p:nvPicPr>
          <p:cNvPr id="48" name="Image 0" descr="icons/network.png"/>
          <p:cNvPicPr>
            <a:picLocks noChangeAspect="1"/>
          </p:cNvPicPr>
          <p:nvPr/>
        </p:nvPicPr>
        <p:blipFill>
          <a:blip r:embed="rId4"/>
          <a:stretch>
            <a:fillRect/>
          </a:stretch>
        </p:blipFill>
        <p:spPr>
          <a:xfrm>
            <a:off x="868680" y="4526280"/>
            <a:ext cx="411480" cy="411480"/>
          </a:xfrm>
          <a:prstGeom prst="rect">
            <a:avLst/>
          </a:prstGeom>
        </p:spPr>
      </p:pic>
      <p:sp>
        <p:nvSpPr>
          <p:cNvPr id="49" name="Text 46"/>
          <p:cNvSpPr/>
          <p:nvPr/>
        </p:nvSpPr>
        <p:spPr>
          <a:xfrm>
            <a:off x="1508760" y="4251960"/>
            <a:ext cx="3657600" cy="237744"/>
          </a:xfrm>
          <a:prstGeom prst="rect">
            <a:avLst/>
          </a:prstGeom>
          <a:noFill/>
          <a:ln/>
        </p:spPr>
        <p:txBody>
          <a:bodyPr wrap="square" lIns="0" tIns="0" rIns="0" bIns="0" rtlCol="0" anchor="ctr"/>
          <a:lstStyle/>
          <a:p>
            <a:pPr marL="0" indent="0">
              <a:buNone/>
            </a:pPr>
            <a:r>
              <a:rPr lang="en-US" sz="1000" b="1" kern="0" spc="200" dirty="0">
                <a:solidFill>
                  <a:srgbClr val="FACC15"/>
                </a:solidFill>
                <a:latin typeface="Arial" pitchFamily="34" charset="0"/>
                <a:ea typeface="Arial" pitchFamily="34" charset="-122"/>
                <a:cs typeface="Arial" pitchFamily="34" charset="-120"/>
              </a:rPr>
              <a:t>VECTOR ARITHMETIC</a:t>
            </a:r>
            <a:endParaRPr lang="en-US" sz="1000" dirty="0"/>
          </a:p>
        </p:txBody>
      </p:sp>
      <p:sp>
        <p:nvSpPr>
          <p:cNvPr id="50" name="Text 47"/>
          <p:cNvSpPr/>
          <p:nvPr/>
        </p:nvSpPr>
        <p:spPr>
          <a:xfrm>
            <a:off x="1508760" y="4526280"/>
            <a:ext cx="6035040" cy="914400"/>
          </a:xfrm>
          <a:prstGeom prst="rect">
            <a:avLst/>
          </a:prstGeom>
          <a:noFill/>
          <a:ln/>
        </p:spPr>
        <p:txBody>
          <a:bodyPr wrap="square" lIns="0" tIns="0" rIns="0" bIns="0" rtlCol="0" anchor="ctr"/>
          <a:lstStyle/>
          <a:p>
            <a:pPr marL="0" indent="0">
              <a:lnSpc>
                <a:spcPts val="1900"/>
              </a:lnSpc>
              <a:buNone/>
            </a:pPr>
            <a:r>
              <a:rPr lang="en-US" sz="1200" b="1" dirty="0">
                <a:solidFill>
                  <a:srgbClr val="22D3EE"/>
                </a:solidFill>
                <a:latin typeface="Courier New" pitchFamily="34" charset="0"/>
                <a:ea typeface="Courier New" pitchFamily="34" charset="-122"/>
                <a:cs typeface="Courier New" pitchFamily="34" charset="-120"/>
              </a:rPr>
              <a:t>bug + fix − crash ≈ patch</a:t>
            </a:r>
            <a:endParaRPr lang="en-US" sz="1200" dirty="0"/>
          </a:p>
          <a:p>
            <a:pPr marL="0" indent="0">
              <a:lnSpc>
                <a:spcPts val="1900"/>
              </a:lnSpc>
              <a:buNone/>
            </a:pPr>
            <a:r>
              <a:rPr lang="en-US" sz="1200" b="1" dirty="0">
                <a:solidFill>
                  <a:srgbClr val="22D3EE"/>
                </a:solidFill>
                <a:latin typeface="Courier New" pitchFamily="34" charset="0"/>
                <a:ea typeface="Courier New" pitchFamily="34" charset="-122"/>
                <a:cs typeface="Courier New" pitchFamily="34" charset="-120"/>
              </a:rPr>
              <a:t>graphic + good − bad ≈ amazing</a:t>
            </a:r>
            <a:endParaRPr lang="en-US" sz="1200" dirty="0"/>
          </a:p>
          <a:p>
            <a:pPr marL="0" indent="0">
              <a:lnSpc>
                <a:spcPts val="1900"/>
              </a:lnSpc>
              <a:buNone/>
            </a:pPr>
            <a:r>
              <a:rPr lang="en-US" sz="1200" b="1" dirty="0">
                <a:solidFill>
                  <a:srgbClr val="22D3EE"/>
                </a:solidFill>
                <a:latin typeface="Courier New" pitchFamily="34" charset="0"/>
                <a:ea typeface="Courier New" pitchFamily="34" charset="-122"/>
                <a:cs typeface="Courier New" pitchFamily="34" charset="-120"/>
              </a:rPr>
              <a:t>story + excellent − terrible ≈ storyline</a:t>
            </a:r>
            <a:endParaRPr lang="en-US" sz="1200" dirty="0"/>
          </a:p>
        </p:txBody>
      </p:sp>
      <p:sp>
        <p:nvSpPr>
          <p:cNvPr id="51" name="Shape 48"/>
          <p:cNvSpPr/>
          <p:nvPr/>
        </p:nvSpPr>
        <p:spPr>
          <a:xfrm>
            <a:off x="7909560" y="1554480"/>
            <a:ext cx="3685032" cy="3977640"/>
          </a:xfrm>
          <a:prstGeom prst="roundRect">
            <a:avLst>
              <a:gd name="adj" fmla="val 2233"/>
            </a:avLst>
          </a:prstGeom>
          <a:solidFill>
            <a:srgbClr val="151827"/>
          </a:solidFill>
          <a:ln w="9525">
            <a:solidFill>
              <a:srgbClr val="2A3047"/>
            </a:solidFill>
            <a:prstDash val="solid"/>
          </a:ln>
        </p:spPr>
        <p:txBody>
          <a:bodyPr/>
          <a:lstStyle/>
          <a:p>
            <a:endParaRPr lang="en-US"/>
          </a:p>
        </p:txBody>
      </p:sp>
      <p:pic>
        <p:nvPicPr>
          <p:cNvPr id="52" name="Image 1" descr="embeddings.png"/>
          <p:cNvPicPr>
            <a:picLocks noChangeAspect="1"/>
          </p:cNvPicPr>
          <p:nvPr/>
        </p:nvPicPr>
        <p:blipFill>
          <a:blip r:embed="rId5"/>
          <a:stretch>
            <a:fillRect/>
          </a:stretch>
        </p:blipFill>
        <p:spPr>
          <a:xfrm>
            <a:off x="8092440" y="1737360"/>
            <a:ext cx="3319272" cy="2258568"/>
          </a:xfrm>
          <a:prstGeom prst="rect">
            <a:avLst/>
          </a:prstGeom>
        </p:spPr>
      </p:pic>
      <p:sp>
        <p:nvSpPr>
          <p:cNvPr id="53" name="Text 49"/>
          <p:cNvSpPr/>
          <p:nvPr/>
        </p:nvSpPr>
        <p:spPr>
          <a:xfrm>
            <a:off x="8092440" y="4041648"/>
            <a:ext cx="3337560" cy="457200"/>
          </a:xfrm>
          <a:prstGeom prst="rect">
            <a:avLst/>
          </a:prstGeom>
          <a:noFill/>
          <a:ln/>
        </p:spPr>
        <p:txBody>
          <a:bodyPr wrap="square" lIns="0" tIns="0" rIns="0" bIns="0" rtlCol="0" anchor="ctr"/>
          <a:lstStyle/>
          <a:p>
            <a:pPr marL="0" indent="0">
              <a:buNone/>
            </a:pPr>
            <a:r>
              <a:rPr lang="en-US" sz="1000" i="1" dirty="0">
                <a:solidFill>
                  <a:srgbClr val="94A3B8"/>
                </a:solidFill>
                <a:latin typeface="Arial" pitchFamily="34" charset="0"/>
                <a:ea typeface="Arial" pitchFamily="34" charset="-122"/>
                <a:cs typeface="Arial" pitchFamily="34" charset="-120"/>
              </a:rPr>
              <a:t>PCA check: positive &amp; negative words separate in space</a:t>
            </a:r>
            <a:endParaRPr lang="en-US" sz="1000" dirty="0"/>
          </a:p>
        </p:txBody>
      </p:sp>
      <p:sp>
        <p:nvSpPr>
          <p:cNvPr id="54" name="Text 50"/>
          <p:cNvSpPr/>
          <p:nvPr/>
        </p:nvSpPr>
        <p:spPr>
          <a:xfrm>
            <a:off x="8092440" y="4892040"/>
            <a:ext cx="3337560" cy="274320"/>
          </a:xfrm>
          <a:prstGeom prst="rect">
            <a:avLst/>
          </a:prstGeom>
          <a:noFill/>
          <a:ln/>
        </p:spPr>
        <p:txBody>
          <a:bodyPr wrap="square" lIns="0" tIns="0" rIns="0" bIns="0" rtlCol="0" anchor="ctr"/>
          <a:lstStyle/>
          <a:p>
            <a:pPr marL="0" indent="0">
              <a:buNone/>
            </a:pPr>
            <a:r>
              <a:rPr lang="en-US" sz="1150" b="1" dirty="0">
                <a:solidFill>
                  <a:srgbClr val="E2E8F0"/>
                </a:solidFill>
                <a:latin typeface="Arial" pitchFamily="34" charset="0"/>
                <a:ea typeface="Arial" pitchFamily="34" charset="-122"/>
                <a:cs typeface="Arial" pitchFamily="34" charset="-120"/>
              </a:rPr>
              <a:t>6,115 words · 100-D · CBOW</a:t>
            </a:r>
            <a:endParaRPr lang="en-US" sz="1150" dirty="0"/>
          </a:p>
        </p:txBody>
      </p:sp>
      <p:sp>
        <p:nvSpPr>
          <p:cNvPr id="55" name="Shape 51"/>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56" name="Text 52"/>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Trained on our own corpus  it even clusters typos (“reccomend”) with their correct forms.</a:t>
            </a:r>
            <a:endParaRPr lang="en-US" sz="1250" dirty="0"/>
          </a:p>
        </p:txBody>
      </p:sp>
      <p:sp>
        <p:nvSpPr>
          <p:cNvPr id="57" name="Text 53"/>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58" name="Text 54"/>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11</a:t>
            </a:r>
            <a:endParaRPr lang="en-US" sz="900" dirty="0"/>
          </a:p>
        </p:txBody>
      </p:sp>
      <p:pic>
        <p:nvPicPr>
          <p:cNvPr id="59" name="Image 2" descr="logo_dark.png"/>
          <p:cNvPicPr>
            <a:picLocks noChangeAspect="1"/>
          </p:cNvPicPr>
          <p:nvPr/>
        </p:nvPicPr>
        <p:blipFill>
          <a:blip r:embed="rId6"/>
          <a:stretch>
            <a:fillRect/>
          </a:stretch>
        </p:blipFill>
        <p:spPr>
          <a:xfrm>
            <a:off x="10222992" y="6236208"/>
            <a:ext cx="868680" cy="502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3 · DOCUMENT RETRIEVAL</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A Search Engine Over 62,000 Reviews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M14</a:t>
            </a:r>
            <a:endParaRPr lang="en-US" sz="1050" dirty="0"/>
          </a:p>
        </p:txBody>
      </p:sp>
      <p:sp>
        <p:nvSpPr>
          <p:cNvPr id="15" name="Shape 13"/>
          <p:cNvSpPr/>
          <p:nvPr/>
        </p:nvSpPr>
        <p:spPr>
          <a:xfrm>
            <a:off x="594360" y="1645920"/>
            <a:ext cx="2487168" cy="1463040"/>
          </a:xfrm>
          <a:prstGeom prst="roundRect">
            <a:avLst>
              <a:gd name="adj" fmla="val 5625"/>
            </a:avLst>
          </a:prstGeom>
          <a:solidFill>
            <a:srgbClr val="1B1F31"/>
          </a:solidFill>
          <a:ln w="9525">
            <a:solidFill>
              <a:srgbClr val="2A3047"/>
            </a:solidFill>
            <a:prstDash val="solid"/>
          </a:ln>
        </p:spPr>
        <p:txBody>
          <a:bodyPr/>
          <a:lstStyle/>
          <a:p>
            <a:endParaRPr lang="en-US"/>
          </a:p>
        </p:txBody>
      </p:sp>
      <p:pic>
        <p:nvPicPr>
          <p:cNvPr id="16" name="Image 0" descr="icons/question.png"/>
          <p:cNvPicPr>
            <a:picLocks noChangeAspect="1"/>
          </p:cNvPicPr>
          <p:nvPr/>
        </p:nvPicPr>
        <p:blipFill>
          <a:blip r:embed="rId4"/>
          <a:stretch>
            <a:fillRect/>
          </a:stretch>
        </p:blipFill>
        <p:spPr>
          <a:xfrm>
            <a:off x="1609344" y="1810512"/>
            <a:ext cx="457200" cy="457200"/>
          </a:xfrm>
          <a:prstGeom prst="rect">
            <a:avLst/>
          </a:prstGeom>
        </p:spPr>
      </p:pic>
      <p:sp>
        <p:nvSpPr>
          <p:cNvPr id="17" name="Text 14"/>
          <p:cNvSpPr/>
          <p:nvPr/>
        </p:nvSpPr>
        <p:spPr>
          <a:xfrm>
            <a:off x="685800" y="2340864"/>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Query</a:t>
            </a:r>
            <a:endParaRPr lang="en-US" sz="1300" dirty="0"/>
          </a:p>
        </p:txBody>
      </p:sp>
      <p:sp>
        <p:nvSpPr>
          <p:cNvPr id="18" name="Text 15"/>
          <p:cNvSpPr/>
          <p:nvPr/>
        </p:nvSpPr>
        <p:spPr>
          <a:xfrm>
            <a:off x="685800" y="2633472"/>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natural language</a:t>
            </a:r>
            <a:endParaRPr lang="en-US" sz="1050" dirty="0"/>
          </a:p>
        </p:txBody>
      </p:sp>
      <p:sp>
        <p:nvSpPr>
          <p:cNvPr id="19" name="Text 16"/>
          <p:cNvSpPr/>
          <p:nvPr/>
        </p:nvSpPr>
        <p:spPr>
          <a:xfrm>
            <a:off x="3099816" y="214884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3429000" y="1645920"/>
            <a:ext cx="2487168" cy="1463040"/>
          </a:xfrm>
          <a:prstGeom prst="roundRect">
            <a:avLst>
              <a:gd name="adj" fmla="val 5625"/>
            </a:avLst>
          </a:prstGeom>
          <a:solidFill>
            <a:srgbClr val="1B1F31"/>
          </a:solidFill>
          <a:ln w="9525">
            <a:solidFill>
              <a:srgbClr val="2A3047"/>
            </a:solidFill>
            <a:prstDash val="solid"/>
          </a:ln>
        </p:spPr>
        <p:txBody>
          <a:bodyPr/>
          <a:lstStyle/>
          <a:p>
            <a:endParaRPr lang="en-US"/>
          </a:p>
        </p:txBody>
      </p:sp>
      <p:pic>
        <p:nvPicPr>
          <p:cNvPr id="21" name="Image 1" descr="icons/network.png"/>
          <p:cNvPicPr>
            <a:picLocks noChangeAspect="1"/>
          </p:cNvPicPr>
          <p:nvPr/>
        </p:nvPicPr>
        <p:blipFill>
          <a:blip r:embed="rId5"/>
          <a:stretch>
            <a:fillRect/>
          </a:stretch>
        </p:blipFill>
        <p:spPr>
          <a:xfrm>
            <a:off x="4443984" y="1810512"/>
            <a:ext cx="457200" cy="457200"/>
          </a:xfrm>
          <a:prstGeom prst="rect">
            <a:avLst/>
          </a:prstGeom>
        </p:spPr>
      </p:pic>
      <p:sp>
        <p:nvSpPr>
          <p:cNvPr id="22" name="Text 18"/>
          <p:cNvSpPr/>
          <p:nvPr/>
        </p:nvSpPr>
        <p:spPr>
          <a:xfrm>
            <a:off x="3520440" y="2340864"/>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Expand (M13)</a:t>
            </a:r>
            <a:endParaRPr lang="en-US" sz="1300" dirty="0"/>
          </a:p>
        </p:txBody>
      </p:sp>
      <p:sp>
        <p:nvSpPr>
          <p:cNvPr id="23" name="Text 19"/>
          <p:cNvSpPr/>
          <p:nvPr/>
        </p:nvSpPr>
        <p:spPr>
          <a:xfrm>
            <a:off x="3520440" y="2633472"/>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 Word2Vec neighbours</a:t>
            </a:r>
            <a:endParaRPr lang="en-US" sz="1050" dirty="0"/>
          </a:p>
        </p:txBody>
      </p:sp>
      <p:sp>
        <p:nvSpPr>
          <p:cNvPr id="24" name="Text 20"/>
          <p:cNvSpPr/>
          <p:nvPr/>
        </p:nvSpPr>
        <p:spPr>
          <a:xfrm>
            <a:off x="5934456" y="214884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25" name="Shape 21"/>
          <p:cNvSpPr/>
          <p:nvPr/>
        </p:nvSpPr>
        <p:spPr>
          <a:xfrm>
            <a:off x="6263640" y="1645920"/>
            <a:ext cx="2487168" cy="1463040"/>
          </a:xfrm>
          <a:prstGeom prst="roundRect">
            <a:avLst>
              <a:gd name="adj" fmla="val 5625"/>
            </a:avLst>
          </a:prstGeom>
          <a:solidFill>
            <a:srgbClr val="1B1F31"/>
          </a:solidFill>
          <a:ln w="9525">
            <a:solidFill>
              <a:srgbClr val="2A3047"/>
            </a:solidFill>
            <a:prstDash val="solid"/>
          </a:ln>
        </p:spPr>
        <p:txBody>
          <a:bodyPr/>
          <a:lstStyle/>
          <a:p>
            <a:endParaRPr lang="en-US"/>
          </a:p>
        </p:txBody>
      </p:sp>
      <p:pic>
        <p:nvPicPr>
          <p:cNvPr id="26" name="Image 2" descr="icons/hash.png"/>
          <p:cNvPicPr>
            <a:picLocks noChangeAspect="1"/>
          </p:cNvPicPr>
          <p:nvPr/>
        </p:nvPicPr>
        <p:blipFill>
          <a:blip r:embed="rId6"/>
          <a:stretch>
            <a:fillRect/>
          </a:stretch>
        </p:blipFill>
        <p:spPr>
          <a:xfrm>
            <a:off x="7278624" y="1810512"/>
            <a:ext cx="457200" cy="457200"/>
          </a:xfrm>
          <a:prstGeom prst="rect">
            <a:avLst/>
          </a:prstGeom>
        </p:spPr>
      </p:pic>
      <p:sp>
        <p:nvSpPr>
          <p:cNvPr id="27" name="Text 22"/>
          <p:cNvSpPr/>
          <p:nvPr/>
        </p:nvSpPr>
        <p:spPr>
          <a:xfrm>
            <a:off x="6355080" y="2340864"/>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Vectorize (M9)</a:t>
            </a:r>
            <a:endParaRPr lang="en-US" sz="1300" dirty="0"/>
          </a:p>
        </p:txBody>
      </p:sp>
      <p:sp>
        <p:nvSpPr>
          <p:cNvPr id="28" name="Text 23"/>
          <p:cNvSpPr/>
          <p:nvPr/>
        </p:nvSpPr>
        <p:spPr>
          <a:xfrm>
            <a:off x="6355080" y="2633472"/>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same tf-idf space</a:t>
            </a:r>
            <a:endParaRPr lang="en-US" sz="1050" dirty="0"/>
          </a:p>
        </p:txBody>
      </p:sp>
      <p:sp>
        <p:nvSpPr>
          <p:cNvPr id="29" name="Text 24"/>
          <p:cNvSpPr/>
          <p:nvPr/>
        </p:nvSpPr>
        <p:spPr>
          <a:xfrm>
            <a:off x="8769096" y="2148840"/>
            <a:ext cx="329184" cy="457200"/>
          </a:xfrm>
          <a:prstGeom prst="rect">
            <a:avLst/>
          </a:prstGeom>
          <a:noFill/>
          <a:ln/>
        </p:spPr>
        <p:txBody>
          <a:bodyPr wrap="square" lIns="0" tIns="0" rIns="0" bIns="0" rtlCol="0" anchor="ctr"/>
          <a:lstStyle/>
          <a:p>
            <a:pPr marL="0" indent="0" algn="ctr">
              <a:buNone/>
            </a:pPr>
            <a:r>
              <a:rPr lang="en-US" sz="2000" b="1" dirty="0">
                <a:solidFill>
                  <a:srgbClr val="FACC15"/>
                </a:solidFill>
                <a:latin typeface="Arial" pitchFamily="34" charset="0"/>
                <a:ea typeface="Arial" pitchFamily="34" charset="-122"/>
                <a:cs typeface="Arial" pitchFamily="34" charset="-120"/>
              </a:rPr>
              <a:t>→</a:t>
            </a:r>
            <a:endParaRPr lang="en-US" sz="2000" dirty="0"/>
          </a:p>
        </p:txBody>
      </p:sp>
      <p:sp>
        <p:nvSpPr>
          <p:cNvPr id="30" name="Shape 25"/>
          <p:cNvSpPr/>
          <p:nvPr/>
        </p:nvSpPr>
        <p:spPr>
          <a:xfrm>
            <a:off x="9098280" y="1645920"/>
            <a:ext cx="2487168" cy="1463040"/>
          </a:xfrm>
          <a:prstGeom prst="roundRect">
            <a:avLst>
              <a:gd name="adj" fmla="val 5625"/>
            </a:avLst>
          </a:prstGeom>
          <a:solidFill>
            <a:srgbClr val="1B1F31"/>
          </a:solidFill>
          <a:ln w="9525">
            <a:solidFill>
              <a:srgbClr val="2A3047"/>
            </a:solidFill>
            <a:prstDash val="solid"/>
          </a:ln>
        </p:spPr>
        <p:txBody>
          <a:bodyPr/>
          <a:lstStyle/>
          <a:p>
            <a:endParaRPr lang="en-US"/>
          </a:p>
        </p:txBody>
      </p:sp>
      <p:pic>
        <p:nvPicPr>
          <p:cNvPr id="31" name="Image 3" descr="icons/search.png"/>
          <p:cNvPicPr>
            <a:picLocks noChangeAspect="1"/>
          </p:cNvPicPr>
          <p:nvPr/>
        </p:nvPicPr>
        <p:blipFill>
          <a:blip r:embed="rId7"/>
          <a:stretch>
            <a:fillRect/>
          </a:stretch>
        </p:blipFill>
        <p:spPr>
          <a:xfrm>
            <a:off x="10113264" y="1810512"/>
            <a:ext cx="457200" cy="457200"/>
          </a:xfrm>
          <a:prstGeom prst="rect">
            <a:avLst/>
          </a:prstGeom>
        </p:spPr>
      </p:pic>
      <p:sp>
        <p:nvSpPr>
          <p:cNvPr id="32" name="Text 26"/>
          <p:cNvSpPr/>
          <p:nvPr/>
        </p:nvSpPr>
        <p:spPr>
          <a:xfrm>
            <a:off x="9189720" y="2340864"/>
            <a:ext cx="2304288" cy="274320"/>
          </a:xfrm>
          <a:prstGeom prst="rect">
            <a:avLst/>
          </a:prstGeom>
          <a:noFill/>
          <a:ln/>
        </p:spPr>
        <p:txBody>
          <a:bodyPr wrap="square" lIns="0" tIns="0" rIns="0" bIns="0" rtlCol="0" anchor="ctr"/>
          <a:lstStyle/>
          <a:p>
            <a:pPr marL="0" indent="0" algn="ctr">
              <a:buNone/>
            </a:pPr>
            <a:r>
              <a:rPr lang="en-US" sz="1300" b="1" dirty="0">
                <a:solidFill>
                  <a:srgbClr val="E2E8F0"/>
                </a:solidFill>
                <a:latin typeface="Arial" pitchFamily="34" charset="0"/>
                <a:ea typeface="Arial" pitchFamily="34" charset="-122"/>
                <a:cs typeface="Arial" pitchFamily="34" charset="-120"/>
              </a:rPr>
              <a:t>Rank</a:t>
            </a:r>
            <a:endParaRPr lang="en-US" sz="1300" dirty="0"/>
          </a:p>
        </p:txBody>
      </p:sp>
      <p:sp>
        <p:nvSpPr>
          <p:cNvPr id="33" name="Text 27"/>
          <p:cNvSpPr/>
          <p:nvPr/>
        </p:nvSpPr>
        <p:spPr>
          <a:xfrm>
            <a:off x="9189720" y="2633472"/>
            <a:ext cx="2304288"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cosine similarity</a:t>
            </a:r>
            <a:endParaRPr lang="en-US" sz="1050" dirty="0"/>
          </a:p>
        </p:txBody>
      </p:sp>
      <p:sp>
        <p:nvSpPr>
          <p:cNvPr id="34" name="Shape 28"/>
          <p:cNvSpPr/>
          <p:nvPr/>
        </p:nvSpPr>
        <p:spPr>
          <a:xfrm>
            <a:off x="594360" y="3520440"/>
            <a:ext cx="11000232" cy="1965960"/>
          </a:xfrm>
          <a:prstGeom prst="roundRect">
            <a:avLst>
              <a:gd name="adj" fmla="val 4186"/>
            </a:avLst>
          </a:prstGeom>
          <a:solidFill>
            <a:srgbClr val="10131F"/>
          </a:solidFill>
          <a:ln w="9525">
            <a:solidFill>
              <a:srgbClr val="2A3047"/>
            </a:solidFill>
            <a:prstDash val="solid"/>
          </a:ln>
        </p:spPr>
        <p:txBody>
          <a:bodyPr/>
          <a:lstStyle/>
          <a:p>
            <a:endParaRPr lang="en-US"/>
          </a:p>
        </p:txBody>
      </p:sp>
      <p:sp>
        <p:nvSpPr>
          <p:cNvPr id="35" name="Text 29"/>
          <p:cNvSpPr/>
          <p:nvPr/>
        </p:nvSpPr>
        <p:spPr>
          <a:xfrm>
            <a:off x="868680" y="3675888"/>
            <a:ext cx="7315200" cy="237744"/>
          </a:xfrm>
          <a:prstGeom prst="rect">
            <a:avLst/>
          </a:prstGeom>
          <a:noFill/>
          <a:ln/>
        </p:spPr>
        <p:txBody>
          <a:bodyPr wrap="square" lIns="0" tIns="0" rIns="0" bIns="0" rtlCol="0" anchor="ctr"/>
          <a:lstStyle/>
          <a:p>
            <a:pPr marL="0" indent="0">
              <a:buNone/>
            </a:pPr>
            <a:r>
              <a:rPr lang="en-US" sz="1000" b="1" kern="0" spc="200" dirty="0">
                <a:solidFill>
                  <a:srgbClr val="FACC15"/>
                </a:solidFill>
                <a:latin typeface="Arial" pitchFamily="34" charset="0"/>
                <a:ea typeface="Arial" pitchFamily="34" charset="-122"/>
                <a:cs typeface="Arial" pitchFamily="34" charset="-120"/>
              </a:rPr>
              <a:t>EXAMPLE  QUERY EXPANSION IN ACTION</a:t>
            </a:r>
            <a:endParaRPr lang="en-US" sz="1000" dirty="0"/>
          </a:p>
        </p:txBody>
      </p:sp>
      <p:sp>
        <p:nvSpPr>
          <p:cNvPr id="36" name="Text 30"/>
          <p:cNvSpPr/>
          <p:nvPr/>
        </p:nvSpPr>
        <p:spPr>
          <a:xfrm>
            <a:off x="868680" y="4023360"/>
            <a:ext cx="10424160" cy="1325880"/>
          </a:xfrm>
          <a:prstGeom prst="rect">
            <a:avLst/>
          </a:prstGeom>
          <a:noFill/>
          <a:ln/>
        </p:spPr>
        <p:txBody>
          <a:bodyPr wrap="square" lIns="0" tIns="0" rIns="0" bIns="0" rtlCol="0" anchor="ctr"/>
          <a:lstStyle/>
          <a:p>
            <a:pPr marL="0" indent="0">
              <a:lnSpc>
                <a:spcPts val="2500"/>
              </a:lnSpc>
              <a:buNone/>
            </a:pPr>
            <a:r>
              <a:rPr lang="en-US" sz="1300" b="1" dirty="0">
                <a:solidFill>
                  <a:srgbClr val="22D3EE"/>
                </a:solidFill>
                <a:latin typeface="Courier New" pitchFamily="34" charset="0"/>
                <a:ea typeface="Courier New" pitchFamily="34" charset="-122"/>
                <a:cs typeface="Courier New" pitchFamily="34" charset="-120"/>
              </a:rPr>
              <a:t>Query      </a:t>
            </a:r>
            <a:r>
              <a:rPr lang="en-US" sz="1300" dirty="0">
                <a:solidFill>
                  <a:srgbClr val="E2E8F0"/>
                </a:solidFill>
                <a:latin typeface="Courier New" pitchFamily="34" charset="0"/>
                <a:ea typeface="Courier New" pitchFamily="34" charset="-122"/>
                <a:cs typeface="Courier New" pitchFamily="34" charset="-120"/>
              </a:rPr>
              <a:t>“How is the story and characters?”</a:t>
            </a:r>
            <a:endParaRPr lang="en-US" sz="1300" dirty="0"/>
          </a:p>
          <a:p>
            <a:pPr marL="0" indent="0">
              <a:lnSpc>
                <a:spcPts val="2500"/>
              </a:lnSpc>
              <a:buNone/>
            </a:pPr>
            <a:r>
              <a:rPr lang="en-US" sz="1300" b="1" dirty="0">
                <a:solidFill>
                  <a:srgbClr val="A78BFA"/>
                </a:solidFill>
                <a:latin typeface="Courier New" pitchFamily="34" charset="0"/>
                <a:ea typeface="Courier New" pitchFamily="34" charset="-122"/>
                <a:cs typeface="Courier New" pitchFamily="34" charset="-120"/>
              </a:rPr>
              <a:t>Expanded   </a:t>
            </a:r>
            <a:r>
              <a:rPr lang="en-US" sz="1300" dirty="0">
                <a:solidFill>
                  <a:srgbClr val="E2E8F0"/>
                </a:solidFill>
                <a:latin typeface="Courier New" pitchFamily="34" charset="0"/>
                <a:ea typeface="Courier New" pitchFamily="34" charset="-122"/>
                <a:cs typeface="Courier New" pitchFamily="34" charset="-120"/>
              </a:rPr>
              <a:t>+ storyline · plot · plotline</a:t>
            </a:r>
            <a:endParaRPr lang="en-US" sz="1300" dirty="0"/>
          </a:p>
          <a:p>
            <a:pPr marL="0" indent="0">
              <a:lnSpc>
                <a:spcPts val="2500"/>
              </a:lnSpc>
              <a:buNone/>
            </a:pPr>
            <a:r>
              <a:rPr lang="en-US" sz="1300" b="1" dirty="0">
                <a:solidFill>
                  <a:srgbClr val="34D399"/>
                </a:solidFill>
                <a:latin typeface="Courier New" pitchFamily="34" charset="0"/>
                <a:ea typeface="Courier New" pitchFamily="34" charset="-122"/>
                <a:cs typeface="Courier New" pitchFamily="34" charset="-120"/>
              </a:rPr>
              <a:t>Top hit    </a:t>
            </a:r>
            <a:r>
              <a:rPr lang="en-US" sz="1300" dirty="0">
                <a:solidFill>
                  <a:srgbClr val="E2E8F0"/>
                </a:solidFill>
                <a:latin typeface="Courier New" pitchFamily="34" charset="0"/>
                <a:ea typeface="Courier New" pitchFamily="34" charset="-122"/>
                <a:cs typeface="Courier New" pitchFamily="34" charset="-120"/>
              </a:rPr>
              <a:t>“Really enjoying the plotline so far!”  (cos 0.60)</a:t>
            </a:r>
            <a:endParaRPr lang="en-US" sz="1300" dirty="0"/>
          </a:p>
        </p:txBody>
      </p:sp>
      <p:sp>
        <p:nvSpPr>
          <p:cNvPr id="37" name="Shape 31"/>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38" name="Text 32"/>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Embeddings bridge the vocabulary gap (“plot” ≈ “story”)  this engine becomes the “R” in RAG.</a:t>
            </a:r>
            <a:endParaRPr lang="en-US" sz="1250" dirty="0"/>
          </a:p>
        </p:txBody>
      </p:sp>
      <p:sp>
        <p:nvSpPr>
          <p:cNvPr id="39" name="Text 33"/>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40" name="Text 34"/>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12</a:t>
            </a:r>
            <a:endParaRPr lang="en-US" sz="900" dirty="0"/>
          </a:p>
        </p:txBody>
      </p:sp>
      <p:pic>
        <p:nvPicPr>
          <p:cNvPr id="41" name="Image 4" descr="logo_dark.png"/>
          <p:cNvPicPr>
            <a:picLocks noChangeAspect="1"/>
          </p:cNvPicPr>
          <p:nvPr/>
        </p:nvPicPr>
        <p:blipFill>
          <a:blip r:embed="rId8"/>
          <a:stretch>
            <a:fillRect/>
          </a:stretch>
        </p:blipFill>
        <p:spPr>
          <a:xfrm>
            <a:off x="10222992" y="6236208"/>
            <a:ext cx="868680" cy="502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PHASE 3 · THE CAPSTONE</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RAG: Answers Grounded in Real Reviews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M15</a:t>
            </a:r>
            <a:endParaRPr lang="en-US" sz="1050" dirty="0"/>
          </a:p>
        </p:txBody>
      </p:sp>
      <p:sp>
        <p:nvSpPr>
          <p:cNvPr id="15" name="Shape 13"/>
          <p:cNvSpPr/>
          <p:nvPr/>
        </p:nvSpPr>
        <p:spPr>
          <a:xfrm>
            <a:off x="594360" y="15727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16" name="Image 0" descr="icons/question.png"/>
          <p:cNvPicPr>
            <a:picLocks noChangeAspect="1"/>
          </p:cNvPicPr>
          <p:nvPr/>
        </p:nvPicPr>
        <p:blipFill>
          <a:blip r:embed="rId4"/>
          <a:stretch>
            <a:fillRect/>
          </a:stretch>
        </p:blipFill>
        <p:spPr>
          <a:xfrm>
            <a:off x="777240" y="1673352"/>
            <a:ext cx="310896" cy="310896"/>
          </a:xfrm>
          <a:prstGeom prst="rect">
            <a:avLst/>
          </a:prstGeom>
        </p:spPr>
      </p:pic>
      <p:sp>
        <p:nvSpPr>
          <p:cNvPr id="17" name="Text 14"/>
          <p:cNvSpPr/>
          <p:nvPr/>
        </p:nvSpPr>
        <p:spPr>
          <a:xfrm>
            <a:off x="1234440" y="1572768"/>
            <a:ext cx="3017520" cy="512064"/>
          </a:xfrm>
          <a:prstGeom prst="rect">
            <a:avLst/>
          </a:prstGeom>
          <a:noFill/>
          <a:ln/>
        </p:spPr>
        <p:txBody>
          <a:bodyPr wrap="square" lIns="0" tIns="0" rIns="0" bIns="0" rtlCol="0" anchor="ctr"/>
          <a:lstStyle/>
          <a:p>
            <a:pPr marL="0" indent="0">
              <a:buNone/>
            </a:pPr>
            <a:r>
              <a:rPr lang="en-US" sz="1200" b="1" dirty="0">
                <a:solidFill>
                  <a:srgbClr val="E2E8F0"/>
                </a:solidFill>
                <a:latin typeface="Arial" pitchFamily="34" charset="0"/>
                <a:ea typeface="Arial" pitchFamily="34" charset="-122"/>
                <a:cs typeface="Arial" pitchFamily="34" charset="-120"/>
              </a:rPr>
              <a:t>Question</a:t>
            </a:r>
            <a:endParaRPr lang="en-US" sz="1200" dirty="0"/>
          </a:p>
        </p:txBody>
      </p:sp>
      <p:sp>
        <p:nvSpPr>
          <p:cNvPr id="18" name="Text 15"/>
          <p:cNvSpPr/>
          <p:nvPr/>
        </p:nvSpPr>
        <p:spPr>
          <a:xfrm>
            <a:off x="2286000" y="2048256"/>
            <a:ext cx="365760" cy="246888"/>
          </a:xfrm>
          <a:prstGeom prst="rect">
            <a:avLst/>
          </a:prstGeom>
          <a:noFill/>
          <a:ln/>
        </p:spPr>
        <p:txBody>
          <a:bodyPr wrap="square" lIns="0" tIns="0" rIns="0" bIns="0" rtlCol="0" anchor="ctr"/>
          <a:lstStyle/>
          <a:p>
            <a:pPr marL="0" indent="0" algn="ctr">
              <a:buNone/>
            </a:pPr>
            <a:r>
              <a:rPr lang="en-US" sz="1300" b="1" dirty="0">
                <a:solidFill>
                  <a:srgbClr val="FACC15"/>
                </a:solidFill>
                <a:latin typeface="Arial" pitchFamily="34" charset="0"/>
                <a:ea typeface="Arial" pitchFamily="34" charset="-122"/>
                <a:cs typeface="Arial" pitchFamily="34" charset="-120"/>
              </a:rPr>
              <a:t>↓</a:t>
            </a:r>
            <a:endParaRPr lang="en-US" sz="1300" dirty="0"/>
          </a:p>
        </p:txBody>
      </p:sp>
      <p:sp>
        <p:nvSpPr>
          <p:cNvPr id="19" name="Shape 16"/>
          <p:cNvSpPr/>
          <p:nvPr/>
        </p:nvSpPr>
        <p:spPr>
          <a:xfrm>
            <a:off x="594360" y="22585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20" name="Image 1" descr="icons/network.png"/>
          <p:cNvPicPr>
            <a:picLocks noChangeAspect="1"/>
          </p:cNvPicPr>
          <p:nvPr/>
        </p:nvPicPr>
        <p:blipFill>
          <a:blip r:embed="rId5"/>
          <a:stretch>
            <a:fillRect/>
          </a:stretch>
        </p:blipFill>
        <p:spPr>
          <a:xfrm>
            <a:off x="777240" y="2359152"/>
            <a:ext cx="310896" cy="310896"/>
          </a:xfrm>
          <a:prstGeom prst="rect">
            <a:avLst/>
          </a:prstGeom>
        </p:spPr>
      </p:pic>
      <p:sp>
        <p:nvSpPr>
          <p:cNvPr id="21" name="Text 17"/>
          <p:cNvSpPr/>
          <p:nvPr/>
        </p:nvSpPr>
        <p:spPr>
          <a:xfrm>
            <a:off x="1234440" y="2258568"/>
            <a:ext cx="3017520" cy="512064"/>
          </a:xfrm>
          <a:prstGeom prst="rect">
            <a:avLst/>
          </a:prstGeom>
          <a:noFill/>
          <a:ln/>
        </p:spPr>
        <p:txBody>
          <a:bodyPr wrap="square" lIns="0" tIns="0" rIns="0" bIns="0" rtlCol="0" anchor="ctr"/>
          <a:lstStyle/>
          <a:p>
            <a:pPr marL="0" indent="0">
              <a:buNone/>
            </a:pPr>
            <a:r>
              <a:rPr lang="en-US" sz="1200" b="1" dirty="0">
                <a:solidFill>
                  <a:srgbClr val="A78BFA"/>
                </a:solidFill>
                <a:latin typeface="Arial" pitchFamily="34" charset="0"/>
                <a:ea typeface="Arial" pitchFamily="34" charset="-122"/>
                <a:cs typeface="Arial" pitchFamily="34" charset="-120"/>
              </a:rPr>
              <a:t>Query Expansion (M13)</a:t>
            </a:r>
            <a:endParaRPr lang="en-US" sz="1200" dirty="0"/>
          </a:p>
        </p:txBody>
      </p:sp>
      <p:sp>
        <p:nvSpPr>
          <p:cNvPr id="22" name="Text 18"/>
          <p:cNvSpPr/>
          <p:nvPr/>
        </p:nvSpPr>
        <p:spPr>
          <a:xfrm>
            <a:off x="2286000" y="2734056"/>
            <a:ext cx="365760" cy="246888"/>
          </a:xfrm>
          <a:prstGeom prst="rect">
            <a:avLst/>
          </a:prstGeom>
          <a:noFill/>
          <a:ln/>
        </p:spPr>
        <p:txBody>
          <a:bodyPr wrap="square" lIns="0" tIns="0" rIns="0" bIns="0" rtlCol="0" anchor="ctr"/>
          <a:lstStyle/>
          <a:p>
            <a:pPr marL="0" indent="0" algn="ctr">
              <a:buNone/>
            </a:pPr>
            <a:r>
              <a:rPr lang="en-US" sz="1300" b="1" dirty="0">
                <a:solidFill>
                  <a:srgbClr val="FACC15"/>
                </a:solidFill>
                <a:latin typeface="Arial" pitchFamily="34" charset="0"/>
                <a:ea typeface="Arial" pitchFamily="34" charset="-122"/>
                <a:cs typeface="Arial" pitchFamily="34" charset="-120"/>
              </a:rPr>
              <a:t>↓</a:t>
            </a:r>
            <a:endParaRPr lang="en-US" sz="1300" dirty="0"/>
          </a:p>
        </p:txBody>
      </p:sp>
      <p:sp>
        <p:nvSpPr>
          <p:cNvPr id="23" name="Shape 19"/>
          <p:cNvSpPr/>
          <p:nvPr/>
        </p:nvSpPr>
        <p:spPr>
          <a:xfrm>
            <a:off x="594360" y="29443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24" name="Image 2" descr="icons/search.png"/>
          <p:cNvPicPr>
            <a:picLocks noChangeAspect="1"/>
          </p:cNvPicPr>
          <p:nvPr/>
        </p:nvPicPr>
        <p:blipFill>
          <a:blip r:embed="rId6"/>
          <a:stretch>
            <a:fillRect/>
          </a:stretch>
        </p:blipFill>
        <p:spPr>
          <a:xfrm>
            <a:off x="777240" y="3044952"/>
            <a:ext cx="310896" cy="310896"/>
          </a:xfrm>
          <a:prstGeom prst="rect">
            <a:avLst/>
          </a:prstGeom>
        </p:spPr>
      </p:pic>
      <p:sp>
        <p:nvSpPr>
          <p:cNvPr id="25" name="Text 20"/>
          <p:cNvSpPr/>
          <p:nvPr/>
        </p:nvSpPr>
        <p:spPr>
          <a:xfrm>
            <a:off x="1234440" y="2944368"/>
            <a:ext cx="3017520" cy="512064"/>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Retrieval (M14)</a:t>
            </a:r>
            <a:endParaRPr lang="en-US" sz="1200" dirty="0"/>
          </a:p>
        </p:txBody>
      </p:sp>
      <p:sp>
        <p:nvSpPr>
          <p:cNvPr id="26" name="Text 21"/>
          <p:cNvSpPr/>
          <p:nvPr/>
        </p:nvSpPr>
        <p:spPr>
          <a:xfrm>
            <a:off x="2286000" y="3419856"/>
            <a:ext cx="365760" cy="246888"/>
          </a:xfrm>
          <a:prstGeom prst="rect">
            <a:avLst/>
          </a:prstGeom>
          <a:noFill/>
          <a:ln/>
        </p:spPr>
        <p:txBody>
          <a:bodyPr wrap="square" lIns="0" tIns="0" rIns="0" bIns="0" rtlCol="0" anchor="ctr"/>
          <a:lstStyle/>
          <a:p>
            <a:pPr marL="0" indent="0" algn="ctr">
              <a:buNone/>
            </a:pPr>
            <a:r>
              <a:rPr lang="en-US" sz="1300" b="1" dirty="0">
                <a:solidFill>
                  <a:srgbClr val="FACC15"/>
                </a:solidFill>
                <a:latin typeface="Arial" pitchFamily="34" charset="0"/>
                <a:ea typeface="Arial" pitchFamily="34" charset="-122"/>
                <a:cs typeface="Arial" pitchFamily="34" charset="-120"/>
              </a:rPr>
              <a:t>↓</a:t>
            </a:r>
            <a:endParaRPr lang="en-US" sz="1300" dirty="0"/>
          </a:p>
        </p:txBody>
      </p:sp>
      <p:sp>
        <p:nvSpPr>
          <p:cNvPr id="27" name="Shape 22"/>
          <p:cNvSpPr/>
          <p:nvPr/>
        </p:nvSpPr>
        <p:spPr>
          <a:xfrm>
            <a:off x="594360" y="36301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28" name="Image 3" descr="icons/file.png"/>
          <p:cNvPicPr>
            <a:picLocks noChangeAspect="1"/>
          </p:cNvPicPr>
          <p:nvPr/>
        </p:nvPicPr>
        <p:blipFill>
          <a:blip r:embed="rId7"/>
          <a:stretch>
            <a:fillRect/>
          </a:stretch>
        </p:blipFill>
        <p:spPr>
          <a:xfrm>
            <a:off x="777240" y="3730752"/>
            <a:ext cx="310896" cy="310896"/>
          </a:xfrm>
          <a:prstGeom prst="rect">
            <a:avLst/>
          </a:prstGeom>
        </p:spPr>
      </p:pic>
      <p:sp>
        <p:nvSpPr>
          <p:cNvPr id="29" name="Text 23"/>
          <p:cNvSpPr/>
          <p:nvPr/>
        </p:nvSpPr>
        <p:spPr>
          <a:xfrm>
            <a:off x="1234440" y="3630168"/>
            <a:ext cx="3017520" cy="512064"/>
          </a:xfrm>
          <a:prstGeom prst="rect">
            <a:avLst/>
          </a:prstGeom>
          <a:noFill/>
          <a:ln/>
        </p:spPr>
        <p:txBody>
          <a:bodyPr wrap="square" lIns="0" tIns="0" rIns="0" bIns="0" rtlCol="0" anchor="ctr"/>
          <a:lstStyle/>
          <a:p>
            <a:pPr marL="0" indent="0">
              <a:buNone/>
            </a:pPr>
            <a:r>
              <a:rPr lang="en-US" sz="1200" b="1" dirty="0">
                <a:solidFill>
                  <a:srgbClr val="E2E8F0"/>
                </a:solidFill>
                <a:latin typeface="Arial" pitchFamily="34" charset="0"/>
                <a:ea typeface="Arial" pitchFamily="34" charset="-122"/>
                <a:cs typeface="Arial" pitchFamily="34" charset="-120"/>
              </a:rPr>
              <a:t>Top-5 Reviews</a:t>
            </a:r>
            <a:endParaRPr lang="en-US" sz="1200" dirty="0"/>
          </a:p>
        </p:txBody>
      </p:sp>
      <p:sp>
        <p:nvSpPr>
          <p:cNvPr id="30" name="Text 24"/>
          <p:cNvSpPr/>
          <p:nvPr/>
        </p:nvSpPr>
        <p:spPr>
          <a:xfrm>
            <a:off x="2286000" y="4105656"/>
            <a:ext cx="365760" cy="246888"/>
          </a:xfrm>
          <a:prstGeom prst="rect">
            <a:avLst/>
          </a:prstGeom>
          <a:noFill/>
          <a:ln/>
        </p:spPr>
        <p:txBody>
          <a:bodyPr wrap="square" lIns="0" tIns="0" rIns="0" bIns="0" rtlCol="0" anchor="ctr"/>
          <a:lstStyle/>
          <a:p>
            <a:pPr marL="0" indent="0" algn="ctr">
              <a:buNone/>
            </a:pPr>
            <a:r>
              <a:rPr lang="en-US" sz="1300" b="1" dirty="0">
                <a:solidFill>
                  <a:srgbClr val="FACC15"/>
                </a:solidFill>
                <a:latin typeface="Arial" pitchFamily="34" charset="0"/>
                <a:ea typeface="Arial" pitchFamily="34" charset="-122"/>
                <a:cs typeface="Arial" pitchFamily="34" charset="-120"/>
              </a:rPr>
              <a:t>↓</a:t>
            </a:r>
            <a:endParaRPr lang="en-US" sz="1300" dirty="0"/>
          </a:p>
        </p:txBody>
      </p:sp>
      <p:sp>
        <p:nvSpPr>
          <p:cNvPr id="31" name="Shape 25"/>
          <p:cNvSpPr/>
          <p:nvPr/>
        </p:nvSpPr>
        <p:spPr>
          <a:xfrm>
            <a:off x="594360" y="43159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32" name="Image 4" descr="icons/bot.png"/>
          <p:cNvPicPr>
            <a:picLocks noChangeAspect="1"/>
          </p:cNvPicPr>
          <p:nvPr/>
        </p:nvPicPr>
        <p:blipFill>
          <a:blip r:embed="rId8"/>
          <a:stretch>
            <a:fillRect/>
          </a:stretch>
        </p:blipFill>
        <p:spPr>
          <a:xfrm>
            <a:off x="777240" y="4416552"/>
            <a:ext cx="310896" cy="310896"/>
          </a:xfrm>
          <a:prstGeom prst="rect">
            <a:avLst/>
          </a:prstGeom>
        </p:spPr>
      </p:pic>
      <p:sp>
        <p:nvSpPr>
          <p:cNvPr id="33" name="Text 26"/>
          <p:cNvSpPr/>
          <p:nvPr/>
        </p:nvSpPr>
        <p:spPr>
          <a:xfrm>
            <a:off x="1234440" y="4315968"/>
            <a:ext cx="3017520" cy="512064"/>
          </a:xfrm>
          <a:prstGeom prst="rect">
            <a:avLst/>
          </a:prstGeom>
          <a:noFill/>
          <a:ln/>
        </p:spPr>
        <p:txBody>
          <a:bodyPr wrap="square" lIns="0" tIns="0" rIns="0" bIns="0" rtlCol="0" anchor="ctr"/>
          <a:lstStyle/>
          <a:p>
            <a:pPr marL="0" indent="0">
              <a:buNone/>
            </a:pPr>
            <a:r>
              <a:rPr lang="en-US" sz="1200" b="1" dirty="0">
                <a:solidFill>
                  <a:srgbClr val="34D399"/>
                </a:solidFill>
                <a:latin typeface="Arial" pitchFamily="34" charset="0"/>
                <a:ea typeface="Arial" pitchFamily="34" charset="-122"/>
                <a:cs typeface="Arial" pitchFamily="34" charset="-120"/>
              </a:rPr>
              <a:t>Gemini LLM</a:t>
            </a:r>
            <a:endParaRPr lang="en-US" sz="1200" dirty="0"/>
          </a:p>
        </p:txBody>
      </p:sp>
      <p:sp>
        <p:nvSpPr>
          <p:cNvPr id="34" name="Text 27"/>
          <p:cNvSpPr/>
          <p:nvPr/>
        </p:nvSpPr>
        <p:spPr>
          <a:xfrm>
            <a:off x="2286000" y="4791456"/>
            <a:ext cx="365760" cy="246888"/>
          </a:xfrm>
          <a:prstGeom prst="rect">
            <a:avLst/>
          </a:prstGeom>
          <a:noFill/>
          <a:ln/>
        </p:spPr>
        <p:txBody>
          <a:bodyPr wrap="square" lIns="0" tIns="0" rIns="0" bIns="0" rtlCol="0" anchor="ctr"/>
          <a:lstStyle/>
          <a:p>
            <a:pPr marL="0" indent="0" algn="ctr">
              <a:buNone/>
            </a:pPr>
            <a:r>
              <a:rPr lang="en-US" sz="1300" b="1" dirty="0">
                <a:solidFill>
                  <a:srgbClr val="FACC15"/>
                </a:solidFill>
                <a:latin typeface="Arial" pitchFamily="34" charset="0"/>
                <a:ea typeface="Arial" pitchFamily="34" charset="-122"/>
                <a:cs typeface="Arial" pitchFamily="34" charset="-120"/>
              </a:rPr>
              <a:t>↓</a:t>
            </a:r>
            <a:endParaRPr lang="en-US" sz="1300" dirty="0"/>
          </a:p>
        </p:txBody>
      </p:sp>
      <p:sp>
        <p:nvSpPr>
          <p:cNvPr id="35" name="Shape 28"/>
          <p:cNvSpPr/>
          <p:nvPr/>
        </p:nvSpPr>
        <p:spPr>
          <a:xfrm>
            <a:off x="594360" y="5001768"/>
            <a:ext cx="3749040" cy="512064"/>
          </a:xfrm>
          <a:prstGeom prst="roundRect">
            <a:avLst>
              <a:gd name="adj" fmla="val 16071"/>
            </a:avLst>
          </a:prstGeom>
          <a:solidFill>
            <a:srgbClr val="1B1F31"/>
          </a:solidFill>
          <a:ln w="9525">
            <a:solidFill>
              <a:srgbClr val="2A3047"/>
            </a:solidFill>
            <a:prstDash val="solid"/>
          </a:ln>
        </p:spPr>
        <p:txBody>
          <a:bodyPr/>
          <a:lstStyle/>
          <a:p>
            <a:endParaRPr lang="en-US"/>
          </a:p>
        </p:txBody>
      </p:sp>
      <p:pic>
        <p:nvPicPr>
          <p:cNvPr id="36" name="Image 5" descr="icons/check.png"/>
          <p:cNvPicPr>
            <a:picLocks noChangeAspect="1"/>
          </p:cNvPicPr>
          <p:nvPr/>
        </p:nvPicPr>
        <p:blipFill>
          <a:blip r:embed="rId9"/>
          <a:stretch>
            <a:fillRect/>
          </a:stretch>
        </p:blipFill>
        <p:spPr>
          <a:xfrm>
            <a:off x="777240" y="5102352"/>
            <a:ext cx="310896" cy="310896"/>
          </a:xfrm>
          <a:prstGeom prst="rect">
            <a:avLst/>
          </a:prstGeom>
        </p:spPr>
      </p:pic>
      <p:sp>
        <p:nvSpPr>
          <p:cNvPr id="37" name="Text 29"/>
          <p:cNvSpPr/>
          <p:nvPr/>
        </p:nvSpPr>
        <p:spPr>
          <a:xfrm>
            <a:off x="1234440" y="5001768"/>
            <a:ext cx="3017520" cy="512064"/>
          </a:xfrm>
          <a:prstGeom prst="rect">
            <a:avLst/>
          </a:prstGeom>
          <a:noFill/>
          <a:ln/>
        </p:spPr>
        <p:txBody>
          <a:bodyPr wrap="square" lIns="0" tIns="0" rIns="0" bIns="0" rtlCol="0" anchor="ctr"/>
          <a:lstStyle/>
          <a:p>
            <a:pPr marL="0" indent="0">
              <a:buNone/>
            </a:pPr>
            <a:r>
              <a:rPr lang="en-US" sz="1200" b="1" dirty="0">
                <a:solidFill>
                  <a:srgbClr val="FACC15"/>
                </a:solidFill>
                <a:latin typeface="Arial" pitchFamily="34" charset="0"/>
                <a:ea typeface="Arial" pitchFamily="34" charset="-122"/>
                <a:cs typeface="Arial" pitchFamily="34" charset="-120"/>
              </a:rPr>
              <a:t>Final Answer  grounded</a:t>
            </a:r>
            <a:endParaRPr lang="en-US" sz="1200" dirty="0"/>
          </a:p>
        </p:txBody>
      </p:sp>
      <p:sp>
        <p:nvSpPr>
          <p:cNvPr id="38" name="Shape 30"/>
          <p:cNvSpPr/>
          <p:nvPr/>
        </p:nvSpPr>
        <p:spPr>
          <a:xfrm>
            <a:off x="4709160" y="1572768"/>
            <a:ext cx="6885432" cy="3941064"/>
          </a:xfrm>
          <a:prstGeom prst="roundRect">
            <a:avLst>
              <a:gd name="adj" fmla="val 2088"/>
            </a:avLst>
          </a:prstGeom>
          <a:solidFill>
            <a:srgbClr val="10131F"/>
          </a:solidFill>
          <a:ln w="9525">
            <a:solidFill>
              <a:srgbClr val="2A3047"/>
            </a:solidFill>
            <a:prstDash val="solid"/>
          </a:ln>
        </p:spPr>
        <p:txBody>
          <a:bodyPr/>
          <a:lstStyle/>
          <a:p>
            <a:endParaRPr lang="en-US"/>
          </a:p>
        </p:txBody>
      </p:sp>
      <p:sp>
        <p:nvSpPr>
          <p:cNvPr id="39" name="Text 31"/>
          <p:cNvSpPr/>
          <p:nvPr/>
        </p:nvSpPr>
        <p:spPr>
          <a:xfrm>
            <a:off x="4983480" y="1737360"/>
            <a:ext cx="4572000" cy="237744"/>
          </a:xfrm>
          <a:prstGeom prst="rect">
            <a:avLst/>
          </a:prstGeom>
          <a:noFill/>
          <a:ln/>
        </p:spPr>
        <p:txBody>
          <a:bodyPr wrap="square" lIns="0" tIns="0" rIns="0" bIns="0" rtlCol="0" anchor="ctr"/>
          <a:lstStyle/>
          <a:p>
            <a:pPr marL="0" indent="0">
              <a:buNone/>
            </a:pPr>
            <a:r>
              <a:rPr lang="en-US" sz="1000" b="1" kern="0" spc="200" dirty="0">
                <a:solidFill>
                  <a:srgbClr val="22D3EE"/>
                </a:solidFill>
                <a:latin typeface="Arial" pitchFamily="34" charset="0"/>
                <a:ea typeface="Arial" pitchFamily="34" charset="-122"/>
                <a:cs typeface="Arial" pitchFamily="34" charset="-120"/>
              </a:rPr>
              <a:t>WORKED EXAMPLE</a:t>
            </a:r>
            <a:endParaRPr lang="en-US" sz="1000" dirty="0"/>
          </a:p>
        </p:txBody>
      </p:sp>
      <p:sp>
        <p:nvSpPr>
          <p:cNvPr id="40" name="Text 32"/>
          <p:cNvSpPr/>
          <p:nvPr/>
        </p:nvSpPr>
        <p:spPr>
          <a:xfrm>
            <a:off x="4983480" y="2057400"/>
            <a:ext cx="6400800" cy="320040"/>
          </a:xfrm>
          <a:prstGeom prst="rect">
            <a:avLst/>
          </a:prstGeom>
          <a:noFill/>
          <a:ln/>
        </p:spPr>
        <p:txBody>
          <a:bodyPr wrap="square" lIns="0" tIns="0" rIns="0" bIns="0" rtlCol="0" anchor="ctr"/>
          <a:lstStyle/>
          <a:p>
            <a:pPr marL="0" indent="0">
              <a:buNone/>
            </a:pPr>
            <a:r>
              <a:rPr lang="en-US" sz="1400" b="1" dirty="0">
                <a:solidFill>
                  <a:srgbClr val="FACC15"/>
                </a:solidFill>
                <a:latin typeface="Arial" pitchFamily="34" charset="0"/>
                <a:ea typeface="Arial" pitchFamily="34" charset="-122"/>
                <a:cs typeface="Arial" pitchFamily="34" charset="-120"/>
              </a:rPr>
              <a:t>Q   </a:t>
            </a:r>
            <a:r>
              <a:rPr lang="en-US" sz="1400" b="1" dirty="0">
                <a:solidFill>
                  <a:srgbClr val="E2E8F0"/>
                </a:solidFill>
                <a:latin typeface="Arial" pitchFamily="34" charset="0"/>
                <a:ea typeface="Arial" pitchFamily="34" charset="-122"/>
                <a:cs typeface="Arial" pitchFamily="34" charset="-120"/>
              </a:rPr>
              <a:t>“Does the game still have bugs and crashes?”</a:t>
            </a:r>
            <a:endParaRPr lang="en-US" sz="1400" dirty="0"/>
          </a:p>
        </p:txBody>
      </p:sp>
      <p:sp>
        <p:nvSpPr>
          <p:cNvPr id="41" name="Text 33"/>
          <p:cNvSpPr/>
          <p:nvPr/>
        </p:nvSpPr>
        <p:spPr>
          <a:xfrm>
            <a:off x="4983480" y="2514600"/>
            <a:ext cx="6400800" cy="777240"/>
          </a:xfrm>
          <a:prstGeom prst="rect">
            <a:avLst/>
          </a:prstGeom>
          <a:noFill/>
          <a:ln/>
        </p:spPr>
        <p:txBody>
          <a:bodyPr wrap="square" lIns="0" tIns="0" rIns="0" bIns="0" rtlCol="0" anchor="ctr"/>
          <a:lstStyle/>
          <a:p>
            <a:pPr marL="0" indent="0">
              <a:buNone/>
            </a:pPr>
            <a:r>
              <a:rPr lang="en-US" sz="1150" b="1" dirty="0">
                <a:solidFill>
                  <a:srgbClr val="94A3B8"/>
                </a:solidFill>
                <a:latin typeface="Arial" pitchFamily="34" charset="0"/>
                <a:ea typeface="Arial" pitchFamily="34" charset="-122"/>
                <a:cs typeface="Arial" pitchFamily="34" charset="-120"/>
              </a:rPr>
              <a:t>Retrieved evidence (top-5):</a:t>
            </a:r>
            <a:endParaRPr lang="en-US" sz="1150" dirty="0"/>
          </a:p>
          <a:p>
            <a:pPr marL="0" indent="0">
              <a:buNone/>
            </a:pPr>
            <a:r>
              <a:rPr lang="en-US" sz="1150" dirty="0">
                <a:solidFill>
                  <a:srgbClr val="E2E8F0"/>
                </a:solidFill>
                <a:latin typeface="Arial" pitchFamily="34" charset="0"/>
                <a:ea typeface="Arial" pitchFamily="34" charset="-122"/>
                <a:cs typeface="Arial" pitchFamily="34" charset="-120"/>
              </a:rPr>
              <a:t>“Bugs: 10/10, Game: 8/10”  ·  “Must play experience…”  ·  3 more (incl. non-English, still ranked correctly)</a:t>
            </a:r>
            <a:endParaRPr lang="en-US" sz="1150" dirty="0"/>
          </a:p>
        </p:txBody>
      </p:sp>
      <p:sp>
        <p:nvSpPr>
          <p:cNvPr id="42" name="Text 34"/>
          <p:cNvSpPr/>
          <p:nvPr/>
        </p:nvSpPr>
        <p:spPr>
          <a:xfrm>
            <a:off x="4983480" y="3383280"/>
            <a:ext cx="6400800" cy="274320"/>
          </a:xfrm>
          <a:prstGeom prst="rect">
            <a:avLst/>
          </a:prstGeom>
          <a:noFill/>
          <a:ln/>
        </p:spPr>
        <p:txBody>
          <a:bodyPr wrap="square" lIns="0" tIns="0" rIns="0" bIns="0" rtlCol="0" anchor="ctr"/>
          <a:lstStyle/>
          <a:p>
            <a:pPr marL="0" indent="0">
              <a:buNone/>
            </a:pPr>
            <a:r>
              <a:rPr lang="en-US" sz="1100" i="1" dirty="0">
                <a:solidFill>
                  <a:srgbClr val="A78BFA"/>
                </a:solidFill>
                <a:latin typeface="Arial" pitchFamily="34" charset="0"/>
                <a:ea typeface="Arial" pitchFamily="34" charset="-122"/>
                <a:cs typeface="Arial" pitchFamily="34" charset="-120"/>
              </a:rPr>
              <a:t>Prompt rule: “Answer ONLY from these reviews” → no hallucination</a:t>
            </a:r>
            <a:endParaRPr lang="en-US" sz="1100" dirty="0"/>
          </a:p>
        </p:txBody>
      </p:sp>
      <p:sp>
        <p:nvSpPr>
          <p:cNvPr id="43" name="Shape 35"/>
          <p:cNvSpPr/>
          <p:nvPr/>
        </p:nvSpPr>
        <p:spPr>
          <a:xfrm>
            <a:off x="4983480" y="3794760"/>
            <a:ext cx="6355080" cy="1417320"/>
          </a:xfrm>
          <a:prstGeom prst="roundRect">
            <a:avLst>
              <a:gd name="adj" fmla="val 4516"/>
            </a:avLst>
          </a:prstGeom>
          <a:solidFill>
            <a:srgbClr val="0E2A2E"/>
          </a:solidFill>
          <a:ln w="12700">
            <a:solidFill>
              <a:srgbClr val="34D399"/>
            </a:solidFill>
            <a:prstDash val="solid"/>
          </a:ln>
        </p:spPr>
        <p:txBody>
          <a:bodyPr/>
          <a:lstStyle/>
          <a:p>
            <a:endParaRPr lang="en-US"/>
          </a:p>
        </p:txBody>
      </p:sp>
      <p:sp>
        <p:nvSpPr>
          <p:cNvPr id="44" name="Text 36"/>
          <p:cNvSpPr/>
          <p:nvPr/>
        </p:nvSpPr>
        <p:spPr>
          <a:xfrm>
            <a:off x="5166360" y="3913632"/>
            <a:ext cx="6035040" cy="1188720"/>
          </a:xfrm>
          <a:prstGeom prst="rect">
            <a:avLst/>
          </a:prstGeom>
          <a:noFill/>
          <a:ln/>
        </p:spPr>
        <p:txBody>
          <a:bodyPr wrap="square" lIns="0" tIns="0" rIns="0" bIns="0" rtlCol="0" anchor="ctr"/>
          <a:lstStyle/>
          <a:p>
            <a:pPr marL="0" indent="0">
              <a:buNone/>
            </a:pPr>
            <a:r>
              <a:rPr lang="en-US" sz="1250" b="1" dirty="0">
                <a:solidFill>
                  <a:srgbClr val="34D399"/>
                </a:solidFill>
                <a:latin typeface="Arial" pitchFamily="34" charset="0"/>
                <a:ea typeface="Arial" pitchFamily="34" charset="-122"/>
                <a:cs typeface="Arial" pitchFamily="34" charset="-120"/>
              </a:rPr>
              <a:t>A  (grounded)   </a:t>
            </a:r>
            <a:r>
              <a:rPr lang="en-US" sz="1250" i="1" dirty="0">
                <a:solidFill>
                  <a:srgbClr val="E2E8F0"/>
                </a:solidFill>
                <a:latin typeface="Arial" pitchFamily="34" charset="0"/>
                <a:ea typeface="Arial" pitchFamily="34" charset="-122"/>
                <a:cs typeface="Arial" pitchFamily="34" charset="-120"/>
              </a:rPr>
              <a:t>“Yes  several players still report bugs, and one warns they can hurt the experience. But even those reviewers rate the game positively and recommend it overall.”</a:t>
            </a:r>
            <a:endParaRPr lang="en-US" sz="1250" dirty="0"/>
          </a:p>
        </p:txBody>
      </p:sp>
      <p:sp>
        <p:nvSpPr>
          <p:cNvPr id="45" name="Shape 37"/>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46" name="Text 38"/>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Every claim in the answer is traceable to a retrieved review  retrieval + generation, no hallucination.</a:t>
            </a:r>
            <a:endParaRPr lang="en-US" sz="1250" dirty="0"/>
          </a:p>
        </p:txBody>
      </p:sp>
      <p:sp>
        <p:nvSpPr>
          <p:cNvPr id="47" name="Text 39"/>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48" name="Text 40"/>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13</a:t>
            </a:r>
            <a:endParaRPr lang="en-US" sz="900" dirty="0"/>
          </a:p>
        </p:txBody>
      </p:sp>
      <p:pic>
        <p:nvPicPr>
          <p:cNvPr id="49" name="Image 6" descr="logo_dark.png"/>
          <p:cNvPicPr>
            <a:picLocks noChangeAspect="1"/>
          </p:cNvPicPr>
          <p:nvPr/>
        </p:nvPicPr>
        <p:blipFill>
          <a:blip r:embed="rId10"/>
          <a:stretch>
            <a:fillRect/>
          </a:stretch>
        </p:blipFill>
        <p:spPr>
          <a:xfrm>
            <a:off x="10222992" y="6236208"/>
            <a:ext cx="868680" cy="502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4652" y="376961"/>
            <a:ext cx="73152" cy="0"/>
          </a:xfrm>
          <a:prstGeom prst="line">
            <a:avLst/>
          </a:prstGeom>
          <a:noFill/>
          <a:ln w="19050">
            <a:solidFill>
              <a:srgbClr val="7EB6E5"/>
            </a:solidFill>
            <a:prstDash val="solid"/>
          </a:ln>
        </p:spPr>
        <p:txBody>
          <a:bodyPr/>
          <a:lstStyle/>
          <a:p>
            <a:endParaRPr lang="en-US"/>
          </a:p>
        </p:txBody>
      </p:sp>
      <p:sp>
        <p:nvSpPr>
          <p:cNvPr id="3" name="Shape 1"/>
          <p:cNvSpPr/>
          <p:nvPr/>
        </p:nvSpPr>
        <p:spPr>
          <a:xfrm>
            <a:off x="594360" y="361188"/>
            <a:ext cx="100584" cy="100584"/>
          </a:xfrm>
          <a:prstGeom prst="ellipse">
            <a:avLst/>
          </a:prstGeom>
          <a:solidFill>
            <a:srgbClr val="7EB6E5"/>
          </a:solidFill>
          <a:ln/>
        </p:spPr>
        <p:txBody>
          <a:bodyPr/>
          <a:lstStyle/>
          <a:p>
            <a:endParaRPr lang="en-US"/>
          </a:p>
        </p:txBody>
      </p:sp>
      <p:sp>
        <p:nvSpPr>
          <p:cNvPr id="4" name="Shape 2"/>
          <p:cNvSpPr/>
          <p:nvPr/>
        </p:nvSpPr>
        <p:spPr>
          <a:xfrm>
            <a:off x="800100" y="376961"/>
            <a:ext cx="73152" cy="0"/>
          </a:xfrm>
          <a:prstGeom prst="line">
            <a:avLst/>
          </a:prstGeom>
          <a:noFill/>
          <a:ln w="19050">
            <a:solidFill>
              <a:srgbClr val="5E7EC7"/>
            </a:solidFill>
            <a:prstDash val="solid"/>
          </a:ln>
        </p:spPr>
        <p:txBody>
          <a:bodyPr/>
          <a:lstStyle/>
          <a:p>
            <a:endParaRPr lang="en-US"/>
          </a:p>
        </p:txBody>
      </p:sp>
      <p:sp>
        <p:nvSpPr>
          <p:cNvPr id="5" name="Shape 3"/>
          <p:cNvSpPr/>
          <p:nvPr/>
        </p:nvSpPr>
        <p:spPr>
          <a:xfrm>
            <a:off x="749808" y="297180"/>
            <a:ext cx="100584" cy="100584"/>
          </a:xfrm>
          <a:prstGeom prst="ellipse">
            <a:avLst/>
          </a:prstGeom>
          <a:solidFill>
            <a:srgbClr val="5E7EC7"/>
          </a:solidFill>
          <a:ln/>
        </p:spPr>
        <p:txBody>
          <a:bodyPr/>
          <a:lstStyle/>
          <a:p>
            <a:endParaRPr lang="en-US"/>
          </a:p>
        </p:txBody>
      </p:sp>
      <p:sp>
        <p:nvSpPr>
          <p:cNvPr id="6" name="Shape 4"/>
          <p:cNvSpPr/>
          <p:nvPr/>
        </p:nvSpPr>
        <p:spPr>
          <a:xfrm>
            <a:off x="955548" y="376961"/>
            <a:ext cx="73152" cy="0"/>
          </a:xfrm>
          <a:prstGeom prst="line">
            <a:avLst/>
          </a:prstGeom>
          <a:noFill/>
          <a:ln w="19050">
            <a:solidFill>
              <a:srgbClr val="7A56AC"/>
            </a:solidFill>
            <a:prstDash val="solid"/>
          </a:ln>
        </p:spPr>
        <p:txBody>
          <a:bodyPr/>
          <a:lstStyle/>
          <a:p>
            <a:endParaRPr lang="en-US"/>
          </a:p>
        </p:txBody>
      </p:sp>
      <p:sp>
        <p:nvSpPr>
          <p:cNvPr id="7" name="Shape 5"/>
          <p:cNvSpPr/>
          <p:nvPr/>
        </p:nvSpPr>
        <p:spPr>
          <a:xfrm>
            <a:off x="905256" y="361188"/>
            <a:ext cx="100584" cy="100584"/>
          </a:xfrm>
          <a:prstGeom prst="ellipse">
            <a:avLst/>
          </a:prstGeom>
          <a:solidFill>
            <a:srgbClr val="7A56AC"/>
          </a:solidFill>
          <a:ln/>
        </p:spPr>
        <p:txBody>
          <a:bodyPr/>
          <a:lstStyle/>
          <a:p>
            <a:endParaRPr lang="en-US"/>
          </a:p>
        </p:txBody>
      </p:sp>
      <p:sp>
        <p:nvSpPr>
          <p:cNvPr id="8" name="Shape 6"/>
          <p:cNvSpPr/>
          <p:nvPr/>
        </p:nvSpPr>
        <p:spPr>
          <a:xfrm>
            <a:off x="1110996" y="376961"/>
            <a:ext cx="73152" cy="0"/>
          </a:xfrm>
          <a:prstGeom prst="line">
            <a:avLst/>
          </a:prstGeom>
          <a:noFill/>
          <a:ln w="19050">
            <a:solidFill>
              <a:srgbClr val="A03A9A"/>
            </a:solidFill>
            <a:prstDash val="solid"/>
          </a:ln>
        </p:spPr>
        <p:txBody>
          <a:bodyPr/>
          <a:lstStyle/>
          <a:p>
            <a:endParaRPr lang="en-US"/>
          </a:p>
        </p:txBody>
      </p:sp>
      <p:sp>
        <p:nvSpPr>
          <p:cNvPr id="9" name="Shape 7"/>
          <p:cNvSpPr/>
          <p:nvPr/>
        </p:nvSpPr>
        <p:spPr>
          <a:xfrm>
            <a:off x="1060704" y="297180"/>
            <a:ext cx="100584" cy="100584"/>
          </a:xfrm>
          <a:prstGeom prst="ellipse">
            <a:avLst/>
          </a:prstGeom>
          <a:solidFill>
            <a:srgbClr val="A03A9A"/>
          </a:solidFill>
          <a:ln/>
        </p:spPr>
        <p:txBody>
          <a:bodyPr/>
          <a:lstStyle/>
          <a:p>
            <a:endParaRPr lang="en-US"/>
          </a:p>
        </p:txBody>
      </p:sp>
      <p:sp>
        <p:nvSpPr>
          <p:cNvPr id="10" name="Shape 8"/>
          <p:cNvSpPr/>
          <p:nvPr/>
        </p:nvSpPr>
        <p:spPr>
          <a:xfrm>
            <a:off x="1216152" y="361188"/>
            <a:ext cx="100584" cy="100584"/>
          </a:xfrm>
          <a:prstGeom prst="ellipse">
            <a:avLst/>
          </a:prstGeom>
          <a:solidFill>
            <a:srgbClr val="C22385"/>
          </a:solidFill>
          <a:ln/>
        </p:spPr>
        <p:txBody>
          <a:bodyPr/>
          <a:lstStyle/>
          <a:p>
            <a:endParaRPr lang="en-US"/>
          </a:p>
        </p:txBody>
      </p:sp>
      <p:sp>
        <p:nvSpPr>
          <p:cNvPr id="11" name="Text 9"/>
          <p:cNvSpPr/>
          <p:nvPr/>
        </p:nvSpPr>
        <p:spPr>
          <a:xfrm>
            <a:off x="1417320" y="274320"/>
            <a:ext cx="7315200" cy="274320"/>
          </a:xfrm>
          <a:prstGeom prst="rect">
            <a:avLst/>
          </a:prstGeom>
          <a:noFill/>
          <a:ln/>
        </p:spPr>
        <p:txBody>
          <a:bodyPr wrap="square" lIns="0" tIns="0" rIns="0" bIns="0" rtlCol="0" anchor="ctr"/>
          <a:lstStyle/>
          <a:p>
            <a:pPr marL="0" indent="0">
              <a:buNone/>
            </a:pPr>
            <a:r>
              <a:rPr lang="en-US" sz="1100" b="1" kern="0" spc="300" dirty="0">
                <a:solidFill>
                  <a:srgbClr val="22D3EE"/>
                </a:solidFill>
                <a:latin typeface="Arial" pitchFamily="34" charset="0"/>
                <a:ea typeface="Arial" pitchFamily="34" charset="-122"/>
                <a:cs typeface="Arial" pitchFamily="34" charset="-120"/>
              </a:rPr>
              <a:t>FINAL ANALYSIS · PUTTING THE COLUMNS TO WORK</a:t>
            </a:r>
            <a:endParaRPr lang="en-US" sz="1100" dirty="0"/>
          </a:p>
        </p:txBody>
      </p:sp>
      <p:sp>
        <p:nvSpPr>
          <p:cNvPr id="12" name="Text 10"/>
          <p:cNvSpPr/>
          <p:nvPr/>
        </p:nvSpPr>
        <p:spPr>
          <a:xfrm>
            <a:off x="594360" y="566928"/>
            <a:ext cx="8778240" cy="640080"/>
          </a:xfrm>
          <a:prstGeom prst="rect">
            <a:avLst/>
          </a:prstGeom>
          <a:noFill/>
          <a:ln/>
        </p:spPr>
        <p:txBody>
          <a:bodyPr wrap="square" lIns="0" tIns="0" rIns="0" bIns="0" rtlCol="0" anchor="ctr"/>
          <a:lstStyle/>
          <a:p>
            <a:pPr marL="0" indent="0">
              <a:buNone/>
            </a:pPr>
            <a:r>
              <a:rPr lang="en-US" sz="2700" b="1" dirty="0">
                <a:solidFill>
                  <a:srgbClr val="E2E8F0"/>
                </a:solidFill>
                <a:latin typeface="Arial" pitchFamily="34" charset="0"/>
                <a:ea typeface="Arial" pitchFamily="34" charset="-122"/>
                <a:cs typeface="Arial" pitchFamily="34" charset="-120"/>
              </a:rPr>
              <a:t>Findings: Stable Praise, Persistent Complaints</a:t>
            </a:r>
            <a:endParaRPr lang="en-US" sz="2700" dirty="0"/>
          </a:p>
        </p:txBody>
      </p:sp>
      <p:sp>
        <p:nvSpPr>
          <p:cNvPr id="13" name="Shape 11"/>
          <p:cNvSpPr/>
          <p:nvPr/>
        </p:nvSpPr>
        <p:spPr>
          <a:xfrm>
            <a:off x="9491472" y="384048"/>
            <a:ext cx="2103120" cy="310896"/>
          </a:xfrm>
          <a:prstGeom prst="roundRect">
            <a:avLst>
              <a:gd name="adj" fmla="val 17647"/>
            </a:avLst>
          </a:prstGeom>
          <a:solidFill>
            <a:srgbClr val="1B1F31"/>
          </a:solidFill>
          <a:ln w="12700">
            <a:solidFill>
              <a:srgbClr val="FACC15"/>
            </a:solidFill>
            <a:prstDash val="solid"/>
          </a:ln>
        </p:spPr>
        <p:txBody>
          <a:bodyPr/>
          <a:lstStyle/>
          <a:p>
            <a:endParaRPr lang="en-US"/>
          </a:p>
        </p:txBody>
      </p:sp>
      <p:sp>
        <p:nvSpPr>
          <p:cNvPr id="14" name="Text 12"/>
          <p:cNvSpPr/>
          <p:nvPr/>
        </p:nvSpPr>
        <p:spPr>
          <a:xfrm>
            <a:off x="9491472" y="384048"/>
            <a:ext cx="2103120" cy="310896"/>
          </a:xfrm>
          <a:prstGeom prst="rect">
            <a:avLst/>
          </a:prstGeom>
          <a:noFill/>
          <a:ln/>
        </p:spPr>
        <p:txBody>
          <a:bodyPr wrap="square" lIns="0" tIns="0" rIns="0" bIns="0" rtlCol="0" anchor="ctr"/>
          <a:lstStyle/>
          <a:p>
            <a:pPr marL="0" indent="0" algn="ctr">
              <a:buNone/>
            </a:pPr>
            <a:r>
              <a:rPr lang="en-US" sz="1050" b="1" dirty="0">
                <a:solidFill>
                  <a:srgbClr val="FACC15"/>
                </a:solidFill>
                <a:latin typeface="Arial" pitchFamily="34" charset="0"/>
                <a:ea typeface="Arial" pitchFamily="34" charset="-122"/>
                <a:cs typeface="Arial" pitchFamily="34" charset="-120"/>
              </a:rPr>
              <a:t>RESULTS</a:t>
            </a:r>
            <a:endParaRPr lang="en-US" sz="1050" dirty="0"/>
          </a:p>
        </p:txBody>
      </p:sp>
      <p:pic>
        <p:nvPicPr>
          <p:cNvPr id="15" name="Image 0" descr="sentiment_timeline.png"/>
          <p:cNvPicPr>
            <a:picLocks noChangeAspect="1"/>
          </p:cNvPicPr>
          <p:nvPr/>
        </p:nvPicPr>
        <p:blipFill>
          <a:blip r:embed="rId4"/>
          <a:stretch>
            <a:fillRect/>
          </a:stretch>
        </p:blipFill>
        <p:spPr>
          <a:xfrm>
            <a:off x="594360" y="1554480"/>
            <a:ext cx="6309360" cy="2084832"/>
          </a:xfrm>
          <a:prstGeom prst="rect">
            <a:avLst/>
          </a:prstGeom>
        </p:spPr>
      </p:pic>
      <p:pic>
        <p:nvPicPr>
          <p:cNvPr id="16" name="Image 1" descr="aspect_analysis.png"/>
          <p:cNvPicPr>
            <a:picLocks noChangeAspect="1"/>
          </p:cNvPicPr>
          <p:nvPr/>
        </p:nvPicPr>
        <p:blipFill>
          <a:blip r:embed="rId5"/>
          <a:stretch>
            <a:fillRect/>
          </a:stretch>
        </p:blipFill>
        <p:spPr>
          <a:xfrm>
            <a:off x="594360" y="3767328"/>
            <a:ext cx="6309360" cy="1828800"/>
          </a:xfrm>
          <a:prstGeom prst="rect">
            <a:avLst/>
          </a:prstGeom>
        </p:spPr>
      </p:pic>
      <p:sp>
        <p:nvSpPr>
          <p:cNvPr id="17" name="Shape 13"/>
          <p:cNvSpPr/>
          <p:nvPr/>
        </p:nvSpPr>
        <p:spPr>
          <a:xfrm>
            <a:off x="7223760" y="1554480"/>
            <a:ext cx="4370832" cy="4041648"/>
          </a:xfrm>
          <a:prstGeom prst="roundRect">
            <a:avLst>
              <a:gd name="adj" fmla="val 2036"/>
            </a:avLst>
          </a:prstGeom>
          <a:solidFill>
            <a:srgbClr val="151827"/>
          </a:solidFill>
          <a:ln w="9525">
            <a:solidFill>
              <a:srgbClr val="2A3047"/>
            </a:solidFill>
            <a:prstDash val="solid"/>
          </a:ln>
        </p:spPr>
        <p:txBody>
          <a:bodyPr/>
          <a:lstStyle/>
          <a:p>
            <a:endParaRPr lang="en-US"/>
          </a:p>
        </p:txBody>
      </p:sp>
      <p:pic>
        <p:nvPicPr>
          <p:cNvPr id="18" name="Image 2" descr="icons/trend.png"/>
          <p:cNvPicPr>
            <a:picLocks noChangeAspect="1"/>
          </p:cNvPicPr>
          <p:nvPr/>
        </p:nvPicPr>
        <p:blipFill>
          <a:blip r:embed="rId6"/>
          <a:stretch>
            <a:fillRect/>
          </a:stretch>
        </p:blipFill>
        <p:spPr>
          <a:xfrm>
            <a:off x="7680960" y="1828800"/>
            <a:ext cx="402336" cy="402336"/>
          </a:xfrm>
          <a:prstGeom prst="rect">
            <a:avLst/>
          </a:prstGeom>
        </p:spPr>
      </p:pic>
      <p:sp>
        <p:nvSpPr>
          <p:cNvPr id="19" name="Text 14"/>
          <p:cNvSpPr/>
          <p:nvPr/>
        </p:nvSpPr>
        <p:spPr>
          <a:xfrm>
            <a:off x="8275320" y="1709928"/>
            <a:ext cx="3200400" cy="502920"/>
          </a:xfrm>
          <a:prstGeom prst="rect">
            <a:avLst/>
          </a:prstGeom>
          <a:noFill/>
          <a:ln/>
        </p:spPr>
        <p:txBody>
          <a:bodyPr wrap="square" lIns="0" tIns="0" rIns="0" bIns="0" rtlCol="0" anchor="ctr"/>
          <a:lstStyle/>
          <a:p>
            <a:pPr marL="0" indent="0">
              <a:buNone/>
            </a:pPr>
            <a:r>
              <a:rPr lang="en-US" sz="2400" b="1" dirty="0">
                <a:solidFill>
                  <a:srgbClr val="34D399"/>
                </a:solidFill>
                <a:latin typeface="Arial" pitchFamily="34" charset="0"/>
                <a:ea typeface="Arial" pitchFamily="34" charset="-122"/>
                <a:cs typeface="Arial" pitchFamily="34" charset="-120"/>
              </a:rPr>
              <a:t>92.7%</a:t>
            </a:r>
            <a:endParaRPr lang="en-US" sz="2400" dirty="0"/>
          </a:p>
        </p:txBody>
      </p:sp>
      <p:sp>
        <p:nvSpPr>
          <p:cNvPr id="20" name="Text 15"/>
          <p:cNvSpPr/>
          <p:nvPr/>
        </p:nvSpPr>
        <p:spPr>
          <a:xfrm>
            <a:off x="8275320" y="2221992"/>
            <a:ext cx="3200400" cy="77724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positive in Jul 2026  vs 92.5% in Jul 2024. Two years, no decline.</a:t>
            </a:r>
            <a:endParaRPr lang="en-US" sz="1050" dirty="0"/>
          </a:p>
        </p:txBody>
      </p:sp>
      <p:pic>
        <p:nvPicPr>
          <p:cNvPr id="21" name="Image 3" descr="icons/gamepad.png"/>
          <p:cNvPicPr>
            <a:picLocks noChangeAspect="1"/>
          </p:cNvPicPr>
          <p:nvPr/>
        </p:nvPicPr>
        <p:blipFill>
          <a:blip r:embed="rId7"/>
          <a:stretch>
            <a:fillRect/>
          </a:stretch>
        </p:blipFill>
        <p:spPr>
          <a:xfrm>
            <a:off x="7680960" y="3108960"/>
            <a:ext cx="402336" cy="402336"/>
          </a:xfrm>
          <a:prstGeom prst="rect">
            <a:avLst/>
          </a:prstGeom>
        </p:spPr>
      </p:pic>
      <p:sp>
        <p:nvSpPr>
          <p:cNvPr id="22" name="Text 16"/>
          <p:cNvSpPr/>
          <p:nvPr/>
        </p:nvSpPr>
        <p:spPr>
          <a:xfrm>
            <a:off x="8275320" y="2990088"/>
            <a:ext cx="3200400" cy="502920"/>
          </a:xfrm>
          <a:prstGeom prst="rect">
            <a:avLst/>
          </a:prstGeom>
          <a:noFill/>
          <a:ln/>
        </p:spPr>
        <p:txBody>
          <a:bodyPr wrap="square" lIns="0" tIns="0" rIns="0" bIns="0" rtlCol="0" anchor="ctr"/>
          <a:lstStyle/>
          <a:p>
            <a:pPr marL="0" indent="0">
              <a:buNone/>
            </a:pPr>
            <a:r>
              <a:rPr lang="en-US" sz="2400" b="1" dirty="0">
                <a:solidFill>
                  <a:srgbClr val="22D3EE"/>
                </a:solidFill>
                <a:latin typeface="Arial" pitchFamily="34" charset="0"/>
                <a:ea typeface="Arial" pitchFamily="34" charset="-122"/>
                <a:cs typeface="Arial" pitchFamily="34" charset="-120"/>
              </a:rPr>
              <a:t>97.5 vs 88.5</a:t>
            </a:r>
            <a:endParaRPr lang="en-US" sz="2400" dirty="0"/>
          </a:p>
        </p:txBody>
      </p:sp>
      <p:sp>
        <p:nvSpPr>
          <p:cNvPr id="23" name="Text 17"/>
          <p:cNvSpPr/>
          <p:nvPr/>
        </p:nvSpPr>
        <p:spPr>
          <a:xfrm>
            <a:off x="8275320" y="3502152"/>
            <a:ext cx="3200400" cy="77724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 positive: PS5 vs PC  the platform gap (NER column).</a:t>
            </a:r>
            <a:endParaRPr lang="en-US" sz="1050" dirty="0"/>
          </a:p>
        </p:txBody>
      </p:sp>
      <p:pic>
        <p:nvPicPr>
          <p:cNvPr id="24" name="Image 4" descr="icons/alert.png"/>
          <p:cNvPicPr>
            <a:picLocks noChangeAspect="1"/>
          </p:cNvPicPr>
          <p:nvPr/>
        </p:nvPicPr>
        <p:blipFill>
          <a:blip r:embed="rId8"/>
          <a:stretch>
            <a:fillRect/>
          </a:stretch>
        </p:blipFill>
        <p:spPr>
          <a:xfrm>
            <a:off x="7680960" y="4389120"/>
            <a:ext cx="402336" cy="402336"/>
          </a:xfrm>
          <a:prstGeom prst="rect">
            <a:avLst/>
          </a:prstGeom>
        </p:spPr>
      </p:pic>
      <p:sp>
        <p:nvSpPr>
          <p:cNvPr id="25" name="Text 18"/>
          <p:cNvSpPr/>
          <p:nvPr/>
        </p:nvSpPr>
        <p:spPr>
          <a:xfrm>
            <a:off x="8275320" y="4270248"/>
            <a:ext cx="3200400" cy="502920"/>
          </a:xfrm>
          <a:prstGeom prst="rect">
            <a:avLst/>
          </a:prstGeom>
          <a:noFill/>
          <a:ln/>
        </p:spPr>
        <p:txBody>
          <a:bodyPr wrap="square" lIns="0" tIns="0" rIns="0" bIns="0" rtlCol="0" anchor="ctr"/>
          <a:lstStyle/>
          <a:p>
            <a:pPr marL="0" indent="0">
              <a:buNone/>
            </a:pPr>
            <a:r>
              <a:rPr lang="en-US" sz="2400" b="1" dirty="0">
                <a:solidFill>
                  <a:srgbClr val="F87171"/>
                </a:solidFill>
                <a:latin typeface="Arial" pitchFamily="34" charset="0"/>
                <a:ea typeface="Arial" pitchFamily="34" charset="-122"/>
                <a:cs typeface="Arial" pitchFamily="34" charset="-120"/>
              </a:rPr>
              <a:t>249</a:t>
            </a:r>
            <a:endParaRPr lang="en-US" sz="2400" dirty="0"/>
          </a:p>
        </p:txBody>
      </p:sp>
      <p:sp>
        <p:nvSpPr>
          <p:cNvPr id="26" name="Text 19"/>
          <p:cNvSpPr/>
          <p:nvPr/>
        </p:nvSpPr>
        <p:spPr>
          <a:xfrm>
            <a:off x="8275320" y="4782312"/>
            <a:ext cx="3200400" cy="777240"/>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CRASH_BUG mentions  rare but never zero (Matcher column).</a:t>
            </a:r>
            <a:endParaRPr lang="en-US" sz="1050" dirty="0"/>
          </a:p>
        </p:txBody>
      </p:sp>
      <p:sp>
        <p:nvSpPr>
          <p:cNvPr id="27" name="Shape 20"/>
          <p:cNvSpPr/>
          <p:nvPr/>
        </p:nvSpPr>
        <p:spPr>
          <a:xfrm>
            <a:off x="594360" y="5742432"/>
            <a:ext cx="11000232" cy="658368"/>
          </a:xfrm>
          <a:prstGeom prst="roundRect">
            <a:avLst>
              <a:gd name="adj" fmla="val 12500"/>
            </a:avLst>
          </a:prstGeom>
          <a:solidFill>
            <a:srgbClr val="1B1F31"/>
          </a:solidFill>
          <a:ln w="12700">
            <a:solidFill>
              <a:srgbClr val="FACC15"/>
            </a:solidFill>
            <a:prstDash val="solid"/>
          </a:ln>
        </p:spPr>
        <p:txBody>
          <a:bodyPr/>
          <a:lstStyle/>
          <a:p>
            <a:endParaRPr lang="en-US"/>
          </a:p>
        </p:txBody>
      </p:sp>
      <p:sp>
        <p:nvSpPr>
          <p:cNvPr id="28" name="Text 21"/>
          <p:cNvSpPr/>
          <p:nvPr/>
        </p:nvSpPr>
        <p:spPr>
          <a:xfrm>
            <a:off x="914400" y="5742432"/>
            <a:ext cx="10424160" cy="658368"/>
          </a:xfrm>
          <a:prstGeom prst="rect">
            <a:avLst/>
          </a:prstGeom>
          <a:noFill/>
          <a:ln/>
        </p:spPr>
        <p:txBody>
          <a:bodyPr wrap="square" lIns="0" tIns="0" rIns="0" bIns="0" rtlCol="0" anchor="ctr"/>
          <a:lstStyle/>
          <a:p>
            <a:pPr marL="0" indent="0">
              <a:buNone/>
            </a:pPr>
            <a:r>
              <a:rPr lang="en-US" sz="1250" b="1" dirty="0">
                <a:solidFill>
                  <a:srgbClr val="FACC15"/>
                </a:solidFill>
                <a:latin typeface="Arial" pitchFamily="34" charset="0"/>
                <a:ea typeface="Arial" pitchFamily="34" charset="-122"/>
                <a:cs typeface="Arial" pitchFamily="34" charset="-120"/>
              </a:rPr>
              <a:t>Takeaway   </a:t>
            </a:r>
            <a:r>
              <a:rPr lang="en-US" sz="1250" dirty="0">
                <a:solidFill>
                  <a:srgbClr val="E2E8F0"/>
                </a:solidFill>
                <a:latin typeface="Arial" pitchFamily="34" charset="0"/>
                <a:ea typeface="Arial" pitchFamily="34" charset="-122"/>
                <a:cs typeface="Arial" pitchFamily="34" charset="-120"/>
              </a:rPr>
              <a:t>Sentiment is high AND stable the recovery holds; crashes remain the last stubborn weakness.</a:t>
            </a:r>
            <a:endParaRPr lang="en-US" sz="1250" dirty="0"/>
          </a:p>
        </p:txBody>
      </p:sp>
      <p:sp>
        <p:nvSpPr>
          <p:cNvPr id="29" name="Text 22"/>
          <p:cNvSpPr/>
          <p:nvPr/>
        </p:nvSpPr>
        <p:spPr>
          <a:xfrm>
            <a:off x="594360" y="6492240"/>
            <a:ext cx="4572000" cy="256032"/>
          </a:xfrm>
          <a:prstGeom prst="rect">
            <a:avLst/>
          </a:prstGeom>
          <a:noFill/>
          <a:ln/>
        </p:spPr>
        <p:txBody>
          <a:bodyPr wrap="square" lIns="0" tIns="0" rIns="0" bIns="0" rtlCol="0" anchor="ctr"/>
          <a:lstStyle/>
          <a:p>
            <a:pPr marL="0" indent="0">
              <a:buNone/>
            </a:pPr>
            <a:r>
              <a:rPr lang="en-US" sz="850" dirty="0">
                <a:solidFill>
                  <a:srgbClr val="555B70"/>
                </a:solidFill>
                <a:latin typeface="Arial" pitchFamily="34" charset="0"/>
                <a:ea typeface="Arial" pitchFamily="34" charset="-122"/>
                <a:cs typeface="Arial" pitchFamily="34" charset="-120"/>
              </a:rPr>
              <a:t>Cyberpunk 2077 · NLP Project · Hochschule Aalen</a:t>
            </a:r>
            <a:endParaRPr lang="en-US" sz="850" dirty="0"/>
          </a:p>
        </p:txBody>
      </p:sp>
      <p:sp>
        <p:nvSpPr>
          <p:cNvPr id="30" name="Text 23"/>
          <p:cNvSpPr/>
          <p:nvPr/>
        </p:nvSpPr>
        <p:spPr>
          <a:xfrm>
            <a:off x="11274552" y="6492240"/>
            <a:ext cx="365760" cy="256032"/>
          </a:xfrm>
          <a:prstGeom prst="rect">
            <a:avLst/>
          </a:prstGeom>
          <a:noFill/>
          <a:ln/>
        </p:spPr>
        <p:txBody>
          <a:bodyPr wrap="square" lIns="0" tIns="0" rIns="0" bIns="0" rtlCol="0" anchor="ctr"/>
          <a:lstStyle/>
          <a:p>
            <a:pPr marL="0" indent="0" algn="r">
              <a:buNone/>
            </a:pPr>
            <a:r>
              <a:rPr lang="en-US" sz="900" b="1" dirty="0">
                <a:solidFill>
                  <a:srgbClr val="94A3B8"/>
                </a:solidFill>
                <a:latin typeface="Arial" pitchFamily="34" charset="0"/>
                <a:ea typeface="Arial" pitchFamily="34" charset="-122"/>
                <a:cs typeface="Arial" pitchFamily="34" charset="-120"/>
              </a:rPr>
              <a:t>14</a:t>
            </a:r>
            <a:endParaRPr lang="en-US" sz="900" dirty="0"/>
          </a:p>
        </p:txBody>
      </p:sp>
      <p:pic>
        <p:nvPicPr>
          <p:cNvPr id="31" name="Image 5" descr="logo_dark.png"/>
          <p:cNvPicPr>
            <a:picLocks noChangeAspect="1"/>
          </p:cNvPicPr>
          <p:nvPr/>
        </p:nvPicPr>
        <p:blipFill>
          <a:blip r:embed="rId9"/>
          <a:stretch>
            <a:fillRect/>
          </a:stretch>
        </p:blipFill>
        <p:spPr>
          <a:xfrm>
            <a:off x="10222992" y="6236208"/>
            <a:ext cx="868680" cy="502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1598" y="514533"/>
            <a:ext cx="84125" cy="0"/>
          </a:xfrm>
          <a:prstGeom prst="line">
            <a:avLst/>
          </a:prstGeom>
          <a:noFill/>
          <a:ln w="22860">
            <a:solidFill>
              <a:srgbClr val="7EB6E5"/>
            </a:solidFill>
            <a:prstDash val="solid"/>
          </a:ln>
        </p:spPr>
        <p:txBody>
          <a:bodyPr/>
          <a:lstStyle/>
          <a:p>
            <a:endParaRPr lang="en-US"/>
          </a:p>
        </p:txBody>
      </p:sp>
      <p:sp>
        <p:nvSpPr>
          <p:cNvPr id="3" name="Shape 1"/>
          <p:cNvSpPr/>
          <p:nvPr/>
        </p:nvSpPr>
        <p:spPr>
          <a:xfrm>
            <a:off x="841248" y="495605"/>
            <a:ext cx="120701" cy="120701"/>
          </a:xfrm>
          <a:prstGeom prst="ellipse">
            <a:avLst/>
          </a:prstGeom>
          <a:solidFill>
            <a:srgbClr val="7EB6E5"/>
          </a:solidFill>
          <a:ln/>
        </p:spPr>
        <p:txBody>
          <a:bodyPr/>
          <a:lstStyle/>
          <a:p>
            <a:endParaRPr lang="en-US"/>
          </a:p>
        </p:txBody>
      </p:sp>
      <p:sp>
        <p:nvSpPr>
          <p:cNvPr id="4" name="Shape 2"/>
          <p:cNvSpPr/>
          <p:nvPr/>
        </p:nvSpPr>
        <p:spPr>
          <a:xfrm>
            <a:off x="1088136" y="514533"/>
            <a:ext cx="84125" cy="0"/>
          </a:xfrm>
          <a:prstGeom prst="line">
            <a:avLst/>
          </a:prstGeom>
          <a:noFill/>
          <a:ln w="22860">
            <a:solidFill>
              <a:srgbClr val="5E7EC7"/>
            </a:solidFill>
            <a:prstDash val="solid"/>
          </a:ln>
        </p:spPr>
        <p:txBody>
          <a:bodyPr/>
          <a:lstStyle/>
          <a:p>
            <a:endParaRPr lang="en-US"/>
          </a:p>
        </p:txBody>
      </p:sp>
      <p:sp>
        <p:nvSpPr>
          <p:cNvPr id="5" name="Shape 3"/>
          <p:cNvSpPr/>
          <p:nvPr/>
        </p:nvSpPr>
        <p:spPr>
          <a:xfrm>
            <a:off x="1027786" y="418795"/>
            <a:ext cx="120701" cy="120701"/>
          </a:xfrm>
          <a:prstGeom prst="ellipse">
            <a:avLst/>
          </a:prstGeom>
          <a:solidFill>
            <a:srgbClr val="5E7EC7"/>
          </a:solidFill>
          <a:ln/>
        </p:spPr>
        <p:txBody>
          <a:bodyPr/>
          <a:lstStyle/>
          <a:p>
            <a:endParaRPr lang="en-US"/>
          </a:p>
        </p:txBody>
      </p:sp>
      <p:sp>
        <p:nvSpPr>
          <p:cNvPr id="6" name="Shape 4"/>
          <p:cNvSpPr/>
          <p:nvPr/>
        </p:nvSpPr>
        <p:spPr>
          <a:xfrm>
            <a:off x="1274674" y="514533"/>
            <a:ext cx="84125" cy="0"/>
          </a:xfrm>
          <a:prstGeom prst="line">
            <a:avLst/>
          </a:prstGeom>
          <a:noFill/>
          <a:ln w="22860">
            <a:solidFill>
              <a:srgbClr val="7A56AC"/>
            </a:solidFill>
            <a:prstDash val="solid"/>
          </a:ln>
        </p:spPr>
        <p:txBody>
          <a:bodyPr/>
          <a:lstStyle/>
          <a:p>
            <a:endParaRPr lang="en-US"/>
          </a:p>
        </p:txBody>
      </p:sp>
      <p:sp>
        <p:nvSpPr>
          <p:cNvPr id="7" name="Shape 5"/>
          <p:cNvSpPr/>
          <p:nvPr/>
        </p:nvSpPr>
        <p:spPr>
          <a:xfrm>
            <a:off x="1214323" y="495605"/>
            <a:ext cx="120701" cy="120701"/>
          </a:xfrm>
          <a:prstGeom prst="ellipse">
            <a:avLst/>
          </a:prstGeom>
          <a:solidFill>
            <a:srgbClr val="7A56AC"/>
          </a:solidFill>
          <a:ln/>
        </p:spPr>
        <p:txBody>
          <a:bodyPr/>
          <a:lstStyle/>
          <a:p>
            <a:endParaRPr lang="en-US"/>
          </a:p>
        </p:txBody>
      </p:sp>
      <p:sp>
        <p:nvSpPr>
          <p:cNvPr id="8" name="Shape 6"/>
          <p:cNvSpPr/>
          <p:nvPr/>
        </p:nvSpPr>
        <p:spPr>
          <a:xfrm>
            <a:off x="1461211" y="514533"/>
            <a:ext cx="84125" cy="0"/>
          </a:xfrm>
          <a:prstGeom prst="line">
            <a:avLst/>
          </a:prstGeom>
          <a:noFill/>
          <a:ln w="22860">
            <a:solidFill>
              <a:srgbClr val="A03A9A"/>
            </a:solidFill>
            <a:prstDash val="solid"/>
          </a:ln>
        </p:spPr>
        <p:txBody>
          <a:bodyPr/>
          <a:lstStyle/>
          <a:p>
            <a:endParaRPr lang="en-US"/>
          </a:p>
        </p:txBody>
      </p:sp>
      <p:sp>
        <p:nvSpPr>
          <p:cNvPr id="9" name="Shape 7"/>
          <p:cNvSpPr/>
          <p:nvPr/>
        </p:nvSpPr>
        <p:spPr>
          <a:xfrm>
            <a:off x="1400861" y="418795"/>
            <a:ext cx="120701" cy="120701"/>
          </a:xfrm>
          <a:prstGeom prst="ellipse">
            <a:avLst/>
          </a:prstGeom>
          <a:solidFill>
            <a:srgbClr val="A03A9A"/>
          </a:solidFill>
          <a:ln/>
        </p:spPr>
        <p:txBody>
          <a:bodyPr/>
          <a:lstStyle/>
          <a:p>
            <a:endParaRPr lang="en-US"/>
          </a:p>
        </p:txBody>
      </p:sp>
      <p:sp>
        <p:nvSpPr>
          <p:cNvPr id="10" name="Shape 8"/>
          <p:cNvSpPr/>
          <p:nvPr/>
        </p:nvSpPr>
        <p:spPr>
          <a:xfrm>
            <a:off x="1587398" y="495605"/>
            <a:ext cx="120701" cy="120701"/>
          </a:xfrm>
          <a:prstGeom prst="ellipse">
            <a:avLst/>
          </a:prstGeom>
          <a:solidFill>
            <a:srgbClr val="C22385"/>
          </a:solidFill>
          <a:ln/>
        </p:spPr>
        <p:txBody>
          <a:bodyPr/>
          <a:lstStyle/>
          <a:p>
            <a:endParaRPr lang="en-US"/>
          </a:p>
        </p:txBody>
      </p:sp>
      <p:sp>
        <p:nvSpPr>
          <p:cNvPr id="11" name="Text 9"/>
          <p:cNvSpPr/>
          <p:nvPr/>
        </p:nvSpPr>
        <p:spPr>
          <a:xfrm>
            <a:off x="1783080" y="402336"/>
            <a:ext cx="5486400" cy="292608"/>
          </a:xfrm>
          <a:prstGeom prst="rect">
            <a:avLst/>
          </a:prstGeom>
          <a:noFill/>
          <a:ln/>
        </p:spPr>
        <p:txBody>
          <a:bodyPr wrap="square" lIns="0" tIns="0" rIns="0" bIns="0" rtlCol="0" anchor="ctr"/>
          <a:lstStyle/>
          <a:p>
            <a:pPr marL="0" indent="0">
              <a:buNone/>
            </a:pPr>
            <a:r>
              <a:rPr lang="en-US" sz="1200" b="1" kern="0" spc="400" dirty="0">
                <a:solidFill>
                  <a:srgbClr val="22D3EE"/>
                </a:solidFill>
                <a:latin typeface="Arial" pitchFamily="34" charset="0"/>
                <a:ea typeface="Arial" pitchFamily="34" charset="-122"/>
                <a:cs typeface="Arial" pitchFamily="34" charset="-120"/>
              </a:rPr>
              <a:t>CONCLUSION</a:t>
            </a:r>
            <a:endParaRPr lang="en-US" sz="1200" dirty="0"/>
          </a:p>
        </p:txBody>
      </p:sp>
      <p:sp>
        <p:nvSpPr>
          <p:cNvPr id="12" name="Text 10"/>
          <p:cNvSpPr/>
          <p:nvPr/>
        </p:nvSpPr>
        <p:spPr>
          <a:xfrm>
            <a:off x="822960" y="749808"/>
            <a:ext cx="10515600" cy="548640"/>
          </a:xfrm>
          <a:prstGeom prst="rect">
            <a:avLst/>
          </a:prstGeom>
          <a:noFill/>
          <a:ln/>
        </p:spPr>
        <p:txBody>
          <a:bodyPr wrap="square" lIns="0" tIns="0" rIns="0" bIns="0" rtlCol="0" anchor="ctr"/>
          <a:lstStyle/>
          <a:p>
            <a:pPr marL="0" indent="0">
              <a:buNone/>
            </a:pPr>
            <a:r>
              <a:rPr lang="en-US" sz="2800" b="1" dirty="0">
                <a:solidFill>
                  <a:srgbClr val="E2E8F0"/>
                </a:solidFill>
                <a:latin typeface="Arial" pitchFamily="34" charset="0"/>
                <a:ea typeface="Arial" pitchFamily="34" charset="-122"/>
                <a:cs typeface="Arial" pitchFamily="34" charset="-120"/>
              </a:rPr>
              <a:t>15 Methods, One Pipeline, One Answer</a:t>
            </a:r>
            <a:endParaRPr lang="en-US" sz="2800" dirty="0"/>
          </a:p>
        </p:txBody>
      </p:sp>
      <p:sp>
        <p:nvSpPr>
          <p:cNvPr id="13" name="Shape 11"/>
          <p:cNvSpPr/>
          <p:nvPr/>
        </p:nvSpPr>
        <p:spPr>
          <a:xfrm>
            <a:off x="822960" y="1508760"/>
            <a:ext cx="5166360" cy="1947672"/>
          </a:xfrm>
          <a:prstGeom prst="roundRect">
            <a:avLst>
              <a:gd name="adj" fmla="val 4225"/>
            </a:avLst>
          </a:prstGeom>
          <a:solidFill>
            <a:srgbClr val="151827"/>
          </a:solidFill>
          <a:ln w="9525">
            <a:solidFill>
              <a:srgbClr val="2A3047"/>
            </a:solidFill>
            <a:prstDash val="solid"/>
          </a:ln>
        </p:spPr>
        <p:txBody>
          <a:bodyPr/>
          <a:lstStyle/>
          <a:p>
            <a:endParaRPr lang="en-US"/>
          </a:p>
        </p:txBody>
      </p:sp>
      <p:pic>
        <p:nvPicPr>
          <p:cNvPr id="14" name="Image 0" descr="icons/question.png"/>
          <p:cNvPicPr>
            <a:picLocks noChangeAspect="1"/>
          </p:cNvPicPr>
          <p:nvPr/>
        </p:nvPicPr>
        <p:blipFill>
          <a:blip r:embed="rId4"/>
          <a:stretch>
            <a:fillRect/>
          </a:stretch>
        </p:blipFill>
        <p:spPr>
          <a:xfrm>
            <a:off x="1051560" y="1691640"/>
            <a:ext cx="365760" cy="365760"/>
          </a:xfrm>
          <a:prstGeom prst="rect">
            <a:avLst/>
          </a:prstGeom>
        </p:spPr>
      </p:pic>
      <p:sp>
        <p:nvSpPr>
          <p:cNvPr id="15" name="Text 12"/>
          <p:cNvSpPr/>
          <p:nvPr/>
        </p:nvSpPr>
        <p:spPr>
          <a:xfrm>
            <a:off x="1554480" y="1737360"/>
            <a:ext cx="4206240" cy="274320"/>
          </a:xfrm>
          <a:prstGeom prst="rect">
            <a:avLst/>
          </a:prstGeom>
          <a:noFill/>
          <a:ln/>
        </p:spPr>
        <p:txBody>
          <a:bodyPr wrap="square" lIns="0" tIns="0" rIns="0" bIns="0" rtlCol="0" anchor="ctr"/>
          <a:lstStyle/>
          <a:p>
            <a:pPr marL="0" indent="0">
              <a:buNone/>
            </a:pPr>
            <a:r>
              <a:rPr lang="en-US" sz="1150" b="1" kern="0" spc="150" dirty="0">
                <a:solidFill>
                  <a:srgbClr val="FACC15"/>
                </a:solidFill>
                <a:latin typeface="Arial" pitchFamily="34" charset="0"/>
                <a:ea typeface="Arial" pitchFamily="34" charset="-122"/>
                <a:cs typeface="Arial" pitchFamily="34" charset="-120"/>
              </a:rPr>
              <a:t>RESEARCH QUESTION</a:t>
            </a:r>
            <a:endParaRPr lang="en-US" sz="1150" dirty="0"/>
          </a:p>
        </p:txBody>
      </p:sp>
      <p:sp>
        <p:nvSpPr>
          <p:cNvPr id="16" name="Text 13"/>
          <p:cNvSpPr/>
          <p:nvPr/>
        </p:nvSpPr>
        <p:spPr>
          <a:xfrm>
            <a:off x="1143000" y="2075688"/>
            <a:ext cx="4617720" cy="1280160"/>
          </a:xfrm>
          <a:prstGeom prst="rect">
            <a:avLst/>
          </a:prstGeom>
          <a:noFill/>
          <a:ln/>
        </p:spPr>
        <p:txBody>
          <a:bodyPr wrap="square" lIns="0" tIns="0" rIns="0" bIns="0" rtlCol="0" anchor="ctr"/>
          <a:lstStyle/>
          <a:p>
            <a:pPr marL="0" indent="0">
              <a:spcAft>
                <a:spcPts val="400"/>
              </a:spcAft>
              <a:buNone/>
            </a:pPr>
            <a:r>
              <a:rPr lang="en-US" sz="1200" dirty="0">
                <a:solidFill>
                  <a:srgbClr val="E2E8F0"/>
                </a:solidFill>
                <a:latin typeface="Arial" pitchFamily="34" charset="0"/>
                <a:ea typeface="Arial" pitchFamily="34" charset="-122"/>
                <a:cs typeface="Arial" pitchFamily="34" charset="-120"/>
              </a:rPr>
              <a:t>What do players praise &amp; still complain about  and can we answer questions directly from the reviews?</a:t>
            </a:r>
            <a:endParaRPr lang="en-US" sz="1200" dirty="0"/>
          </a:p>
        </p:txBody>
      </p:sp>
      <p:sp>
        <p:nvSpPr>
          <p:cNvPr id="17" name="Shape 14"/>
          <p:cNvSpPr/>
          <p:nvPr/>
        </p:nvSpPr>
        <p:spPr>
          <a:xfrm>
            <a:off x="6172200" y="1508760"/>
            <a:ext cx="5166360" cy="1947672"/>
          </a:xfrm>
          <a:prstGeom prst="roundRect">
            <a:avLst>
              <a:gd name="adj" fmla="val 4225"/>
            </a:avLst>
          </a:prstGeom>
          <a:solidFill>
            <a:srgbClr val="151827"/>
          </a:solidFill>
          <a:ln w="9525">
            <a:solidFill>
              <a:srgbClr val="2A3047"/>
            </a:solidFill>
            <a:prstDash val="solid"/>
          </a:ln>
        </p:spPr>
        <p:txBody>
          <a:bodyPr/>
          <a:lstStyle/>
          <a:p>
            <a:endParaRPr lang="en-US"/>
          </a:p>
        </p:txBody>
      </p:sp>
      <p:pic>
        <p:nvPicPr>
          <p:cNvPr id="18" name="Image 1" descr="icons/check.png"/>
          <p:cNvPicPr>
            <a:picLocks noChangeAspect="1"/>
          </p:cNvPicPr>
          <p:nvPr/>
        </p:nvPicPr>
        <p:blipFill>
          <a:blip r:embed="rId5"/>
          <a:stretch>
            <a:fillRect/>
          </a:stretch>
        </p:blipFill>
        <p:spPr>
          <a:xfrm>
            <a:off x="6400800" y="1691640"/>
            <a:ext cx="365760" cy="365760"/>
          </a:xfrm>
          <a:prstGeom prst="rect">
            <a:avLst/>
          </a:prstGeom>
        </p:spPr>
      </p:pic>
      <p:sp>
        <p:nvSpPr>
          <p:cNvPr id="19" name="Text 15"/>
          <p:cNvSpPr/>
          <p:nvPr/>
        </p:nvSpPr>
        <p:spPr>
          <a:xfrm>
            <a:off x="6903720" y="1737360"/>
            <a:ext cx="4206240" cy="274320"/>
          </a:xfrm>
          <a:prstGeom prst="rect">
            <a:avLst/>
          </a:prstGeom>
          <a:noFill/>
          <a:ln/>
        </p:spPr>
        <p:txBody>
          <a:bodyPr wrap="square" lIns="0" tIns="0" rIns="0" bIns="0" rtlCol="0" anchor="ctr"/>
          <a:lstStyle/>
          <a:p>
            <a:pPr marL="0" indent="0">
              <a:buNone/>
            </a:pPr>
            <a:r>
              <a:rPr lang="en-US" sz="1150" b="1" kern="0" spc="150" dirty="0">
                <a:solidFill>
                  <a:srgbClr val="34D399"/>
                </a:solidFill>
                <a:latin typeface="Arial" pitchFamily="34" charset="0"/>
                <a:ea typeface="Arial" pitchFamily="34" charset="-122"/>
                <a:cs typeface="Arial" pitchFamily="34" charset="-120"/>
              </a:rPr>
              <a:t>MAIN FINDINGS</a:t>
            </a:r>
            <a:endParaRPr lang="en-US" sz="1150" dirty="0"/>
          </a:p>
        </p:txBody>
      </p:sp>
      <p:sp>
        <p:nvSpPr>
          <p:cNvPr id="20" name="Text 16"/>
          <p:cNvSpPr/>
          <p:nvPr/>
        </p:nvSpPr>
        <p:spPr>
          <a:xfrm>
            <a:off x="6492240" y="2075688"/>
            <a:ext cx="4617720" cy="12801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92–93% positive, stable for 2 years</a:t>
            </a: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Praise: Night City · story · Phantom Liberty</a:t>
            </a: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Complaints: crashes  rare but persistent</a:t>
            </a: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RAG answers questions grounded in reviews</a:t>
            </a:r>
            <a:endParaRPr lang="en-US" sz="1050" dirty="0"/>
          </a:p>
        </p:txBody>
      </p:sp>
      <p:sp>
        <p:nvSpPr>
          <p:cNvPr id="21" name="Shape 17"/>
          <p:cNvSpPr/>
          <p:nvPr/>
        </p:nvSpPr>
        <p:spPr>
          <a:xfrm>
            <a:off x="822960" y="3639312"/>
            <a:ext cx="5166360" cy="1947672"/>
          </a:xfrm>
          <a:prstGeom prst="roundRect">
            <a:avLst>
              <a:gd name="adj" fmla="val 4225"/>
            </a:avLst>
          </a:prstGeom>
          <a:solidFill>
            <a:srgbClr val="151827"/>
          </a:solidFill>
          <a:ln w="9525">
            <a:solidFill>
              <a:srgbClr val="2A3047"/>
            </a:solidFill>
            <a:prstDash val="solid"/>
          </a:ln>
        </p:spPr>
        <p:txBody>
          <a:bodyPr/>
          <a:lstStyle/>
          <a:p>
            <a:endParaRPr lang="en-US"/>
          </a:p>
        </p:txBody>
      </p:sp>
      <p:pic>
        <p:nvPicPr>
          <p:cNvPr id="22" name="Image 2" descr="icons/alert.png"/>
          <p:cNvPicPr>
            <a:picLocks noChangeAspect="1"/>
          </p:cNvPicPr>
          <p:nvPr/>
        </p:nvPicPr>
        <p:blipFill>
          <a:blip r:embed="rId6"/>
          <a:stretch>
            <a:fillRect/>
          </a:stretch>
        </p:blipFill>
        <p:spPr>
          <a:xfrm>
            <a:off x="1051560" y="3822192"/>
            <a:ext cx="365760" cy="365760"/>
          </a:xfrm>
          <a:prstGeom prst="rect">
            <a:avLst/>
          </a:prstGeom>
        </p:spPr>
      </p:pic>
      <p:sp>
        <p:nvSpPr>
          <p:cNvPr id="23" name="Text 18"/>
          <p:cNvSpPr/>
          <p:nvPr/>
        </p:nvSpPr>
        <p:spPr>
          <a:xfrm>
            <a:off x="1554480" y="3867912"/>
            <a:ext cx="4206240" cy="274320"/>
          </a:xfrm>
          <a:prstGeom prst="rect">
            <a:avLst/>
          </a:prstGeom>
          <a:noFill/>
          <a:ln/>
        </p:spPr>
        <p:txBody>
          <a:bodyPr wrap="square" lIns="0" tIns="0" rIns="0" bIns="0" rtlCol="0" anchor="ctr"/>
          <a:lstStyle/>
          <a:p>
            <a:pPr marL="0" indent="0">
              <a:buNone/>
            </a:pPr>
            <a:r>
              <a:rPr lang="en-US" sz="1150" b="1" kern="0" spc="150" dirty="0">
                <a:solidFill>
                  <a:srgbClr val="F87171"/>
                </a:solidFill>
                <a:latin typeface="Arial" pitchFamily="34" charset="0"/>
                <a:ea typeface="Arial" pitchFamily="34" charset="-122"/>
                <a:cs typeface="Arial" pitchFamily="34" charset="-120"/>
              </a:rPr>
              <a:t>LIMITATIONS</a:t>
            </a:r>
            <a:endParaRPr lang="en-US" sz="1150" dirty="0"/>
          </a:p>
        </p:txBody>
      </p:sp>
      <p:sp>
        <p:nvSpPr>
          <p:cNvPr id="24" name="Text 19"/>
          <p:cNvSpPr/>
          <p:nvPr/>
        </p:nvSpPr>
        <p:spPr>
          <a:xfrm>
            <a:off x="1143000" y="4206240"/>
            <a:ext cx="4617720" cy="1280160"/>
          </a:xfrm>
          <a:prstGeom prst="rect">
            <a:avLst/>
          </a:prstGeom>
          <a:noFill/>
          <a:ln/>
        </p:spPr>
        <p:txBody>
          <a:bodyPr wrap="square" lIns="0" tIns="0" rIns="0" bIns="0" rtlCol="0" anchor="ctr"/>
          <a:lstStyle/>
          <a:p>
            <a:pPr>
              <a:spcAft>
                <a:spcPts val="400"/>
              </a:spcAft>
              <a:buSzPct val="100000"/>
            </a:pP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English-only corpus</a:t>
            </a:r>
            <a:endParaRPr lang="en-US" sz="1050" dirty="0"/>
          </a:p>
        </p:txBody>
      </p:sp>
      <p:sp>
        <p:nvSpPr>
          <p:cNvPr id="25" name="Shape 20"/>
          <p:cNvSpPr/>
          <p:nvPr/>
        </p:nvSpPr>
        <p:spPr>
          <a:xfrm>
            <a:off x="6172200" y="3639312"/>
            <a:ext cx="5166360" cy="1947672"/>
          </a:xfrm>
          <a:prstGeom prst="roundRect">
            <a:avLst>
              <a:gd name="adj" fmla="val 4225"/>
            </a:avLst>
          </a:prstGeom>
          <a:solidFill>
            <a:srgbClr val="151827"/>
          </a:solidFill>
          <a:ln w="9525">
            <a:solidFill>
              <a:srgbClr val="2A3047"/>
            </a:solidFill>
            <a:prstDash val="solid"/>
          </a:ln>
        </p:spPr>
        <p:txBody>
          <a:bodyPr/>
          <a:lstStyle/>
          <a:p>
            <a:endParaRPr lang="en-US"/>
          </a:p>
        </p:txBody>
      </p:sp>
      <p:pic>
        <p:nvPicPr>
          <p:cNvPr id="26" name="Image 3" descr="icons/trend.png"/>
          <p:cNvPicPr>
            <a:picLocks noChangeAspect="1"/>
          </p:cNvPicPr>
          <p:nvPr/>
        </p:nvPicPr>
        <p:blipFill>
          <a:blip r:embed="rId7"/>
          <a:stretch>
            <a:fillRect/>
          </a:stretch>
        </p:blipFill>
        <p:spPr>
          <a:xfrm>
            <a:off x="6400800" y="3822192"/>
            <a:ext cx="365760" cy="365760"/>
          </a:xfrm>
          <a:prstGeom prst="rect">
            <a:avLst/>
          </a:prstGeom>
        </p:spPr>
      </p:pic>
      <p:sp>
        <p:nvSpPr>
          <p:cNvPr id="27" name="Text 21"/>
          <p:cNvSpPr/>
          <p:nvPr/>
        </p:nvSpPr>
        <p:spPr>
          <a:xfrm>
            <a:off x="6903720" y="3867912"/>
            <a:ext cx="4206240" cy="274320"/>
          </a:xfrm>
          <a:prstGeom prst="rect">
            <a:avLst/>
          </a:prstGeom>
          <a:noFill/>
          <a:ln/>
        </p:spPr>
        <p:txBody>
          <a:bodyPr wrap="square" lIns="0" tIns="0" rIns="0" bIns="0" rtlCol="0" anchor="ctr"/>
          <a:lstStyle/>
          <a:p>
            <a:pPr marL="0" indent="0">
              <a:buNone/>
            </a:pPr>
            <a:r>
              <a:rPr lang="en-US" sz="1150" b="1" kern="0" spc="150" dirty="0">
                <a:solidFill>
                  <a:srgbClr val="22D3EE"/>
                </a:solidFill>
                <a:latin typeface="Arial" pitchFamily="34" charset="0"/>
                <a:ea typeface="Arial" pitchFamily="34" charset="-122"/>
                <a:cs typeface="Arial" pitchFamily="34" charset="-120"/>
              </a:rPr>
              <a:t>FUTURE WORK</a:t>
            </a:r>
            <a:endParaRPr lang="en-US" sz="1150" dirty="0"/>
          </a:p>
        </p:txBody>
      </p:sp>
      <p:sp>
        <p:nvSpPr>
          <p:cNvPr id="28" name="Text 22"/>
          <p:cNvSpPr/>
          <p:nvPr/>
        </p:nvSpPr>
        <p:spPr>
          <a:xfrm>
            <a:off x="6492240" y="4206240"/>
            <a:ext cx="4617720" cy="12801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Class weights / SMOTE for imbalance</a:t>
            </a: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Multilingual models (incl. German reviews)</a:t>
            </a:r>
            <a:endParaRPr lang="en-US" sz="1050" dirty="0"/>
          </a:p>
          <a:p>
            <a:pPr marL="342900" indent="-342900">
              <a:spcAft>
                <a:spcPts val="400"/>
              </a:spcAft>
              <a:buSzPct val="100000"/>
              <a:buChar char="•"/>
            </a:pPr>
            <a:r>
              <a:rPr lang="en-US" sz="1050" dirty="0">
                <a:solidFill>
                  <a:srgbClr val="E2E8F0"/>
                </a:solidFill>
                <a:latin typeface="Arial" pitchFamily="34" charset="0"/>
                <a:ea typeface="Arial" pitchFamily="34" charset="-122"/>
                <a:cs typeface="Arial" pitchFamily="34" charset="-120"/>
              </a:rPr>
              <a:t>Larger retrieval context · transformer embeddings</a:t>
            </a:r>
            <a:endParaRPr lang="en-US" sz="1050" dirty="0"/>
          </a:p>
        </p:txBody>
      </p:sp>
      <p:sp>
        <p:nvSpPr>
          <p:cNvPr id="29" name="Text 23"/>
          <p:cNvSpPr/>
          <p:nvPr/>
        </p:nvSpPr>
        <p:spPr>
          <a:xfrm>
            <a:off x="822960" y="5989320"/>
            <a:ext cx="8686800" cy="365760"/>
          </a:xfrm>
          <a:prstGeom prst="rect">
            <a:avLst/>
          </a:prstGeom>
          <a:noFill/>
          <a:ln/>
        </p:spPr>
        <p:txBody>
          <a:bodyPr wrap="square" lIns="0" tIns="0" rIns="0" bIns="0" rtlCol="0" anchor="ctr"/>
          <a:lstStyle/>
          <a:p>
            <a:pPr marL="0" indent="0">
              <a:buNone/>
            </a:pPr>
            <a:r>
              <a:rPr lang="en-US" sz="1350" b="1" dirty="0">
                <a:solidFill>
                  <a:srgbClr val="E2E8F0"/>
                </a:solidFill>
                <a:latin typeface="Arial" pitchFamily="34" charset="0"/>
                <a:ea typeface="Arial" pitchFamily="34" charset="-122"/>
                <a:cs typeface="Arial" pitchFamily="34" charset="-120"/>
              </a:rPr>
              <a:t>Alister Charles  ·  Aryan Jadhav      </a:t>
            </a:r>
            <a:r>
              <a:rPr lang="en-US" sz="1350" dirty="0">
                <a:solidFill>
                  <a:srgbClr val="94A3B8"/>
                </a:solidFill>
                <a:latin typeface="Arial" pitchFamily="34" charset="0"/>
                <a:ea typeface="Arial" pitchFamily="34" charset="-122"/>
                <a:cs typeface="Arial" pitchFamily="34" charset="-120"/>
              </a:rPr>
              <a:t>Thank you  questions welcome.</a:t>
            </a:r>
            <a:endParaRPr lang="en-US" sz="1350" dirty="0"/>
          </a:p>
        </p:txBody>
      </p:sp>
      <p:pic>
        <p:nvPicPr>
          <p:cNvPr id="30" name="Image 4" descr="logo_dark.png"/>
          <p:cNvPicPr>
            <a:picLocks noChangeAspect="1"/>
          </p:cNvPicPr>
          <p:nvPr/>
        </p:nvPicPr>
        <p:blipFill>
          <a:blip r:embed="rId8"/>
          <a:stretch>
            <a:fillRect/>
          </a:stretch>
        </p:blipFill>
        <p:spPr>
          <a:xfrm>
            <a:off x="10149840" y="5742432"/>
            <a:ext cx="128016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3424</Words>
  <Application>Microsoft Macintosh PowerPoint</Application>
  <PresentationFormat>Widescreen</PresentationFormat>
  <Paragraphs>309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Aryan Jadhav</cp:lastModifiedBy>
  <cp:revision>3</cp:revision>
  <dcterms:created xsi:type="dcterms:W3CDTF">2026-07-13T12:51:16Z</dcterms:created>
  <dcterms:modified xsi:type="dcterms:W3CDTF">2026-07-13T17:58:13Z</dcterms:modified>
</cp:coreProperties>
</file>